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月次売上（万円）</c:v>
                </c:pt>
              </c:strCache>
            </c:strRef>
          </c:tx>
          <c:spPr>
            <a:solidFill>
              <a:srgbClr val="1E2761"/>
            </a:solidFill>
            <a:effectLst/>
          </c:spPr>
          <c:invertIfNegative val="0"/>
          <c:dLbls>
            <c:numFmt formatCode="#,##0" sourceLinked="0"/>
            <c:txPr>
              <a:bodyPr/>
              <a:lstStyle/>
              <a:p>
                <a:pPr>
                  <a:defRPr b="0" i="0" strike="noStrike" sz="1100" u="none">
                    <a:solidFill>
                      <a:srgbClr val="222222"/>
                    </a:solidFill>
                    <a:latin typeface="Meiryo"/>
                  </a:defRPr>
                </a:pPr>
              </a:p>
            </c:txPr>
            <c:showLegendKey val="0"/>
            <c:showVal val="1"/>
            <c:showCatName val="0"/>
            <c:showSerName val="0"/>
            <c:showPercent val="0"/>
            <c:showBubbleSize val="0"/>
            <c:showLeaderLines val="0"/>
          </c:dLbls>
          <c:cat>
            <c:multiLvlStrRef>
              <c:f>Sheet1!$A$2:$A$13</c:f>
              <c:multiLvlStrCache>
                <c:ptCount val="12"/>
                <c:lvl>
                  <c:pt idx="0">
                    <c:v>9月</c:v>
                  </c:pt>
                  <c:pt idx="1">
                    <c:v>10月</c:v>
                  </c:pt>
                  <c:pt idx="2">
                    <c:v>11月</c:v>
                  </c:pt>
                  <c:pt idx="3">
                    <c:v>12月</c:v>
                  </c:pt>
                  <c:pt idx="4">
                    <c:v>1月</c:v>
                  </c:pt>
                  <c:pt idx="5">
                    <c:v>2月</c:v>
                  </c:pt>
                  <c:pt idx="6">
                    <c:v>3月</c:v>
                  </c:pt>
                  <c:pt idx="7">
                    <c:v>4月</c:v>
                  </c:pt>
                  <c:pt idx="8">
                    <c:v>5月</c:v>
                  </c:pt>
                  <c:pt idx="9">
                    <c:v>6月</c:v>
                  </c:pt>
                  <c:pt idx="10">
                    <c:v>7月</c:v>
                  </c:pt>
                  <c:pt idx="11">
                    <c:v>8月</c:v>
                  </c:pt>
                </c:lvl>
              </c:multiLvlStrCache>
            </c:multiLvlStrRef>
          </c:cat>
          <c:val>
            <c:numRef>
              <c:f>Sheet1!$B$2:$B$13</c:f>
              <c:numCache>
                <c:formatCode>General</c:formatCode>
                <c:ptCount val="12"/>
                <c:pt idx="0">
                  <c:v>75</c:v>
                </c:pt>
                <c:pt idx="1">
                  <c:v>80</c:v>
                </c:pt>
                <c:pt idx="2">
                  <c:v>108</c:v>
                </c:pt>
                <c:pt idx="3">
                  <c:v>134</c:v>
                </c:pt>
                <c:pt idx="4">
                  <c:v>128</c:v>
                </c:pt>
                <c:pt idx="5">
                  <c:v>203</c:v>
                </c:pt>
                <c:pt idx="6">
                  <c:v>159</c:v>
                </c:pt>
                <c:pt idx="7">
                  <c:v>147</c:v>
                </c:pt>
                <c:pt idx="8">
                  <c:v>153</c:v>
                </c:pt>
                <c:pt idx="9">
                  <c:v>222</c:v>
                </c:pt>
                <c:pt idx="10">
                  <c:v>271</c:v>
                </c:pt>
                <c:pt idx="11">
                  <c:v>201</c:v>
                </c:pt>
              </c:numCache>
            </c:numRef>
          </c:val>
        </c:ser>
        <c:dLbls>
          <c:numFmt formatCode="#,##0" sourceLinked="0"/>
          <c:txPr>
            <a:bodyPr/>
            <a:lstStyle/>
            <a:p>
              <a:pPr>
                <a:defRPr b="0" i="0" strike="noStrike" sz="1100" u="none">
                  <a:solidFill>
                    <a:srgbClr val="222222"/>
                  </a:solidFill>
                  <a:latin typeface="Meiryo"/>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66666"/>
                </a:solidFill>
                <a:latin typeface="Meiryo"/>
              </a:defRPr>
            </a:pPr>
            <a:endParaRPr lang="en-US"/>
          </a:p>
        </c:txPr>
        <c:crossAx val="2094734552"/>
        <c:crosses val="autoZero"/>
        <c:auto val="1"/>
        <c:lblAlgn val="ctr"/>
        <c:noMultiLvlLbl val="1"/>
      </c:catAx>
      <c:valAx>
        <c:axId val="2094734552"/>
        <c:scaling>
          <c:orientation val="minMax"/>
          <c:max val="300"/>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6666"/>
                </a:solidFill>
                <a:latin typeface="Meiryo"/>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月次売上（万円）</c:v>
                </c:pt>
              </c:strCache>
            </c:strRef>
          </c:tx>
          <c:spPr>
            <a:solidFill>
              <a:srgbClr val="C08A2E"/>
            </a:solidFill>
            <a:effectLst/>
          </c:spPr>
          <c:invertIfNegative val="0"/>
          <c:dLbls>
            <c:numFmt formatCode="#,##0" sourceLinked="0"/>
            <c:txPr>
              <a:bodyPr/>
              <a:lstStyle/>
              <a:p>
                <a:pPr>
                  <a:defRPr b="0" i="0" strike="noStrike" sz="1100" u="none">
                    <a:solidFill>
                      <a:srgbClr val="222222"/>
                    </a:solidFill>
                    <a:latin typeface="Meiryo"/>
                  </a:defRPr>
                </a:pPr>
              </a:p>
            </c:txPr>
            <c:showLegendKey val="0"/>
            <c:showVal val="1"/>
            <c:showCatName val="0"/>
            <c:showSerName val="0"/>
            <c:showPercent val="0"/>
            <c:showBubbleSize val="0"/>
            <c:showLeaderLines val="0"/>
          </c:dLbls>
          <c:cat>
            <c:multiLvlStrRef>
              <c:f>Sheet1!$A$2:$A$13</c:f>
              <c:multiLvlStrCache>
                <c:ptCount val="12"/>
                <c:lvl>
                  <c:pt idx="0">
                    <c:v>9月</c:v>
                  </c:pt>
                  <c:pt idx="1">
                    <c:v>10月</c:v>
                  </c:pt>
                  <c:pt idx="2">
                    <c:v>11月</c:v>
                  </c:pt>
                  <c:pt idx="3">
                    <c:v>12月</c:v>
                  </c:pt>
                  <c:pt idx="4">
                    <c:v>1月</c:v>
                  </c:pt>
                  <c:pt idx="5">
                    <c:v>2月</c:v>
                  </c:pt>
                  <c:pt idx="6">
                    <c:v>3月</c:v>
                  </c:pt>
                  <c:pt idx="7">
                    <c:v>4月</c:v>
                  </c:pt>
                  <c:pt idx="8">
                    <c:v>5月</c:v>
                  </c:pt>
                  <c:pt idx="9">
                    <c:v>6月</c:v>
                  </c:pt>
                  <c:pt idx="10">
                    <c:v>7月</c:v>
                  </c:pt>
                  <c:pt idx="11">
                    <c:v>8月</c:v>
                  </c:pt>
                </c:lvl>
              </c:multiLvlStrCache>
            </c:multiLvlStrRef>
          </c:cat>
          <c:val>
            <c:numRef>
              <c:f>Sheet1!$B$2:$B$13</c:f>
              <c:numCache>
                <c:formatCode>General</c:formatCode>
                <c:ptCount val="12"/>
                <c:pt idx="0">
                  <c:v>214</c:v>
                </c:pt>
                <c:pt idx="1">
                  <c:v>216</c:v>
                </c:pt>
                <c:pt idx="2">
                  <c:v>226</c:v>
                </c:pt>
                <c:pt idx="3">
                  <c:v>216</c:v>
                </c:pt>
                <c:pt idx="4">
                  <c:v>226</c:v>
                </c:pt>
                <c:pt idx="5">
                  <c:v>186</c:v>
                </c:pt>
                <c:pt idx="6">
                  <c:v>177</c:v>
                </c:pt>
                <c:pt idx="7">
                  <c:v>175</c:v>
                </c:pt>
                <c:pt idx="8">
                  <c:v>215</c:v>
                </c:pt>
                <c:pt idx="9">
                  <c:v>195</c:v>
                </c:pt>
                <c:pt idx="10">
                  <c:v>235</c:v>
                </c:pt>
                <c:pt idx="11">
                  <c:v>225</c:v>
                </c:pt>
              </c:numCache>
            </c:numRef>
          </c:val>
        </c:ser>
        <c:dLbls>
          <c:numFmt formatCode="#,##0" sourceLinked="0"/>
          <c:txPr>
            <a:bodyPr/>
            <a:lstStyle/>
            <a:p>
              <a:pPr>
                <a:defRPr b="0" i="0" strike="noStrike" sz="1100" u="none">
                  <a:solidFill>
                    <a:srgbClr val="222222"/>
                  </a:solidFill>
                  <a:latin typeface="Meiryo"/>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66666"/>
                </a:solidFill>
                <a:latin typeface="Meiryo"/>
              </a:defRPr>
            </a:pPr>
            <a:endParaRPr lang="en-US"/>
          </a:p>
        </c:txPr>
        <c:crossAx val="2094734552"/>
        <c:crosses val="autoZero"/>
        <c:auto val="1"/>
        <c:lblAlgn val="ctr"/>
        <c:noMultiLvlLbl val="1"/>
      </c:catAx>
      <c:valAx>
        <c:axId val="2094734552"/>
        <c:scaling>
          <c:orientation val="minMax"/>
          <c:max val="300"/>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6666"/>
                </a:solidFill>
                <a:latin typeface="Meiryo"/>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件数</c:v>
                </c:pt>
              </c:strCache>
            </c:strRef>
          </c:tx>
          <c:spPr>
            <a:solidFill>
              <a:srgbClr val="1E2761"/>
            </a:solidFill>
            <a:effectLst/>
          </c:spPr>
          <c:invertIfNegative val="0"/>
          <c:dLbls>
            <c:numFmt formatCode="#,##0" sourceLinked="0"/>
            <c:txPr>
              <a:bodyPr/>
              <a:lstStyle/>
              <a:p>
                <a:pPr>
                  <a:defRPr b="0" i="0" strike="noStrike" sz="1400" u="none">
                    <a:solidFill>
                      <a:srgbClr val="222222"/>
                    </a:solidFill>
                    <a:latin typeface="Meiryo"/>
                  </a:defRPr>
                </a:pPr>
              </a:p>
            </c:txPr>
            <c:showLegendKey val="0"/>
            <c:showVal val="1"/>
            <c:showCatName val="0"/>
            <c:showSerName val="0"/>
            <c:showPercent val="0"/>
            <c:showBubbleSize val="0"/>
            <c:showLeaderLines val="0"/>
          </c:dLbls>
          <c:cat>
            <c:multiLvlStrRef>
              <c:f>Sheet1!$A$2:$A$7</c:f>
              <c:multiLvlStrCache>
                <c:ptCount val="6"/>
                <c:lvl>
                  <c:pt idx="0">
                    <c:v>登録しておいた先</c:v>
                  </c:pt>
                  <c:pt idx="1">
                    <c:v>顧問先からの紹介</c:v>
                  </c:pt>
                  <c:pt idx="2">
                    <c:v>過去の縁</c:v>
                  </c:pt>
                  <c:pt idx="3">
                    <c:v>人からのお誘い</c:v>
                  </c:pt>
                  <c:pt idx="4">
                    <c:v>逆営業</c:v>
                  </c:pt>
                  <c:pt idx="5">
                    <c:v>個人的な縁</c:v>
                  </c:pt>
                </c:lvl>
              </c:multiLvlStrCache>
            </c:multiLvlStrRef>
          </c:cat>
          <c:val>
            <c:numRef>
              <c:f>Sheet1!$B$2:$B$7</c:f>
              <c:numCache>
                <c:formatCode>General</c:formatCode>
                <c:ptCount val="6"/>
                <c:pt idx="0">
                  <c:v>8</c:v>
                </c:pt>
                <c:pt idx="1">
                  <c:v>7</c:v>
                </c:pt>
                <c:pt idx="2">
                  <c:v>5</c:v>
                </c:pt>
                <c:pt idx="3">
                  <c:v>3</c:v>
                </c:pt>
                <c:pt idx="4">
                  <c:v>2</c:v>
                </c:pt>
                <c:pt idx="5">
                  <c:v>1</c:v>
                </c:pt>
              </c:numCache>
            </c:numRef>
          </c:val>
        </c:ser>
        <c:dLbls>
          <c:numFmt formatCode="#,##0" sourceLinked="0"/>
          <c:txPr>
            <a:bodyPr/>
            <a:lstStyle/>
            <a:p>
              <a:pPr>
                <a:defRPr b="0" i="0" strike="noStrike" sz="1400" u="none">
                  <a:solidFill>
                    <a:srgbClr val="222222"/>
                  </a:solidFill>
                  <a:latin typeface="Meiryo"/>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22222"/>
                </a:solidFill>
                <a:latin typeface="Meiryo"/>
              </a:defRPr>
            </a:pPr>
            <a:endParaRPr lang="en-US"/>
          </a:p>
        </c:txPr>
        <c:crossAx val="2094734552"/>
        <c:crosses val="autoZero"/>
        <c:auto val="1"/>
        <c:lblAlgn val="ctr"/>
        <c:noMultiLvlLbl val="1"/>
      </c:catAx>
      <c:valAx>
        <c:axId val="2094734552"/>
        <c:scaling>
          <c:orientation val="minMax"/>
          <c:max val="10"/>
        </c:scaling>
        <c:delete val="0"/>
        <c:axPos val="b"/>
        <c:majorGridlines>
          <c:spPr>
            <a:ln w="12700" cap="flat">
              <a:solidFill>
                <a:srgbClr val="E4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6666"/>
                </a:solidFill>
                <a:latin typeface="Meiryo"/>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自己紹介は簡潔に。YouTubeを見てもらっている前提。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ここで受講生との距離を一気に縮める。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YouTube視聴済み前提なので2分程度で。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ズレを先に自分から言う。ズレがつかみに変わる。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持ち帰るものを先に宣言する。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単価・顧問料の具体的な金額は、ここで口頭で話す。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①は誰でも今日できる。②は第1部の「出会いがいちばん大きかった」の回収。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塾の懇親会が仕事になった、という事実を強調する。受講生は今日その場にいる。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1件ずつ、そのとき自分が何をしたかを語る。とくに奄美大島と、弟に泣きついた話。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ここで手を止めて、3〜4人に当てる。答えを先に言わない。受講生の言葉を拾って板書する。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受講生から出た言葉と重ねながら話す。3つ目が第6部への入口になる。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scalar の例は当日、実際の関わり方に合わせて言い換えてください。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0332720" y="640080"/>
            <a:ext cx="1188720" cy="1188720"/>
          </a:xfrm>
          <a:prstGeom prst="ellipse">
            <a:avLst/>
          </a:prstGeom>
          <a:solidFill>
            <a:srgbClr val="2C3C7E"/>
          </a:solidFill>
          <a:ln w="12700">
            <a:solidFill>
              <a:srgbClr val="2C3C7E"/>
            </a:solidFill>
            <a:prstDash val="solid"/>
          </a:ln>
        </p:spPr>
      </p:sp>
      <p:sp>
        <p:nvSpPr>
          <p:cNvPr id="3" name="Text 1"/>
          <p:cNvSpPr txBox="1"/>
          <p:nvPr/>
        </p:nvSpPr>
        <p:spPr>
          <a:xfrm>
            <a:off x="640080" y="1371600"/>
            <a:ext cx="10911535" cy="365760"/>
          </a:xfrm>
          <a:prstGeom prst="rect">
            <a:avLst/>
          </a:prstGeom>
          <a:noFill/>
          <a:ln/>
        </p:spPr>
        <p:txBody>
          <a:bodyPr wrap="square" lIns="0" tIns="0" rIns="0" bIns="0" rtlCol="0" anchor="ctr"/>
          <a:lstStyle/>
          <a:p>
            <a:pPr indent="0" marL="0">
              <a:buNone/>
            </a:pPr>
            <a:r>
              <a:rPr lang="en-US" sz="1600" spc="200" kern="0" dirty="0">
                <a:solidFill>
                  <a:srgbClr val="CADCFC"/>
                </a:solidFill>
                <a:latin typeface="Meiryo" pitchFamily="34" charset="0"/>
                <a:ea typeface="Meiryo" pitchFamily="34" charset="-122"/>
                <a:cs typeface="Meiryo" pitchFamily="34" charset="-120"/>
              </a:rPr>
              <a:t>城北プロコン塾</a:t>
            </a:r>
            <a:endParaRPr lang="en-US" sz="1600" dirty="0"/>
          </a:p>
        </p:txBody>
      </p:sp>
      <p:sp>
        <p:nvSpPr>
          <p:cNvPr id="4" name="Text 2"/>
          <p:cNvSpPr txBox="1"/>
          <p:nvPr/>
        </p:nvSpPr>
        <p:spPr>
          <a:xfrm>
            <a:off x="640080" y="1920240"/>
            <a:ext cx="10911535" cy="1828800"/>
          </a:xfrm>
          <a:prstGeom prst="rect">
            <a:avLst/>
          </a:prstGeom>
          <a:noFill/>
          <a:ln/>
        </p:spPr>
        <p:txBody>
          <a:bodyPr wrap="square" lIns="0" tIns="0" rIns="0" bIns="0" rtlCol="0" anchor="ctr"/>
          <a:lstStyle/>
          <a:p>
            <a:pPr indent="0" marL="0">
              <a:lnSpc>
                <a:spcPts val="5400"/>
              </a:lnSpc>
              <a:buNone/>
            </a:pPr>
            <a:r>
              <a:rPr lang="en-US" sz="4400" b="1" dirty="0">
                <a:solidFill>
                  <a:srgbClr val="FFFFFF"/>
                </a:solidFill>
                <a:latin typeface="Meiryo" pitchFamily="34" charset="0"/>
                <a:ea typeface="Meiryo" pitchFamily="34" charset="-122"/>
                <a:cs typeface="Meiryo" pitchFamily="34" charset="-120"/>
              </a:rPr>
              <a:t>新人プロコン</a:t>
            </a:r>
            <a:endParaRPr lang="en-US" sz="4400" dirty="0"/>
          </a:p>
          <a:p>
            <a:pPr indent="0" marL="0">
              <a:lnSpc>
                <a:spcPts val="5400"/>
              </a:lnSpc>
              <a:buNone/>
            </a:pPr>
            <a:r>
              <a:rPr lang="en-US" sz="4400" b="1" dirty="0">
                <a:solidFill>
                  <a:srgbClr val="FFFFFF"/>
                </a:solidFill>
                <a:latin typeface="Meiryo" pitchFamily="34" charset="0"/>
                <a:ea typeface="Meiryo" pitchFamily="34" charset="-122"/>
                <a:cs typeface="Meiryo" pitchFamily="34" charset="-120"/>
              </a:rPr>
              <a:t>顧客開拓へのアドバイス</a:t>
            </a:r>
            <a:endParaRPr lang="en-US" sz="4400" dirty="0"/>
          </a:p>
        </p:txBody>
      </p:sp>
      <p:sp>
        <p:nvSpPr>
          <p:cNvPr id="5" name="Text 3"/>
          <p:cNvSpPr txBox="1"/>
          <p:nvPr/>
        </p:nvSpPr>
        <p:spPr>
          <a:xfrm>
            <a:off x="640080" y="4114800"/>
            <a:ext cx="10911535" cy="365760"/>
          </a:xfrm>
          <a:prstGeom prst="rect">
            <a:avLst/>
          </a:prstGeom>
          <a:noFill/>
          <a:ln/>
        </p:spPr>
        <p:txBody>
          <a:bodyPr wrap="square" lIns="0" tIns="0" rIns="0" bIns="0" rtlCol="0" anchor="ctr"/>
          <a:lstStyle/>
          <a:p>
            <a:pPr indent="0" marL="0">
              <a:buNone/>
            </a:pPr>
            <a:r>
              <a:rPr lang="en-US" sz="1600" dirty="0">
                <a:solidFill>
                  <a:srgbClr val="CADCFC"/>
                </a:solidFill>
                <a:latin typeface="Meiryo" pitchFamily="34" charset="0"/>
                <a:ea typeface="Meiryo" pitchFamily="34" charset="-122"/>
                <a:cs typeface="Meiryo" pitchFamily="34" charset="-120"/>
              </a:rPr>
              <a:t>2026年9月19日（土）13:00-16:00</a:t>
            </a:r>
            <a:endParaRPr lang="en-US" sz="1600" dirty="0"/>
          </a:p>
        </p:txBody>
      </p:sp>
      <p:sp>
        <p:nvSpPr>
          <p:cNvPr id="6" name="Text 4"/>
          <p:cNvSpPr txBox="1"/>
          <p:nvPr/>
        </p:nvSpPr>
        <p:spPr>
          <a:xfrm>
            <a:off x="640080" y="4663440"/>
            <a:ext cx="10911535" cy="365760"/>
          </a:xfrm>
          <a:prstGeom prst="rect">
            <a:avLst/>
          </a:prstGeom>
          <a:noFill/>
          <a:ln/>
        </p:spPr>
        <p:txBody>
          <a:bodyPr wrap="square" lIns="0" tIns="0" rIns="0" bIns="0" rtlCol="0" anchor="ctr"/>
          <a:lstStyle/>
          <a:p>
            <a:pPr indent="0" marL="0">
              <a:buNone/>
            </a:pPr>
            <a:r>
              <a:rPr lang="en-US" sz="1500" dirty="0">
                <a:solidFill>
                  <a:srgbClr val="FFFFFF"/>
                </a:solidFill>
                <a:latin typeface="Meiryo" pitchFamily="34" charset="0"/>
                <a:ea typeface="Meiryo" pitchFamily="34" charset="-122"/>
                <a:cs typeface="Meiryo" pitchFamily="34" charset="-120"/>
              </a:rPr>
              <a:t>畠中 竜吾　株式会社あはひ 代表取締役／中小企業診断士（プロコン塾11期生）</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2103120"/>
            <a:ext cx="10911535" cy="1828800"/>
          </a:xfrm>
          <a:prstGeom prst="rect">
            <a:avLst/>
          </a:prstGeom>
          <a:noFill/>
          <a:ln/>
        </p:spPr>
        <p:txBody>
          <a:bodyPr wrap="square" lIns="0" tIns="0" rIns="0" bIns="0" rtlCol="0" anchor="ctr">
            <a:normAutofit/>
          </a:bodyPr>
          <a:lstStyle/>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3年前、私は</a:t>
            </a:r>
            <a:endParaRPr lang="en-US" sz="4000" dirty="0"/>
          </a:p>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皆さんと同じ席に座っていました</a:t>
            </a:r>
            <a:endParaRPr lang="en-US" sz="4000" dirty="0"/>
          </a:p>
        </p:txBody>
      </p:sp>
      <p:sp>
        <p:nvSpPr>
          <p:cNvPr id="3" name="Text 1"/>
          <p:cNvSpPr txBox="1"/>
          <p:nvPr/>
        </p:nvSpPr>
        <p:spPr>
          <a:xfrm>
            <a:off x="640080" y="4023360"/>
            <a:ext cx="10911535" cy="640080"/>
          </a:xfrm>
          <a:prstGeom prst="rect">
            <a:avLst/>
          </a:prstGeom>
          <a:noFill/>
          <a:ln/>
        </p:spPr>
        <p:txBody>
          <a:bodyPr wrap="square" lIns="0" tIns="0" rIns="0" bIns="0" rtlCol="0" anchor="ctr">
            <a:normAutofit/>
          </a:bodyPr>
          <a:lstStyle/>
          <a:p>
            <a:pPr algn="ctr" indent="0" marL="0">
              <a:buNone/>
            </a:pPr>
            <a:r>
              <a:rPr lang="en-US" sz="1800" dirty="0">
                <a:solidFill>
                  <a:srgbClr val="CADCFC"/>
                </a:solidFill>
                <a:latin typeface="Meiryo" pitchFamily="34" charset="0"/>
                <a:ea typeface="Meiryo" pitchFamily="34" charset="-122"/>
                <a:cs typeface="Meiryo" pitchFamily="34" charset="-120"/>
              </a:rPr>
              <a:t>プロコン塾11期生。卒塾後の2024年9月1日に独立しました。</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はじめに</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自己紹介</a:t>
            </a:r>
            <a:endParaRPr lang="en-US" sz="3000" dirty="0"/>
          </a:p>
        </p:txBody>
      </p:sp>
      <p:sp>
        <p:nvSpPr>
          <p:cNvPr id="4" name="Shape 2"/>
          <p:cNvSpPr/>
          <p:nvPr/>
        </p:nvSpPr>
        <p:spPr>
          <a:xfrm>
            <a:off x="640080" y="1737360"/>
            <a:ext cx="457200" cy="457200"/>
          </a:xfrm>
          <a:prstGeom prst="ellipse">
            <a:avLst/>
          </a:prstGeom>
          <a:solidFill>
            <a:srgbClr val="1E2761"/>
          </a:solidFill>
          <a:ln w="12700">
            <a:solidFill>
              <a:srgbClr val="1E2761"/>
            </a:solidFill>
            <a:prstDash val="solid"/>
          </a:ln>
        </p:spPr>
      </p:sp>
      <p:sp>
        <p:nvSpPr>
          <p:cNvPr id="5" name="Text 3"/>
          <p:cNvSpPr txBox="1"/>
          <p:nvPr/>
        </p:nvSpPr>
        <p:spPr>
          <a:xfrm>
            <a:off x="640080"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6" name="Text 4"/>
          <p:cNvSpPr txBox="1"/>
          <p:nvPr/>
        </p:nvSpPr>
        <p:spPr>
          <a:xfrm>
            <a:off x="1325880" y="170992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1976年生まれ・50歳</a:t>
            </a:r>
            <a:endParaRPr lang="en-US" sz="1800" dirty="0"/>
          </a:p>
        </p:txBody>
      </p:sp>
      <p:sp>
        <p:nvSpPr>
          <p:cNvPr id="7" name="Text 5"/>
          <p:cNvSpPr txBox="1"/>
          <p:nvPr/>
        </p:nvSpPr>
        <p:spPr>
          <a:xfrm>
            <a:off x="1325880" y="2066544"/>
            <a:ext cx="10134295" cy="57607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リコージャパンにほぼ25年。48歳で独立</a:t>
            </a:r>
            <a:endParaRPr lang="en-US" sz="1400" dirty="0"/>
          </a:p>
        </p:txBody>
      </p:sp>
      <p:sp>
        <p:nvSpPr>
          <p:cNvPr id="8" name="Shape 6"/>
          <p:cNvSpPr/>
          <p:nvPr/>
        </p:nvSpPr>
        <p:spPr>
          <a:xfrm>
            <a:off x="640080" y="2697480"/>
            <a:ext cx="457200" cy="457200"/>
          </a:xfrm>
          <a:prstGeom prst="ellipse">
            <a:avLst/>
          </a:prstGeom>
          <a:solidFill>
            <a:srgbClr val="1E2761"/>
          </a:solidFill>
          <a:ln w="12700">
            <a:solidFill>
              <a:srgbClr val="1E2761"/>
            </a:solidFill>
            <a:prstDash val="solid"/>
          </a:ln>
        </p:spPr>
      </p:sp>
      <p:sp>
        <p:nvSpPr>
          <p:cNvPr id="9" name="Text 7"/>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0" name="Text 8"/>
          <p:cNvSpPr txBox="1"/>
          <p:nvPr/>
        </p:nvSpPr>
        <p:spPr>
          <a:xfrm>
            <a:off x="1325880" y="267004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中小企業診断士は2009年2月取得</a:t>
            </a:r>
            <a:endParaRPr lang="en-US" sz="1800" dirty="0"/>
          </a:p>
        </p:txBody>
      </p:sp>
      <p:sp>
        <p:nvSpPr>
          <p:cNvPr id="11" name="Text 9"/>
          <p:cNvSpPr txBox="1"/>
          <p:nvPr/>
        </p:nvSpPr>
        <p:spPr>
          <a:xfrm>
            <a:off x="1325880" y="3026664"/>
            <a:ext cx="10134295" cy="57607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その後ずっと資格を寝かせてきた</a:t>
            </a:r>
            <a:endParaRPr lang="en-US" sz="1400" dirty="0"/>
          </a:p>
        </p:txBody>
      </p:sp>
      <p:sp>
        <p:nvSpPr>
          <p:cNvPr id="12" name="Shape 10"/>
          <p:cNvSpPr/>
          <p:nvPr/>
        </p:nvSpPr>
        <p:spPr>
          <a:xfrm>
            <a:off x="640080" y="3657600"/>
            <a:ext cx="457200" cy="457200"/>
          </a:xfrm>
          <a:prstGeom prst="ellipse">
            <a:avLst/>
          </a:prstGeom>
          <a:solidFill>
            <a:srgbClr val="1E2761"/>
          </a:solidFill>
          <a:ln w="12700">
            <a:solidFill>
              <a:srgbClr val="1E2761"/>
            </a:solidFill>
            <a:prstDash val="solid"/>
          </a:ln>
        </p:spPr>
      </p:sp>
      <p:sp>
        <p:nvSpPr>
          <p:cNvPr id="13" name="Text 11"/>
          <p:cNvSpPr txBox="1"/>
          <p:nvPr/>
        </p:nvSpPr>
        <p:spPr>
          <a:xfrm>
            <a:off x="64008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4" name="Text 12"/>
          <p:cNvSpPr txBox="1"/>
          <p:nvPr/>
        </p:nvSpPr>
        <p:spPr>
          <a:xfrm>
            <a:off x="1325880" y="363016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プロコン塾11期生 → 2024年9月1日に独立</a:t>
            </a:r>
            <a:endParaRPr lang="en-US" sz="1800" dirty="0"/>
          </a:p>
        </p:txBody>
      </p:sp>
      <p:sp>
        <p:nvSpPr>
          <p:cNvPr id="15" name="Text 13"/>
          <p:cNvSpPr txBox="1"/>
          <p:nvPr/>
        </p:nvSpPr>
        <p:spPr>
          <a:xfrm>
            <a:off x="1325880" y="3986784"/>
            <a:ext cx="10134295" cy="57607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卒塾後に独立。この講義を聞いて感化された側</a:t>
            </a:r>
            <a:endParaRPr lang="en-US" sz="1400" dirty="0"/>
          </a:p>
        </p:txBody>
      </p:sp>
      <p:sp>
        <p:nvSpPr>
          <p:cNvPr id="16" name="Shape 14"/>
          <p:cNvSpPr/>
          <p:nvPr/>
        </p:nvSpPr>
        <p:spPr>
          <a:xfrm>
            <a:off x="640080" y="4617720"/>
            <a:ext cx="457200" cy="457200"/>
          </a:xfrm>
          <a:prstGeom prst="ellipse">
            <a:avLst/>
          </a:prstGeom>
          <a:solidFill>
            <a:srgbClr val="1E2761"/>
          </a:solidFill>
          <a:ln w="12700">
            <a:solidFill>
              <a:srgbClr val="1E2761"/>
            </a:solidFill>
            <a:prstDash val="solid"/>
          </a:ln>
        </p:spPr>
      </p:sp>
      <p:sp>
        <p:nvSpPr>
          <p:cNvPr id="17" name="Text 15"/>
          <p:cNvSpPr txBox="1"/>
          <p:nvPr/>
        </p:nvSpPr>
        <p:spPr>
          <a:xfrm>
            <a:off x="640080" y="4617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18" name="Text 16"/>
          <p:cNvSpPr txBox="1"/>
          <p:nvPr/>
        </p:nvSpPr>
        <p:spPr>
          <a:xfrm>
            <a:off x="1325880" y="459028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株式会社あはひ 代表取締役</a:t>
            </a:r>
            <a:endParaRPr lang="en-US" sz="1800" dirty="0"/>
          </a:p>
        </p:txBody>
      </p:sp>
      <p:sp>
        <p:nvSpPr>
          <p:cNvPr id="19" name="Text 17"/>
          <p:cNvSpPr txBox="1"/>
          <p:nvPr/>
        </p:nvSpPr>
        <p:spPr>
          <a:xfrm>
            <a:off x="1325880" y="4946904"/>
            <a:ext cx="10134295" cy="57607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神田淡路町でカフェBARを運営。会員126名・うち診断士85名（2026年7月末）</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はじめに</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今日、皆さんの期待を1つだけ裏切ります</a:t>
            </a:r>
            <a:endParaRPr lang="en-US" sz="3000" dirty="0"/>
          </a:p>
        </p:txBody>
      </p:sp>
      <p:sp>
        <p:nvSpPr>
          <p:cNvPr id="4" name="Shape 2"/>
          <p:cNvSpPr/>
          <p:nvPr/>
        </p:nvSpPr>
        <p:spPr>
          <a:xfrm>
            <a:off x="640080" y="1920240"/>
            <a:ext cx="5318608" cy="2651760"/>
          </a:xfrm>
          <a:prstGeom prst="roundRect">
            <a:avLst>
              <a:gd name="adj" fmla="val 2759"/>
            </a:avLst>
          </a:prstGeom>
          <a:solidFill>
            <a:srgbClr val="F2F5FB"/>
          </a:solidFill>
          <a:ln w="12700">
            <a:solidFill>
              <a:srgbClr val="F2F5FB"/>
            </a:solidFill>
            <a:prstDash val="solid"/>
          </a:ln>
        </p:spPr>
      </p:sp>
      <p:sp>
        <p:nvSpPr>
          <p:cNvPr id="5" name="Text 3"/>
          <p:cNvSpPr txBox="1"/>
          <p:nvPr/>
        </p:nvSpPr>
        <p:spPr>
          <a:xfrm>
            <a:off x="896112" y="217627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期待していること</a:t>
            </a:r>
            <a:endParaRPr lang="en-US" sz="1800" dirty="0"/>
          </a:p>
        </p:txBody>
      </p:sp>
      <p:sp>
        <p:nvSpPr>
          <p:cNvPr id="6" name="Text 4"/>
          <p:cNvSpPr txBox="1"/>
          <p:nvPr/>
        </p:nvSpPr>
        <p:spPr>
          <a:xfrm>
            <a:off x="896112" y="2834640"/>
            <a:ext cx="4806544" cy="146304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「顧客開拓のやり方を聞きに来た」</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新規のお客さまをどうやって見つけて、どう営業して、どう契約に持っていくのか。</a:t>
            </a:r>
            <a:endParaRPr lang="en-US" sz="1300" dirty="0"/>
          </a:p>
        </p:txBody>
      </p:sp>
      <p:sp>
        <p:nvSpPr>
          <p:cNvPr id="7" name="Shape 5"/>
          <p:cNvSpPr/>
          <p:nvPr/>
        </p:nvSpPr>
        <p:spPr>
          <a:xfrm>
            <a:off x="6233008" y="1920240"/>
            <a:ext cx="5318608" cy="2651760"/>
          </a:xfrm>
          <a:prstGeom prst="roundRect">
            <a:avLst>
              <a:gd name="adj" fmla="val 2759"/>
            </a:avLst>
          </a:prstGeom>
          <a:solidFill>
            <a:srgbClr val="F2F5FB"/>
          </a:solidFill>
          <a:ln w="12700">
            <a:solidFill>
              <a:srgbClr val="F2F5FB"/>
            </a:solidFill>
            <a:prstDash val="solid"/>
          </a:ln>
        </p:spPr>
      </p:sp>
      <p:sp>
        <p:nvSpPr>
          <p:cNvPr id="8" name="Text 6"/>
          <p:cNvSpPr txBox="1"/>
          <p:nvPr/>
        </p:nvSpPr>
        <p:spPr>
          <a:xfrm>
            <a:off x="6489040" y="217627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私がお話しすること</a:t>
            </a:r>
            <a:endParaRPr lang="en-US" sz="1800" dirty="0"/>
          </a:p>
        </p:txBody>
      </p:sp>
      <p:sp>
        <p:nvSpPr>
          <p:cNvPr id="9" name="Text 7"/>
          <p:cNvSpPr txBox="1"/>
          <p:nvPr/>
        </p:nvSpPr>
        <p:spPr>
          <a:xfrm>
            <a:off x="6489040" y="2834640"/>
            <a:ext cx="4806544" cy="146304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私は、開拓していません。</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この2年で受けた仕事26件のうち、こちらから売り込んで取ったものはゼロです。</a:t>
            </a:r>
            <a:endParaRPr lang="en-US" sz="1300" dirty="0"/>
          </a:p>
        </p:txBody>
      </p:sp>
      <p:sp>
        <p:nvSpPr>
          <p:cNvPr id="10" name="Text 8"/>
          <p:cNvSpPr txBox="1"/>
          <p:nvPr/>
        </p:nvSpPr>
        <p:spPr>
          <a:xfrm>
            <a:off x="640080" y="4846320"/>
            <a:ext cx="10911535" cy="640080"/>
          </a:xfrm>
          <a:prstGeom prst="rect">
            <a:avLst/>
          </a:prstGeom>
          <a:noFill/>
          <a:ln/>
        </p:spPr>
        <p:txBody>
          <a:bodyPr wrap="square" lIns="0" tIns="0" rIns="0" bIns="0" rtlCol="0" anchor="ctr">
            <a:normAutofit/>
          </a:bodyPr>
          <a:lstStyle/>
          <a:p>
            <a:pPr indent="0" marL="0">
              <a:buNone/>
            </a:pPr>
            <a:r>
              <a:rPr lang="en-US" sz="2200" b="1" dirty="0">
                <a:solidFill>
                  <a:srgbClr val="1E2761"/>
                </a:solidFill>
                <a:latin typeface="Meiryo" pitchFamily="34" charset="0"/>
                <a:ea typeface="Meiryo" pitchFamily="34" charset="-122"/>
                <a:cs typeface="Meiryo" pitchFamily="34" charset="-120"/>
              </a:rPr>
              <a:t>では、どうやって26件が来たのか。それが今日の3時間です。</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この3時間で</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今日は、数字も名前も全部お見せします</a:t>
            </a:r>
            <a:endParaRPr lang="en-US" sz="3000" dirty="0"/>
          </a:p>
        </p:txBody>
      </p:sp>
      <p:sp>
        <p:nvSpPr>
          <p:cNvPr id="4" name="Shape 2"/>
          <p:cNvSpPr/>
          <p:nvPr/>
        </p:nvSpPr>
        <p:spPr>
          <a:xfrm>
            <a:off x="640080" y="1920240"/>
            <a:ext cx="3454298" cy="3108960"/>
          </a:xfrm>
          <a:prstGeom prst="roundRect">
            <a:avLst>
              <a:gd name="adj" fmla="val 2353"/>
            </a:avLst>
          </a:prstGeom>
          <a:solidFill>
            <a:srgbClr val="F2F5FB"/>
          </a:solidFill>
          <a:ln w="12700">
            <a:solidFill>
              <a:srgbClr val="F2F5FB"/>
            </a:solidFill>
            <a:prstDash val="solid"/>
          </a:ln>
        </p:spPr>
      </p:sp>
      <p:sp>
        <p:nvSpPr>
          <p:cNvPr id="5" name="Text 3"/>
          <p:cNvSpPr txBox="1"/>
          <p:nvPr/>
        </p:nvSpPr>
        <p:spPr>
          <a:xfrm>
            <a:off x="896112" y="2176272"/>
            <a:ext cx="294223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① 私の売上</a:t>
            </a:r>
            <a:endParaRPr lang="en-US" sz="1800" dirty="0"/>
          </a:p>
        </p:txBody>
      </p:sp>
      <p:sp>
        <p:nvSpPr>
          <p:cNvPr id="6" name="Text 4"/>
          <p:cNvSpPr txBox="1"/>
          <p:nvPr/>
        </p:nvSpPr>
        <p:spPr>
          <a:xfrm>
            <a:off x="896112" y="2834640"/>
            <a:ext cx="2942234" cy="192024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独立1年目・2年目の月次売上を、そのままお見せします。</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最初の3か月がいくらだったかも隠しません。</a:t>
            </a:r>
            <a:endParaRPr lang="en-US" sz="1300" dirty="0"/>
          </a:p>
        </p:txBody>
      </p:sp>
      <p:sp>
        <p:nvSpPr>
          <p:cNvPr id="7" name="Shape 5"/>
          <p:cNvSpPr/>
          <p:nvPr/>
        </p:nvSpPr>
        <p:spPr>
          <a:xfrm>
            <a:off x="4368698" y="1920240"/>
            <a:ext cx="3454298" cy="3108960"/>
          </a:xfrm>
          <a:prstGeom prst="roundRect">
            <a:avLst>
              <a:gd name="adj" fmla="val 2353"/>
            </a:avLst>
          </a:prstGeom>
          <a:solidFill>
            <a:srgbClr val="F2F5FB"/>
          </a:solidFill>
          <a:ln w="12700">
            <a:solidFill>
              <a:srgbClr val="F2F5FB"/>
            </a:solidFill>
            <a:prstDash val="solid"/>
          </a:ln>
        </p:spPr>
      </p:sp>
      <p:sp>
        <p:nvSpPr>
          <p:cNvPr id="8" name="Text 6"/>
          <p:cNvSpPr txBox="1"/>
          <p:nvPr/>
        </p:nvSpPr>
        <p:spPr>
          <a:xfrm>
            <a:off x="4624730" y="2176272"/>
            <a:ext cx="294223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② 26件の入口</a:t>
            </a:r>
            <a:endParaRPr lang="en-US" sz="1800" dirty="0"/>
          </a:p>
        </p:txBody>
      </p:sp>
      <p:sp>
        <p:nvSpPr>
          <p:cNvPr id="9" name="Text 7"/>
          <p:cNvSpPr txBox="1"/>
          <p:nvPr/>
        </p:nvSpPr>
        <p:spPr>
          <a:xfrm>
            <a:off x="4624730" y="2834640"/>
            <a:ext cx="2942234" cy="192024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この2年で受けた仕事26件が、どこから来たのかを全部並べます。</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売り込んで取った仕事はゼロです。</a:t>
            </a:r>
            <a:endParaRPr lang="en-US" sz="1300" dirty="0"/>
          </a:p>
        </p:txBody>
      </p:sp>
      <p:sp>
        <p:nvSpPr>
          <p:cNvPr id="10" name="Shape 8"/>
          <p:cNvSpPr/>
          <p:nvPr/>
        </p:nvSpPr>
        <p:spPr>
          <a:xfrm>
            <a:off x="8097317" y="1920240"/>
            <a:ext cx="3454298" cy="3108960"/>
          </a:xfrm>
          <a:prstGeom prst="roundRect">
            <a:avLst>
              <a:gd name="adj" fmla="val 2353"/>
            </a:avLst>
          </a:prstGeom>
          <a:solidFill>
            <a:srgbClr val="F2F5FB"/>
          </a:solidFill>
          <a:ln w="12700">
            <a:solidFill>
              <a:srgbClr val="F2F5FB"/>
            </a:solidFill>
            <a:prstDash val="solid"/>
          </a:ln>
        </p:spPr>
      </p:sp>
      <p:sp>
        <p:nvSpPr>
          <p:cNvPr id="11" name="Text 9"/>
          <p:cNvSpPr txBox="1"/>
          <p:nvPr/>
        </p:nvSpPr>
        <p:spPr>
          <a:xfrm>
            <a:off x="8353349" y="2176272"/>
            <a:ext cx="294223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③ 再現の5ステップ</a:t>
            </a:r>
            <a:endParaRPr lang="en-US" sz="1800" dirty="0"/>
          </a:p>
        </p:txBody>
      </p:sp>
      <p:sp>
        <p:nvSpPr>
          <p:cNvPr id="12" name="Text 10"/>
          <p:cNvSpPr txBox="1"/>
          <p:nvPr/>
        </p:nvSpPr>
        <p:spPr>
          <a:xfrm>
            <a:off x="8353349" y="2834640"/>
            <a:ext cx="2942234" cy="192024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私がやったことを、誰でも辿れる順番にしました。</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最後は自分の設計図を1枚書いて帰っていただきます。</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640080" y="2286000"/>
            <a:ext cx="1005840" cy="1005840"/>
          </a:xfrm>
          <a:prstGeom prst="ellipse">
            <a:avLst/>
          </a:prstGeom>
          <a:solidFill>
            <a:srgbClr val="C08A2E"/>
          </a:solidFill>
          <a:ln w="12700">
            <a:solidFill>
              <a:srgbClr val="C08A2E"/>
            </a:solidFill>
            <a:prstDash val="solid"/>
          </a:ln>
        </p:spPr>
      </p:sp>
      <p:sp>
        <p:nvSpPr>
          <p:cNvPr id="3" name="Text 1"/>
          <p:cNvSpPr txBox="1"/>
          <p:nvPr/>
        </p:nvSpPr>
        <p:spPr>
          <a:xfrm>
            <a:off x="640080" y="2286000"/>
            <a:ext cx="1005840" cy="1005840"/>
          </a:xfrm>
          <a:prstGeom prst="rect">
            <a:avLst/>
          </a:prstGeom>
          <a:noFill/>
          <a:ln/>
        </p:spPr>
        <p:txBody>
          <a:bodyPr wrap="square" lIns="0" tIns="0" rIns="0" bIns="0" rtlCol="0" anchor="ctr"/>
          <a:lstStyle/>
          <a:p>
            <a:pPr algn="ctr" indent="0" marL="0">
              <a:buNone/>
            </a:pPr>
            <a:r>
              <a:rPr lang="en-US" sz="3400" b="1" dirty="0">
                <a:solidFill>
                  <a:srgbClr val="FFFFFF"/>
                </a:solidFill>
                <a:latin typeface="Meiryo" pitchFamily="34" charset="0"/>
                <a:ea typeface="Meiryo" pitchFamily="34" charset="-122"/>
                <a:cs typeface="Meiryo" pitchFamily="34" charset="-120"/>
              </a:rPr>
              <a:t>1</a:t>
            </a:r>
            <a:endParaRPr lang="en-US" sz="3400" dirty="0"/>
          </a:p>
        </p:txBody>
      </p:sp>
      <p:sp>
        <p:nvSpPr>
          <p:cNvPr id="4" name="Text 2"/>
          <p:cNvSpPr txBox="1"/>
          <p:nvPr/>
        </p:nvSpPr>
        <p:spPr>
          <a:xfrm>
            <a:off x="2011680" y="2240280"/>
            <a:ext cx="9539935" cy="91440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Meiryo" pitchFamily="34" charset="0"/>
                <a:ea typeface="Meiryo" pitchFamily="34" charset="-122"/>
                <a:cs typeface="Meiryo" pitchFamily="34" charset="-120"/>
              </a:rPr>
              <a:t>塾生だったころの私</a:t>
            </a:r>
            <a:endParaRPr lang="en-US" sz="3400" dirty="0"/>
          </a:p>
        </p:txBody>
      </p:sp>
      <p:sp>
        <p:nvSpPr>
          <p:cNvPr id="5" name="Text 3"/>
          <p:cNvSpPr txBox="1"/>
          <p:nvPr/>
        </p:nvSpPr>
        <p:spPr>
          <a:xfrm>
            <a:off x="2011680" y="3246120"/>
            <a:ext cx="9539935" cy="731520"/>
          </a:xfrm>
          <a:prstGeom prst="rect">
            <a:avLst/>
          </a:prstGeom>
          <a:noFill/>
          <a:ln/>
        </p:spPr>
        <p:txBody>
          <a:bodyPr wrap="square" lIns="0" tIns="0" rIns="0" bIns="0" rtlCol="0" anchor="ctr">
            <a:normAutofit/>
          </a:bodyPr>
          <a:lstStyle/>
          <a:p>
            <a:pPr indent="0" marL="0">
              <a:buNone/>
            </a:pPr>
            <a:r>
              <a:rPr lang="en-US" sz="1600" dirty="0">
                <a:solidFill>
                  <a:srgbClr val="CADCFC"/>
                </a:solidFill>
                <a:latin typeface="Meiryo" pitchFamily="34" charset="0"/>
                <a:ea typeface="Meiryo" pitchFamily="34" charset="-122"/>
                <a:cs typeface="Meiryo" pitchFamily="34" charset="-120"/>
              </a:rPr>
              <a:t>13:10-13:26／18分　当時、私がいちばん聞きたかったこと</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第1部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なぜプロコン塾に入ったのか</a:t>
            </a:r>
            <a:endParaRPr lang="en-US" sz="3000" dirty="0"/>
          </a:p>
        </p:txBody>
      </p:sp>
      <p:sp>
        <p:nvSpPr>
          <p:cNvPr id="4" name="Shape 2"/>
          <p:cNvSpPr/>
          <p:nvPr/>
        </p:nvSpPr>
        <p:spPr>
          <a:xfrm>
            <a:off x="640080" y="1737360"/>
            <a:ext cx="457200" cy="457200"/>
          </a:xfrm>
          <a:prstGeom prst="ellipse">
            <a:avLst/>
          </a:prstGeom>
          <a:solidFill>
            <a:srgbClr val="1E2761"/>
          </a:solidFill>
          <a:ln w="12700">
            <a:solidFill>
              <a:srgbClr val="1E2761"/>
            </a:solidFill>
            <a:prstDash val="solid"/>
          </a:ln>
        </p:spPr>
      </p:sp>
      <p:sp>
        <p:nvSpPr>
          <p:cNvPr id="5" name="Text 3"/>
          <p:cNvSpPr txBox="1"/>
          <p:nvPr/>
        </p:nvSpPr>
        <p:spPr>
          <a:xfrm>
            <a:off x="640080"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6" name="Text 4"/>
          <p:cNvSpPr txBox="1"/>
          <p:nvPr/>
        </p:nvSpPr>
        <p:spPr>
          <a:xfrm>
            <a:off x="1325880" y="170992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前年に城北支部に入会し、青年部に入会した</a:t>
            </a:r>
            <a:endParaRPr lang="en-US" sz="1800" dirty="0"/>
          </a:p>
        </p:txBody>
      </p:sp>
      <p:sp>
        <p:nvSpPr>
          <p:cNvPr id="7" name="Shape 5"/>
          <p:cNvSpPr/>
          <p:nvPr/>
        </p:nvSpPr>
        <p:spPr>
          <a:xfrm>
            <a:off x="640080" y="2697480"/>
            <a:ext cx="457200" cy="457200"/>
          </a:xfrm>
          <a:prstGeom prst="ellipse">
            <a:avLst/>
          </a:prstGeom>
          <a:solidFill>
            <a:srgbClr val="1E2761"/>
          </a:solidFill>
          <a:ln w="12700">
            <a:solidFill>
              <a:srgbClr val="1E2761"/>
            </a:solidFill>
            <a:prstDash val="solid"/>
          </a:ln>
        </p:spPr>
      </p:sp>
      <p:sp>
        <p:nvSpPr>
          <p:cNvPr id="8" name="Text 6"/>
          <p:cNvSpPr txBox="1"/>
          <p:nvPr/>
        </p:nvSpPr>
        <p:spPr>
          <a:xfrm>
            <a:off x="640080" y="2697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9" name="Text 7"/>
          <p:cNvSpPr txBox="1"/>
          <p:nvPr/>
        </p:nvSpPr>
        <p:spPr>
          <a:xfrm>
            <a:off x="1325880" y="267004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複数の方に「診断士を学びたいならプロコン塾はお薦めだよ」と言われた</a:t>
            </a:r>
            <a:endParaRPr lang="en-US" sz="1800" dirty="0"/>
          </a:p>
        </p:txBody>
      </p:sp>
      <p:sp>
        <p:nvSpPr>
          <p:cNvPr id="10" name="Shape 8"/>
          <p:cNvSpPr/>
          <p:nvPr/>
        </p:nvSpPr>
        <p:spPr>
          <a:xfrm>
            <a:off x="640080" y="3657600"/>
            <a:ext cx="457200" cy="457200"/>
          </a:xfrm>
          <a:prstGeom prst="ellipse">
            <a:avLst/>
          </a:prstGeom>
          <a:solidFill>
            <a:srgbClr val="1E2761"/>
          </a:solidFill>
          <a:ln w="12700">
            <a:solidFill>
              <a:srgbClr val="1E2761"/>
            </a:solidFill>
            <a:prstDash val="solid"/>
          </a:ln>
        </p:spPr>
      </p:sp>
      <p:sp>
        <p:nvSpPr>
          <p:cNvPr id="11" name="Text 9"/>
          <p:cNvSpPr txBox="1"/>
          <p:nvPr/>
        </p:nvSpPr>
        <p:spPr>
          <a:xfrm>
            <a:off x="64008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2" name="Text 10"/>
          <p:cNvSpPr txBox="1"/>
          <p:nvPr/>
        </p:nvSpPr>
        <p:spPr>
          <a:xfrm>
            <a:off x="1325880" y="363016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目的は「何が学べるのだろう？」という自己啓発だった</a:t>
            </a:r>
            <a:endParaRPr lang="en-US" sz="1800" dirty="0"/>
          </a:p>
        </p:txBody>
      </p:sp>
      <p:sp>
        <p:nvSpPr>
          <p:cNvPr id="13" name="Text 11"/>
          <p:cNvSpPr txBox="1"/>
          <p:nvPr/>
        </p:nvSpPr>
        <p:spPr>
          <a:xfrm>
            <a:off x="1325880" y="3986784"/>
            <a:ext cx="10134295" cy="57607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月1回通って、診断士を学び直すこと</a:t>
            </a:r>
            <a:endParaRPr lang="en-US" sz="1400" dirty="0"/>
          </a:p>
        </p:txBody>
      </p:sp>
      <p:sp>
        <p:nvSpPr>
          <p:cNvPr id="14" name="Shape 12"/>
          <p:cNvSpPr/>
          <p:nvPr/>
        </p:nvSpPr>
        <p:spPr>
          <a:xfrm>
            <a:off x="640080" y="4617720"/>
            <a:ext cx="457200" cy="457200"/>
          </a:xfrm>
          <a:prstGeom prst="ellipse">
            <a:avLst/>
          </a:prstGeom>
          <a:solidFill>
            <a:srgbClr val="1E2761"/>
          </a:solidFill>
          <a:ln w="12700">
            <a:solidFill>
              <a:srgbClr val="1E2761"/>
            </a:solidFill>
            <a:prstDash val="solid"/>
          </a:ln>
        </p:spPr>
      </p:sp>
      <p:sp>
        <p:nvSpPr>
          <p:cNvPr id="15" name="Text 13"/>
          <p:cNvSpPr txBox="1"/>
          <p:nvPr/>
        </p:nvSpPr>
        <p:spPr>
          <a:xfrm>
            <a:off x="640080" y="4617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16" name="Text 14"/>
          <p:cNvSpPr txBox="1"/>
          <p:nvPr/>
        </p:nvSpPr>
        <p:spPr>
          <a:xfrm>
            <a:off x="1325880" y="459028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2009年2月に取得したあと、資格を寝かせてきた</a:t>
            </a:r>
            <a:endParaRPr lang="en-US" sz="1800" dirty="0"/>
          </a:p>
        </p:txBody>
      </p:sp>
      <p:sp>
        <p:nvSpPr>
          <p:cNvPr id="17" name="Text 15"/>
          <p:cNvSpPr txBox="1"/>
          <p:nvPr/>
        </p:nvSpPr>
        <p:spPr>
          <a:xfrm>
            <a:off x="1325880" y="4946904"/>
            <a:ext cx="10134295" cy="57607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もう一度、診断士を学ぼうと思ったのがきっかけ</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第1部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初回、梁川さんの講義に度肝を抜かれた</a:t>
            </a:r>
            <a:endParaRPr lang="en-US" sz="3000" dirty="0"/>
          </a:p>
        </p:txBody>
      </p:sp>
      <p:sp>
        <p:nvSpPr>
          <p:cNvPr id="4" name="Shape 2"/>
          <p:cNvSpPr/>
          <p:nvPr/>
        </p:nvSpPr>
        <p:spPr>
          <a:xfrm>
            <a:off x="640080" y="1920240"/>
            <a:ext cx="5318608" cy="2926080"/>
          </a:xfrm>
          <a:prstGeom prst="roundRect">
            <a:avLst>
              <a:gd name="adj" fmla="val 2500"/>
            </a:avLst>
          </a:prstGeom>
          <a:solidFill>
            <a:srgbClr val="F2F5FB"/>
          </a:solidFill>
          <a:ln w="12700">
            <a:solidFill>
              <a:srgbClr val="F2F5FB"/>
            </a:solidFill>
            <a:prstDash val="solid"/>
          </a:ln>
        </p:spPr>
      </p:sp>
      <p:sp>
        <p:nvSpPr>
          <p:cNvPr id="5" name="Text 3"/>
          <p:cNvSpPr txBox="1"/>
          <p:nvPr/>
        </p:nvSpPr>
        <p:spPr>
          <a:xfrm>
            <a:off x="896112" y="217627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私が思っていたコンサル</a:t>
            </a:r>
            <a:endParaRPr lang="en-US" sz="1800" dirty="0"/>
          </a:p>
        </p:txBody>
      </p:sp>
      <p:sp>
        <p:nvSpPr>
          <p:cNvPr id="6" name="Text 4"/>
          <p:cNvSpPr txBox="1"/>
          <p:nvPr/>
        </p:nvSpPr>
        <p:spPr>
          <a:xfrm>
            <a:off x="896112" y="2834640"/>
            <a:ext cx="4806544" cy="173736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課題を整理し、導き、売上を上げ、事業をつくる。</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新規事業やスタートアップの創出支援が本業だったので、そういうものだと思い込んでいた。</a:t>
            </a:r>
            <a:endParaRPr lang="en-US" sz="1300" dirty="0"/>
          </a:p>
        </p:txBody>
      </p:sp>
      <p:sp>
        <p:nvSpPr>
          <p:cNvPr id="7" name="Shape 5"/>
          <p:cNvSpPr/>
          <p:nvPr/>
        </p:nvSpPr>
        <p:spPr>
          <a:xfrm>
            <a:off x="6233008" y="1920240"/>
            <a:ext cx="5318608" cy="2926080"/>
          </a:xfrm>
          <a:prstGeom prst="roundRect">
            <a:avLst>
              <a:gd name="adj" fmla="val 2500"/>
            </a:avLst>
          </a:prstGeom>
          <a:solidFill>
            <a:srgbClr val="F2F5FB"/>
          </a:solidFill>
          <a:ln w="12700">
            <a:solidFill>
              <a:srgbClr val="F2F5FB"/>
            </a:solidFill>
            <a:prstDash val="solid"/>
          </a:ln>
        </p:spPr>
      </p:sp>
      <p:sp>
        <p:nvSpPr>
          <p:cNvPr id="8" name="Text 6"/>
          <p:cNvSpPr txBox="1"/>
          <p:nvPr/>
        </p:nvSpPr>
        <p:spPr>
          <a:xfrm>
            <a:off x="6489040" y="217627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そこにあったもの</a:t>
            </a:r>
            <a:endParaRPr lang="en-US" sz="1800" dirty="0"/>
          </a:p>
        </p:txBody>
      </p:sp>
      <p:sp>
        <p:nvSpPr>
          <p:cNvPr id="9" name="Text 7"/>
          <p:cNvSpPr txBox="1"/>
          <p:nvPr/>
        </p:nvSpPr>
        <p:spPr>
          <a:xfrm>
            <a:off x="6489040" y="2834640"/>
            <a:ext cx="4806544" cy="173736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つぶれそうな企業にメスを入れ、捨てるものを捨てながら、どうにか生かし、回復させていく。</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想いだけでなく、ノウハウとスキルに感動した。</a:t>
            </a:r>
            <a:endParaRPr lang="en-US" sz="1300" dirty="0"/>
          </a:p>
        </p:txBody>
      </p:sp>
      <p:sp>
        <p:nvSpPr>
          <p:cNvPr id="10" name="Text 8"/>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その場で同行訪問を申し込んだ。学びが多かった。</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第1部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いちばん大きかったのは、出会いだった</a:t>
            </a:r>
            <a:endParaRPr lang="en-US" sz="3000" dirty="0"/>
          </a:p>
        </p:txBody>
      </p:sp>
      <p:sp>
        <p:nvSpPr>
          <p:cNvPr id="4" name="Shape 2"/>
          <p:cNvSpPr/>
          <p:nvPr/>
        </p:nvSpPr>
        <p:spPr>
          <a:xfrm>
            <a:off x="640080" y="1920240"/>
            <a:ext cx="457200" cy="457200"/>
          </a:xfrm>
          <a:prstGeom prst="ellipse">
            <a:avLst/>
          </a:prstGeom>
          <a:solidFill>
            <a:srgbClr val="1E2761"/>
          </a:solidFill>
          <a:ln w="12700">
            <a:solidFill>
              <a:srgbClr val="1E2761"/>
            </a:solidFill>
            <a:prstDash val="solid"/>
          </a:ln>
        </p:spPr>
      </p:sp>
      <p:sp>
        <p:nvSpPr>
          <p:cNvPr id="5" name="Text 3"/>
          <p:cNvSpPr txBox="1"/>
          <p:nvPr/>
        </p:nvSpPr>
        <p:spPr>
          <a:xfrm>
            <a:off x="640080" y="1920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6" name="Text 4"/>
          <p:cNvSpPr txBox="1"/>
          <p:nvPr/>
        </p:nvSpPr>
        <p:spPr>
          <a:xfrm>
            <a:off x="1325880" y="189280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梁川さんとの出会いは、いまも続いている</a:t>
            </a:r>
            <a:endParaRPr lang="en-US" sz="1800" dirty="0"/>
          </a:p>
        </p:txBody>
      </p:sp>
      <p:sp>
        <p:nvSpPr>
          <p:cNvPr id="7" name="Text 5"/>
          <p:cNvSpPr txBox="1"/>
          <p:nvPr/>
        </p:nvSpPr>
        <p:spPr>
          <a:xfrm>
            <a:off x="1325880" y="2249424"/>
            <a:ext cx="10134295" cy="71323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卒塾後も気にかけていただき、情報交換やアドバイスをいただいている</a:t>
            </a:r>
            <a:endParaRPr lang="en-US" sz="1400" dirty="0"/>
          </a:p>
        </p:txBody>
      </p:sp>
      <p:sp>
        <p:nvSpPr>
          <p:cNvPr id="8" name="Shape 6"/>
          <p:cNvSpPr/>
          <p:nvPr/>
        </p:nvSpPr>
        <p:spPr>
          <a:xfrm>
            <a:off x="640080" y="3017520"/>
            <a:ext cx="457200" cy="457200"/>
          </a:xfrm>
          <a:prstGeom prst="ellipse">
            <a:avLst/>
          </a:prstGeom>
          <a:solidFill>
            <a:srgbClr val="1E2761"/>
          </a:solidFill>
          <a:ln w="12700">
            <a:solidFill>
              <a:srgbClr val="1E2761"/>
            </a:solidFill>
            <a:prstDash val="solid"/>
          </a:ln>
        </p:spPr>
      </p:sp>
      <p:sp>
        <p:nvSpPr>
          <p:cNvPr id="9" name="Text 7"/>
          <p:cNvSpPr txBox="1"/>
          <p:nvPr/>
        </p:nvSpPr>
        <p:spPr>
          <a:xfrm>
            <a:off x="640080" y="3017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0" name="Text 8"/>
          <p:cNvSpPr txBox="1"/>
          <p:nvPr/>
        </p:nvSpPr>
        <p:spPr>
          <a:xfrm>
            <a:off x="1325880" y="299008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回を重ねるごとに、同期との仲が深まった</a:t>
            </a:r>
            <a:endParaRPr lang="en-US" sz="1800" dirty="0"/>
          </a:p>
        </p:txBody>
      </p:sp>
      <p:sp>
        <p:nvSpPr>
          <p:cNvPr id="11" name="Text 9"/>
          <p:cNvSpPr txBox="1"/>
          <p:nvPr/>
        </p:nvSpPr>
        <p:spPr>
          <a:xfrm>
            <a:off x="1325880" y="3346704"/>
            <a:ext cx="10134295" cy="71323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いまではかけがえのない仲間</a:t>
            </a:r>
            <a:endParaRPr lang="en-US" sz="1400" dirty="0"/>
          </a:p>
        </p:txBody>
      </p:sp>
      <p:sp>
        <p:nvSpPr>
          <p:cNvPr id="12" name="Shape 10"/>
          <p:cNvSpPr/>
          <p:nvPr/>
        </p:nvSpPr>
        <p:spPr>
          <a:xfrm>
            <a:off x="640080" y="4114800"/>
            <a:ext cx="457200" cy="457200"/>
          </a:xfrm>
          <a:prstGeom prst="ellipse">
            <a:avLst/>
          </a:prstGeom>
          <a:solidFill>
            <a:srgbClr val="1E2761"/>
          </a:solidFill>
          <a:ln w="12700">
            <a:solidFill>
              <a:srgbClr val="1E2761"/>
            </a:solidFill>
            <a:prstDash val="solid"/>
          </a:ln>
        </p:spPr>
      </p:sp>
      <p:sp>
        <p:nvSpPr>
          <p:cNvPr id="13" name="Text 11"/>
          <p:cNvSpPr txBox="1"/>
          <p:nvPr/>
        </p:nvSpPr>
        <p:spPr>
          <a:xfrm>
            <a:off x="640080"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4" name="Text 12"/>
          <p:cNvSpPr txBox="1"/>
          <p:nvPr/>
        </p:nvSpPr>
        <p:spPr>
          <a:xfrm>
            <a:off x="1325880" y="408736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この場で得た出会いが、その後いちばん大きかった</a:t>
            </a:r>
            <a:endParaRPr lang="en-US" sz="1800" dirty="0"/>
          </a:p>
        </p:txBody>
      </p:sp>
      <p:sp>
        <p:nvSpPr>
          <p:cNvPr id="15" name="Text 13"/>
          <p:cNvSpPr txBox="1"/>
          <p:nvPr/>
        </p:nvSpPr>
        <p:spPr>
          <a:xfrm>
            <a:off x="1325880" y="4443984"/>
            <a:ext cx="10134295" cy="71323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そして後で分かるのですが、この出会いこそが最初の信用残高でした</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第1部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当時、私がいちばん聞きたかったこと</a:t>
            </a:r>
            <a:endParaRPr lang="en-US" sz="3000" dirty="0"/>
          </a:p>
        </p:txBody>
      </p:sp>
      <p:sp>
        <p:nvSpPr>
          <p:cNvPr id="4" name="Shape 2"/>
          <p:cNvSpPr/>
          <p:nvPr/>
        </p:nvSpPr>
        <p:spPr>
          <a:xfrm>
            <a:off x="640080" y="1828800"/>
            <a:ext cx="457200" cy="457200"/>
          </a:xfrm>
          <a:prstGeom prst="ellipse">
            <a:avLst/>
          </a:prstGeom>
          <a:solidFill>
            <a:srgbClr val="1E2761"/>
          </a:solidFill>
          <a:ln w="12700">
            <a:solidFill>
              <a:srgbClr val="1E2761"/>
            </a:solidFill>
            <a:prstDash val="solid"/>
          </a:ln>
        </p:spPr>
      </p:sp>
      <p:sp>
        <p:nvSpPr>
          <p:cNvPr id="5" name="Text 3"/>
          <p:cNvSpPr txBox="1"/>
          <p:nvPr/>
        </p:nvSpPr>
        <p:spPr>
          <a:xfrm>
            <a:off x="640080"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6" name="Text 4"/>
          <p:cNvSpPr txBox="1"/>
          <p:nvPr/>
        </p:nvSpPr>
        <p:spPr>
          <a:xfrm>
            <a:off x="1325880" y="1801368"/>
            <a:ext cx="10134295" cy="365760"/>
          </a:xfrm>
          <a:prstGeom prst="rect">
            <a:avLst/>
          </a:prstGeom>
          <a:noFill/>
          <a:ln/>
        </p:spPr>
        <p:txBody>
          <a:bodyPr wrap="square" lIns="0" tIns="0" rIns="0" bIns="0" rtlCol="0" anchor="ctr">
            <a:normAutofit/>
          </a:bodyPr>
          <a:lstStyle/>
          <a:p>
            <a:pPr indent="0" marL="0">
              <a:buNone/>
            </a:pPr>
            <a:r>
              <a:rPr lang="en-US" sz="2000" b="1" dirty="0">
                <a:solidFill>
                  <a:srgbClr val="222222"/>
                </a:solidFill>
                <a:latin typeface="Meiryo" pitchFamily="34" charset="0"/>
                <a:ea typeface="Meiryo" pitchFamily="34" charset="-122"/>
                <a:cs typeface="Meiryo" pitchFamily="34" charset="-120"/>
              </a:rPr>
              <a:t>プロコンって、いくら稼げるの？</a:t>
            </a:r>
            <a:endParaRPr lang="en-US" sz="2000" dirty="0"/>
          </a:p>
        </p:txBody>
      </p:sp>
      <p:sp>
        <p:nvSpPr>
          <p:cNvPr id="7" name="Shape 5"/>
          <p:cNvSpPr/>
          <p:nvPr/>
        </p:nvSpPr>
        <p:spPr>
          <a:xfrm>
            <a:off x="640080" y="2834640"/>
            <a:ext cx="457200" cy="457200"/>
          </a:xfrm>
          <a:prstGeom prst="ellipse">
            <a:avLst/>
          </a:prstGeom>
          <a:solidFill>
            <a:srgbClr val="1E2761"/>
          </a:solidFill>
          <a:ln w="12700">
            <a:solidFill>
              <a:srgbClr val="1E2761"/>
            </a:solidFill>
            <a:prstDash val="solid"/>
          </a:ln>
        </p:spPr>
      </p:sp>
      <p:sp>
        <p:nvSpPr>
          <p:cNvPr id="8" name="Text 6"/>
          <p:cNvSpPr txBox="1"/>
          <p:nvPr/>
        </p:nvSpPr>
        <p:spPr>
          <a:xfrm>
            <a:off x="640080" y="28346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9" name="Text 7"/>
          <p:cNvSpPr txBox="1"/>
          <p:nvPr/>
        </p:nvSpPr>
        <p:spPr>
          <a:xfrm>
            <a:off x="1325880" y="2807208"/>
            <a:ext cx="10134295" cy="365760"/>
          </a:xfrm>
          <a:prstGeom prst="rect">
            <a:avLst/>
          </a:prstGeom>
          <a:noFill/>
          <a:ln/>
        </p:spPr>
        <p:txBody>
          <a:bodyPr wrap="square" lIns="0" tIns="0" rIns="0" bIns="0" rtlCol="0" anchor="ctr">
            <a:normAutofit/>
          </a:bodyPr>
          <a:lstStyle/>
          <a:p>
            <a:pPr indent="0" marL="0">
              <a:buNone/>
            </a:pPr>
            <a:r>
              <a:rPr lang="en-US" sz="2000" b="1" dirty="0">
                <a:solidFill>
                  <a:srgbClr val="222222"/>
                </a:solidFill>
                <a:latin typeface="Meiryo" pitchFamily="34" charset="0"/>
                <a:ea typeface="Meiryo" pitchFamily="34" charset="-122"/>
                <a:cs typeface="Meiryo" pitchFamily="34" charset="-120"/>
              </a:rPr>
              <a:t>どうやって、その稼ぎをつくったの？</a:t>
            </a:r>
            <a:endParaRPr lang="en-US" sz="2000" dirty="0"/>
          </a:p>
        </p:txBody>
      </p:sp>
      <p:sp>
        <p:nvSpPr>
          <p:cNvPr id="10" name="Shape 8"/>
          <p:cNvSpPr/>
          <p:nvPr/>
        </p:nvSpPr>
        <p:spPr>
          <a:xfrm>
            <a:off x="640080" y="3840480"/>
            <a:ext cx="457200" cy="457200"/>
          </a:xfrm>
          <a:prstGeom prst="ellipse">
            <a:avLst/>
          </a:prstGeom>
          <a:solidFill>
            <a:srgbClr val="1E2761"/>
          </a:solidFill>
          <a:ln w="12700">
            <a:solidFill>
              <a:srgbClr val="1E2761"/>
            </a:solidFill>
            <a:prstDash val="solid"/>
          </a:ln>
        </p:spPr>
      </p:sp>
      <p:sp>
        <p:nvSpPr>
          <p:cNvPr id="11" name="Text 9"/>
          <p:cNvSpPr txBox="1"/>
          <p:nvPr/>
        </p:nvSpPr>
        <p:spPr>
          <a:xfrm>
            <a:off x="640080" y="3840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2" name="Text 10"/>
          <p:cNvSpPr txBox="1"/>
          <p:nvPr/>
        </p:nvSpPr>
        <p:spPr>
          <a:xfrm>
            <a:off x="1325880" y="3813048"/>
            <a:ext cx="10134295" cy="365760"/>
          </a:xfrm>
          <a:prstGeom prst="rect">
            <a:avLst/>
          </a:prstGeom>
          <a:noFill/>
          <a:ln/>
        </p:spPr>
        <p:txBody>
          <a:bodyPr wrap="square" lIns="0" tIns="0" rIns="0" bIns="0" rtlCol="0" anchor="ctr">
            <a:normAutofit/>
          </a:bodyPr>
          <a:lstStyle/>
          <a:p>
            <a:pPr indent="0" marL="0">
              <a:buNone/>
            </a:pPr>
            <a:r>
              <a:rPr lang="en-US" sz="2000" b="1" dirty="0">
                <a:solidFill>
                  <a:srgbClr val="222222"/>
                </a:solidFill>
                <a:latin typeface="Meiryo" pitchFamily="34" charset="0"/>
                <a:ea typeface="Meiryo" pitchFamily="34" charset="-122"/>
                <a:cs typeface="Meiryo" pitchFamily="34" charset="-120"/>
              </a:rPr>
              <a:t>その稼ぎをつくるのに、必要なリソースは？</a:t>
            </a:r>
            <a:endParaRPr lang="en-US" sz="2000" dirty="0"/>
          </a:p>
        </p:txBody>
      </p:sp>
      <p:sp>
        <p:nvSpPr>
          <p:cNvPr id="13" name="Shape 11"/>
          <p:cNvSpPr/>
          <p:nvPr/>
        </p:nvSpPr>
        <p:spPr>
          <a:xfrm>
            <a:off x="640080" y="4846320"/>
            <a:ext cx="457200" cy="457200"/>
          </a:xfrm>
          <a:prstGeom prst="ellipse">
            <a:avLst/>
          </a:prstGeom>
          <a:solidFill>
            <a:srgbClr val="1E2761"/>
          </a:solidFill>
          <a:ln w="12700">
            <a:solidFill>
              <a:srgbClr val="1E2761"/>
            </a:solidFill>
            <a:prstDash val="solid"/>
          </a:ln>
        </p:spPr>
      </p:sp>
      <p:sp>
        <p:nvSpPr>
          <p:cNvPr id="14" name="Text 12"/>
          <p:cNvSpPr txBox="1"/>
          <p:nvPr/>
        </p:nvSpPr>
        <p:spPr>
          <a:xfrm>
            <a:off x="640080" y="4846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15" name="Text 13"/>
          <p:cNvSpPr txBox="1"/>
          <p:nvPr/>
        </p:nvSpPr>
        <p:spPr>
          <a:xfrm>
            <a:off x="1325880" y="4818888"/>
            <a:ext cx="10134295" cy="365760"/>
          </a:xfrm>
          <a:prstGeom prst="rect">
            <a:avLst/>
          </a:prstGeom>
          <a:noFill/>
          <a:ln/>
        </p:spPr>
        <p:txBody>
          <a:bodyPr wrap="square" lIns="0" tIns="0" rIns="0" bIns="0" rtlCol="0" anchor="ctr">
            <a:normAutofit/>
          </a:bodyPr>
          <a:lstStyle/>
          <a:p>
            <a:pPr indent="0" marL="0">
              <a:buNone/>
            </a:pPr>
            <a:r>
              <a:rPr lang="en-US" sz="2000" b="1" dirty="0">
                <a:solidFill>
                  <a:srgbClr val="222222"/>
                </a:solidFill>
                <a:latin typeface="Meiryo" pitchFamily="34" charset="0"/>
                <a:ea typeface="Meiryo" pitchFamily="34" charset="-122"/>
                <a:cs typeface="Meiryo" pitchFamily="34" charset="-120"/>
              </a:rPr>
              <a:t>リソースを分解すると、人脈・能力・きっかけ</a:t>
            </a:r>
            <a:endParaRPr lang="en-US" sz="2000" dirty="0"/>
          </a:p>
        </p:txBody>
      </p:sp>
      <p:sp>
        <p:nvSpPr>
          <p:cNvPr id="16" name="Text 14"/>
          <p:cNvSpPr txBox="1"/>
          <p:nvPr/>
        </p:nvSpPr>
        <p:spPr>
          <a:xfrm>
            <a:off x="1325880" y="5175504"/>
            <a:ext cx="10134295" cy="62179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この3つに分けて整理してみました</a:t>
            </a:r>
            <a:endParaRPr lang="en-US" sz="1400" dirty="0"/>
          </a:p>
        </p:txBody>
      </p:sp>
      <p:sp>
        <p:nvSpPr>
          <p:cNvPr id="17" name="Text 15"/>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今日は、この4つに私の実データで答えます。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640080" y="2286000"/>
            <a:ext cx="1005840" cy="1005840"/>
          </a:xfrm>
          <a:prstGeom prst="ellipse">
            <a:avLst/>
          </a:prstGeom>
          <a:solidFill>
            <a:srgbClr val="C08A2E"/>
          </a:solidFill>
          <a:ln w="12700">
            <a:solidFill>
              <a:srgbClr val="C08A2E"/>
            </a:solidFill>
            <a:prstDash val="solid"/>
          </a:ln>
        </p:spPr>
      </p:sp>
      <p:sp>
        <p:nvSpPr>
          <p:cNvPr id="3" name="Text 1"/>
          <p:cNvSpPr txBox="1"/>
          <p:nvPr/>
        </p:nvSpPr>
        <p:spPr>
          <a:xfrm>
            <a:off x="640080" y="2286000"/>
            <a:ext cx="1005840" cy="1005840"/>
          </a:xfrm>
          <a:prstGeom prst="rect">
            <a:avLst/>
          </a:prstGeom>
          <a:noFill/>
          <a:ln/>
        </p:spPr>
        <p:txBody>
          <a:bodyPr wrap="square" lIns="0" tIns="0" rIns="0" bIns="0" rtlCol="0" anchor="ctr"/>
          <a:lstStyle/>
          <a:p>
            <a:pPr algn="ctr" indent="0" marL="0">
              <a:buNone/>
            </a:pPr>
            <a:r>
              <a:rPr lang="en-US" sz="3400" b="1" dirty="0">
                <a:solidFill>
                  <a:srgbClr val="FFFFFF"/>
                </a:solidFill>
                <a:latin typeface="Meiryo" pitchFamily="34" charset="0"/>
                <a:ea typeface="Meiryo" pitchFamily="34" charset="-122"/>
                <a:cs typeface="Meiryo" pitchFamily="34" charset="-120"/>
              </a:rPr>
              <a:t>2</a:t>
            </a:r>
            <a:endParaRPr lang="en-US" sz="3400" dirty="0"/>
          </a:p>
        </p:txBody>
      </p:sp>
      <p:sp>
        <p:nvSpPr>
          <p:cNvPr id="4" name="Text 2"/>
          <p:cNvSpPr txBox="1"/>
          <p:nvPr/>
        </p:nvSpPr>
        <p:spPr>
          <a:xfrm>
            <a:off x="2011680" y="2240280"/>
            <a:ext cx="9539935" cy="91440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Meiryo" pitchFamily="34" charset="0"/>
                <a:ea typeface="Meiryo" pitchFamily="34" charset="-122"/>
                <a:cs typeface="Meiryo" pitchFamily="34" charset="-120"/>
              </a:rPr>
              <a:t>まだ何者でもなかった4人が、</a:t>
            </a:r>
            <a:endParaRPr lang="en-US" sz="3400" dirty="0"/>
          </a:p>
          <a:p>
            <a:pPr indent="0" marL="0">
              <a:buNone/>
            </a:pPr>
            <a:r>
              <a:rPr lang="en-US" sz="3400" b="1" dirty="0">
                <a:solidFill>
                  <a:srgbClr val="FFFFFF"/>
                </a:solidFill>
                <a:latin typeface="Meiryo" pitchFamily="34" charset="0"/>
                <a:ea typeface="Meiryo" pitchFamily="34" charset="-122"/>
                <a:cs typeface="Meiryo" pitchFamily="34" charset="-120"/>
              </a:rPr>
              <a:t>どうやっていまの地位に立ったか</a:t>
            </a:r>
            <a:endParaRPr lang="en-US" sz="3400" dirty="0"/>
          </a:p>
        </p:txBody>
      </p:sp>
      <p:sp>
        <p:nvSpPr>
          <p:cNvPr id="5" name="Text 3"/>
          <p:cNvSpPr txBox="1"/>
          <p:nvPr/>
        </p:nvSpPr>
        <p:spPr>
          <a:xfrm>
            <a:off x="2011680" y="3246120"/>
            <a:ext cx="9539935" cy="731520"/>
          </a:xfrm>
          <a:prstGeom prst="rect">
            <a:avLst/>
          </a:prstGeom>
          <a:noFill/>
          <a:ln/>
        </p:spPr>
        <p:txBody>
          <a:bodyPr wrap="square" lIns="0" tIns="0" rIns="0" bIns="0" rtlCol="0" anchor="ctr">
            <a:normAutofit/>
          </a:bodyPr>
          <a:lstStyle/>
          <a:p>
            <a:pPr indent="0" marL="0">
              <a:buNone/>
            </a:pPr>
            <a:r>
              <a:rPr lang="en-US" sz="1600" dirty="0">
                <a:solidFill>
                  <a:srgbClr val="CADCFC"/>
                </a:solidFill>
                <a:latin typeface="Meiryo" pitchFamily="34" charset="0"/>
                <a:ea typeface="Meiryo" pitchFamily="34" charset="-122"/>
                <a:cs typeface="Meiryo" pitchFamily="34" charset="-120"/>
              </a:rPr>
              <a:t>13:26-13:46／20分　先輩プロコン4人を分解する</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第2部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塚越さん</a:t>
            </a:r>
            <a:endParaRPr lang="en-US" sz="3000" dirty="0"/>
          </a:p>
        </p:txBody>
      </p:sp>
      <p:sp>
        <p:nvSpPr>
          <p:cNvPr id="4" name="Shape 2"/>
          <p:cNvSpPr/>
          <p:nvPr/>
        </p:nvSpPr>
        <p:spPr>
          <a:xfrm>
            <a:off x="640080" y="1600200"/>
            <a:ext cx="3291840" cy="1005840"/>
          </a:xfrm>
          <a:prstGeom prst="roundRect">
            <a:avLst>
              <a:gd name="adj" fmla="val 7273"/>
            </a:avLst>
          </a:prstGeom>
          <a:solidFill>
            <a:srgbClr val="1E2761"/>
          </a:solidFill>
          <a:ln w="12700">
            <a:solidFill>
              <a:srgbClr val="1E2761"/>
            </a:solidFill>
            <a:prstDash val="solid"/>
          </a:ln>
        </p:spPr>
      </p:sp>
      <p:sp>
        <p:nvSpPr>
          <p:cNvPr id="5" name="Text 3"/>
          <p:cNvSpPr txBox="1"/>
          <p:nvPr/>
        </p:nvSpPr>
        <p:spPr>
          <a:xfrm>
            <a:off x="822960" y="1600200"/>
            <a:ext cx="2926080" cy="1005840"/>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Meiryo" pitchFamily="34" charset="0"/>
                <a:ea typeface="Meiryo" pitchFamily="34" charset="-122"/>
                <a:cs typeface="Meiryo" pitchFamily="34" charset="-120"/>
              </a:rPr>
              <a:t>推定 3000万円以上</a:t>
            </a:r>
            <a:endParaRPr lang="en-US" sz="2000" dirty="0"/>
          </a:p>
        </p:txBody>
      </p:sp>
      <p:sp>
        <p:nvSpPr>
          <p:cNvPr id="6" name="Text 4"/>
          <p:cNvSpPr txBox="1"/>
          <p:nvPr/>
        </p:nvSpPr>
        <p:spPr>
          <a:xfrm>
            <a:off x="4297680" y="1645920"/>
            <a:ext cx="7253935" cy="274320"/>
          </a:xfrm>
          <a:prstGeom prst="rect">
            <a:avLst/>
          </a:prstGeom>
          <a:noFill/>
          <a:ln/>
        </p:spPr>
        <p:txBody>
          <a:bodyPr wrap="square" lIns="0" tIns="0" rIns="0" bIns="0" rtlCol="0" anchor="ctr"/>
          <a:lstStyle/>
          <a:p>
            <a:pPr indent="0" marL="0">
              <a:buNone/>
            </a:pPr>
            <a:r>
              <a:rPr lang="en-US" sz="1300" b="1" dirty="0">
                <a:solidFill>
                  <a:srgbClr val="C08A2E"/>
                </a:solidFill>
                <a:latin typeface="Meiryo" pitchFamily="34" charset="0"/>
                <a:ea typeface="Meiryo" pitchFamily="34" charset="-122"/>
                <a:cs typeface="Meiryo" pitchFamily="34" charset="-120"/>
              </a:rPr>
              <a:t>出発点</a:t>
            </a:r>
            <a:endParaRPr lang="en-US" sz="1300" dirty="0"/>
          </a:p>
        </p:txBody>
      </p:sp>
      <p:sp>
        <p:nvSpPr>
          <p:cNvPr id="7" name="Text 5"/>
          <p:cNvSpPr txBox="1"/>
          <p:nvPr/>
        </p:nvSpPr>
        <p:spPr>
          <a:xfrm>
            <a:off x="4297680" y="1938528"/>
            <a:ext cx="7253935" cy="731520"/>
          </a:xfrm>
          <a:prstGeom prst="rect">
            <a:avLst/>
          </a:prstGeom>
          <a:noFill/>
          <a:ln/>
        </p:spPr>
        <p:txBody>
          <a:bodyPr wrap="square" lIns="0" tIns="0" rIns="0" bIns="0" rtlCol="0" anchor="ctr">
            <a:normAutofit/>
          </a:bodyPr>
          <a:lstStyle/>
          <a:p>
            <a:pPr indent="0" marL="0">
              <a:lnSpc>
                <a:spcPts val="2000"/>
              </a:lnSpc>
              <a:buNone/>
            </a:pPr>
            <a:r>
              <a:rPr lang="en-US" sz="1500" dirty="0">
                <a:solidFill>
                  <a:srgbClr val="222222"/>
                </a:solidFill>
                <a:latin typeface="Meiryo" pitchFamily="34" charset="0"/>
                <a:ea typeface="Meiryo" pitchFamily="34" charset="-122"/>
                <a:cs typeface="Meiryo" pitchFamily="34" charset="-120"/>
              </a:rPr>
              <a:t>中小企業向け大手コンサル会社の事業部長</a:t>
            </a:r>
            <a:endParaRPr lang="en-US" sz="1500" dirty="0"/>
          </a:p>
        </p:txBody>
      </p:sp>
      <p:sp>
        <p:nvSpPr>
          <p:cNvPr id="8" name="Text 6"/>
          <p:cNvSpPr txBox="1"/>
          <p:nvPr/>
        </p:nvSpPr>
        <p:spPr>
          <a:xfrm>
            <a:off x="640080" y="2834640"/>
            <a:ext cx="10911535" cy="274320"/>
          </a:xfrm>
          <a:prstGeom prst="rect">
            <a:avLst/>
          </a:prstGeom>
          <a:noFill/>
          <a:ln/>
        </p:spPr>
        <p:txBody>
          <a:bodyPr wrap="square" lIns="0" tIns="0" rIns="0" bIns="0" rtlCol="0" anchor="ctr"/>
          <a:lstStyle/>
          <a:p>
            <a:pPr indent="0" marL="0">
              <a:buNone/>
            </a:pPr>
            <a:r>
              <a:rPr lang="en-US" sz="1300" b="1" dirty="0">
                <a:solidFill>
                  <a:srgbClr val="C08A2E"/>
                </a:solidFill>
                <a:latin typeface="Meiryo" pitchFamily="34" charset="0"/>
                <a:ea typeface="Meiryo" pitchFamily="34" charset="-122"/>
                <a:cs typeface="Meiryo" pitchFamily="34" charset="-120"/>
              </a:rPr>
              <a:t>何をして実績を積んだか</a:t>
            </a:r>
            <a:endParaRPr lang="en-US" sz="1300" dirty="0"/>
          </a:p>
        </p:txBody>
      </p:sp>
      <p:sp>
        <p:nvSpPr>
          <p:cNvPr id="9" name="Shape 7"/>
          <p:cNvSpPr/>
          <p:nvPr/>
        </p:nvSpPr>
        <p:spPr>
          <a:xfrm>
            <a:off x="749808" y="3337560"/>
            <a:ext cx="182880" cy="182880"/>
          </a:xfrm>
          <a:prstGeom prst="ellipse">
            <a:avLst/>
          </a:prstGeom>
          <a:solidFill>
            <a:srgbClr val="C08A2E"/>
          </a:solidFill>
          <a:ln w="12700">
            <a:solidFill>
              <a:srgbClr val="C08A2E"/>
            </a:solidFill>
            <a:prstDash val="solid"/>
          </a:ln>
        </p:spPr>
      </p:sp>
      <p:sp>
        <p:nvSpPr>
          <p:cNvPr id="10" name="Text 8"/>
          <p:cNvSpPr txBox="1"/>
          <p:nvPr/>
        </p:nvSpPr>
        <p:spPr>
          <a:xfrm>
            <a:off x="1325880" y="3172968"/>
            <a:ext cx="10134295" cy="36576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会社員時代に、副業で同じことをしてクライアントを増やした</a:t>
            </a:r>
            <a:endParaRPr lang="en-US" sz="1600" dirty="0"/>
          </a:p>
        </p:txBody>
      </p:sp>
      <p:sp>
        <p:nvSpPr>
          <p:cNvPr id="11" name="Shape 9"/>
          <p:cNvSpPr/>
          <p:nvPr/>
        </p:nvSpPr>
        <p:spPr>
          <a:xfrm>
            <a:off x="749808" y="3995928"/>
            <a:ext cx="182880" cy="182880"/>
          </a:xfrm>
          <a:prstGeom prst="ellipse">
            <a:avLst/>
          </a:prstGeom>
          <a:solidFill>
            <a:srgbClr val="C08A2E"/>
          </a:solidFill>
          <a:ln w="12700">
            <a:solidFill>
              <a:srgbClr val="C08A2E"/>
            </a:solidFill>
            <a:prstDash val="solid"/>
          </a:ln>
        </p:spPr>
      </p:sp>
      <p:sp>
        <p:nvSpPr>
          <p:cNvPr id="12" name="Text 10"/>
          <p:cNvSpPr txBox="1"/>
          <p:nvPr/>
        </p:nvSpPr>
        <p:spPr>
          <a:xfrm>
            <a:off x="1325880" y="3831336"/>
            <a:ext cx="10134295" cy="36576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リソースが足りなくなった</a:t>
            </a:r>
            <a:endParaRPr lang="en-US" sz="1600" dirty="0"/>
          </a:p>
        </p:txBody>
      </p:sp>
      <p:sp>
        <p:nvSpPr>
          <p:cNvPr id="13" name="Shape 11"/>
          <p:cNvSpPr/>
          <p:nvPr/>
        </p:nvSpPr>
        <p:spPr>
          <a:xfrm>
            <a:off x="749808" y="4654296"/>
            <a:ext cx="182880" cy="182880"/>
          </a:xfrm>
          <a:prstGeom prst="ellipse">
            <a:avLst/>
          </a:prstGeom>
          <a:solidFill>
            <a:srgbClr val="C08A2E"/>
          </a:solidFill>
          <a:ln w="12700">
            <a:solidFill>
              <a:srgbClr val="C08A2E"/>
            </a:solidFill>
            <a:prstDash val="solid"/>
          </a:ln>
        </p:spPr>
      </p:sp>
      <p:sp>
        <p:nvSpPr>
          <p:cNvPr id="14" name="Text 12"/>
          <p:cNvSpPr txBox="1"/>
          <p:nvPr/>
        </p:nvSpPr>
        <p:spPr>
          <a:xfrm>
            <a:off x="1325880" y="4489704"/>
            <a:ext cx="10134295" cy="36576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再現性があるので、時間さえ作れば顧問先を増やせる状態になって独立</a:t>
            </a:r>
            <a:endParaRPr lang="en-US" sz="1600" dirty="0"/>
          </a:p>
        </p:txBody>
      </p:sp>
      <p:sp>
        <p:nvSpPr>
          <p:cNvPr id="15" name="Shape 13"/>
          <p:cNvSpPr/>
          <p:nvPr/>
        </p:nvSpPr>
        <p:spPr>
          <a:xfrm>
            <a:off x="640080" y="5577840"/>
            <a:ext cx="10911535" cy="777240"/>
          </a:xfrm>
          <a:prstGeom prst="roundRect">
            <a:avLst>
              <a:gd name="adj" fmla="val 9412"/>
            </a:avLst>
          </a:prstGeom>
          <a:solidFill>
            <a:srgbClr val="F2F5FB"/>
          </a:solidFill>
          <a:ln w="12700">
            <a:solidFill>
              <a:srgbClr val="F2F5FB"/>
            </a:solidFill>
            <a:prstDash val="solid"/>
          </a:ln>
        </p:spPr>
      </p:sp>
      <p:sp>
        <p:nvSpPr>
          <p:cNvPr id="16" name="Text 14"/>
          <p:cNvSpPr txBox="1"/>
          <p:nvPr/>
        </p:nvSpPr>
        <p:spPr>
          <a:xfrm>
            <a:off x="868680" y="5577840"/>
            <a:ext cx="10454335" cy="777240"/>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Meiryo" pitchFamily="34" charset="0"/>
                <a:ea typeface="Meiryo" pitchFamily="34" charset="-122"/>
                <a:cs typeface="Meiryo" pitchFamily="34" charset="-120"/>
              </a:rPr>
              <a:t>いま：金融機関などからの紹介でコンサルし、その何割かが顧問になるエコシステム</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第2部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梁川さん</a:t>
            </a:r>
            <a:endParaRPr lang="en-US" sz="3000" dirty="0"/>
          </a:p>
        </p:txBody>
      </p:sp>
      <p:sp>
        <p:nvSpPr>
          <p:cNvPr id="4" name="Shape 2"/>
          <p:cNvSpPr/>
          <p:nvPr/>
        </p:nvSpPr>
        <p:spPr>
          <a:xfrm>
            <a:off x="640080" y="1600200"/>
            <a:ext cx="3291840" cy="1005840"/>
          </a:xfrm>
          <a:prstGeom prst="roundRect">
            <a:avLst>
              <a:gd name="adj" fmla="val 7273"/>
            </a:avLst>
          </a:prstGeom>
          <a:solidFill>
            <a:srgbClr val="1E2761"/>
          </a:solidFill>
          <a:ln w="12700">
            <a:solidFill>
              <a:srgbClr val="1E2761"/>
            </a:solidFill>
            <a:prstDash val="solid"/>
          </a:ln>
        </p:spPr>
      </p:sp>
      <p:sp>
        <p:nvSpPr>
          <p:cNvPr id="5" name="Text 3"/>
          <p:cNvSpPr txBox="1"/>
          <p:nvPr/>
        </p:nvSpPr>
        <p:spPr>
          <a:xfrm>
            <a:off x="822960" y="1600200"/>
            <a:ext cx="2926080" cy="1005840"/>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Meiryo" pitchFamily="34" charset="0"/>
                <a:ea typeface="Meiryo" pitchFamily="34" charset="-122"/>
                <a:cs typeface="Meiryo" pitchFamily="34" charset="-120"/>
              </a:rPr>
              <a:t>推定 2000万円以上</a:t>
            </a:r>
            <a:endParaRPr lang="en-US" sz="2000" dirty="0"/>
          </a:p>
        </p:txBody>
      </p:sp>
      <p:sp>
        <p:nvSpPr>
          <p:cNvPr id="6" name="Text 4"/>
          <p:cNvSpPr txBox="1"/>
          <p:nvPr/>
        </p:nvSpPr>
        <p:spPr>
          <a:xfrm>
            <a:off x="4297680" y="1645920"/>
            <a:ext cx="7253935" cy="274320"/>
          </a:xfrm>
          <a:prstGeom prst="rect">
            <a:avLst/>
          </a:prstGeom>
          <a:noFill/>
          <a:ln/>
        </p:spPr>
        <p:txBody>
          <a:bodyPr wrap="square" lIns="0" tIns="0" rIns="0" bIns="0" rtlCol="0" anchor="ctr"/>
          <a:lstStyle/>
          <a:p>
            <a:pPr indent="0" marL="0">
              <a:buNone/>
            </a:pPr>
            <a:r>
              <a:rPr lang="en-US" sz="1300" b="1" dirty="0">
                <a:solidFill>
                  <a:srgbClr val="C08A2E"/>
                </a:solidFill>
                <a:latin typeface="Meiryo" pitchFamily="34" charset="0"/>
                <a:ea typeface="Meiryo" pitchFamily="34" charset="-122"/>
                <a:cs typeface="Meiryo" pitchFamily="34" charset="-120"/>
              </a:rPr>
              <a:t>出発点</a:t>
            </a:r>
            <a:endParaRPr lang="en-US" sz="1300" dirty="0"/>
          </a:p>
        </p:txBody>
      </p:sp>
      <p:sp>
        <p:nvSpPr>
          <p:cNvPr id="7" name="Text 5"/>
          <p:cNvSpPr txBox="1"/>
          <p:nvPr/>
        </p:nvSpPr>
        <p:spPr>
          <a:xfrm>
            <a:off x="4297680" y="1938528"/>
            <a:ext cx="7253935" cy="731520"/>
          </a:xfrm>
          <a:prstGeom prst="rect">
            <a:avLst/>
          </a:prstGeom>
          <a:noFill/>
          <a:ln/>
        </p:spPr>
        <p:txBody>
          <a:bodyPr wrap="square" lIns="0" tIns="0" rIns="0" bIns="0" rtlCol="0" anchor="ctr">
            <a:normAutofit/>
          </a:bodyPr>
          <a:lstStyle/>
          <a:p>
            <a:pPr indent="0" marL="0">
              <a:lnSpc>
                <a:spcPts val="2000"/>
              </a:lnSpc>
              <a:buNone/>
            </a:pPr>
            <a:r>
              <a:rPr lang="en-US" sz="1500" dirty="0">
                <a:solidFill>
                  <a:srgbClr val="222222"/>
                </a:solidFill>
                <a:latin typeface="Meiryo" pitchFamily="34" charset="0"/>
                <a:ea typeface="Meiryo" pitchFamily="34" charset="-122"/>
                <a:cs typeface="Meiryo" pitchFamily="34" charset="-120"/>
              </a:rPr>
              <a:t>資格取得後すぐ独立。数年はうまくいかず苦労した（独立当初の年収は50万円）</a:t>
            </a:r>
            <a:endParaRPr lang="en-US" sz="1500" dirty="0"/>
          </a:p>
        </p:txBody>
      </p:sp>
      <p:sp>
        <p:nvSpPr>
          <p:cNvPr id="8" name="Text 6"/>
          <p:cNvSpPr txBox="1"/>
          <p:nvPr/>
        </p:nvSpPr>
        <p:spPr>
          <a:xfrm>
            <a:off x="640080" y="2834640"/>
            <a:ext cx="10911535" cy="274320"/>
          </a:xfrm>
          <a:prstGeom prst="rect">
            <a:avLst/>
          </a:prstGeom>
          <a:noFill/>
          <a:ln/>
        </p:spPr>
        <p:txBody>
          <a:bodyPr wrap="square" lIns="0" tIns="0" rIns="0" bIns="0" rtlCol="0" anchor="ctr"/>
          <a:lstStyle/>
          <a:p>
            <a:pPr indent="0" marL="0">
              <a:buNone/>
            </a:pPr>
            <a:r>
              <a:rPr lang="en-US" sz="1300" b="1" dirty="0">
                <a:solidFill>
                  <a:srgbClr val="C08A2E"/>
                </a:solidFill>
                <a:latin typeface="Meiryo" pitchFamily="34" charset="0"/>
                <a:ea typeface="Meiryo" pitchFamily="34" charset="-122"/>
                <a:cs typeface="Meiryo" pitchFamily="34" charset="-120"/>
              </a:rPr>
              <a:t>何をして実績を積んだか</a:t>
            </a:r>
            <a:endParaRPr lang="en-US" sz="1300" dirty="0"/>
          </a:p>
        </p:txBody>
      </p:sp>
      <p:sp>
        <p:nvSpPr>
          <p:cNvPr id="9" name="Shape 7"/>
          <p:cNvSpPr/>
          <p:nvPr/>
        </p:nvSpPr>
        <p:spPr>
          <a:xfrm>
            <a:off x="749808" y="3337560"/>
            <a:ext cx="182880" cy="182880"/>
          </a:xfrm>
          <a:prstGeom prst="ellipse">
            <a:avLst/>
          </a:prstGeom>
          <a:solidFill>
            <a:srgbClr val="C08A2E"/>
          </a:solidFill>
          <a:ln w="12700">
            <a:solidFill>
              <a:srgbClr val="C08A2E"/>
            </a:solidFill>
            <a:prstDash val="solid"/>
          </a:ln>
        </p:spPr>
      </p:sp>
      <p:sp>
        <p:nvSpPr>
          <p:cNvPr id="10" name="Text 8"/>
          <p:cNvSpPr txBox="1"/>
          <p:nvPr/>
        </p:nvSpPr>
        <p:spPr>
          <a:xfrm>
            <a:off x="1325880" y="3172968"/>
            <a:ext cx="10134295" cy="36576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2〜3年かけて実績を積んだ</a:t>
            </a:r>
            <a:endParaRPr lang="en-US" sz="1600" dirty="0"/>
          </a:p>
        </p:txBody>
      </p:sp>
      <p:sp>
        <p:nvSpPr>
          <p:cNvPr id="11" name="Shape 9"/>
          <p:cNvSpPr/>
          <p:nvPr/>
        </p:nvSpPr>
        <p:spPr>
          <a:xfrm>
            <a:off x="749808" y="3995928"/>
            <a:ext cx="182880" cy="182880"/>
          </a:xfrm>
          <a:prstGeom prst="ellipse">
            <a:avLst/>
          </a:prstGeom>
          <a:solidFill>
            <a:srgbClr val="C08A2E"/>
          </a:solidFill>
          <a:ln w="12700">
            <a:solidFill>
              <a:srgbClr val="C08A2E"/>
            </a:solidFill>
            <a:prstDash val="solid"/>
          </a:ln>
        </p:spPr>
      </p:sp>
      <p:sp>
        <p:nvSpPr>
          <p:cNvPr id="12" name="Text 10"/>
          <p:cNvSpPr txBox="1"/>
          <p:nvPr/>
        </p:nvSpPr>
        <p:spPr>
          <a:xfrm>
            <a:off x="1325880" y="3831336"/>
            <a:ext cx="10134295" cy="36576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その中で、赤字の製造業の黒字化支援が強みになった</a:t>
            </a:r>
            <a:endParaRPr lang="en-US" sz="1600" dirty="0"/>
          </a:p>
        </p:txBody>
      </p:sp>
      <p:sp>
        <p:nvSpPr>
          <p:cNvPr id="13" name="Shape 11"/>
          <p:cNvSpPr/>
          <p:nvPr/>
        </p:nvSpPr>
        <p:spPr>
          <a:xfrm>
            <a:off x="749808" y="4654296"/>
            <a:ext cx="182880" cy="182880"/>
          </a:xfrm>
          <a:prstGeom prst="ellipse">
            <a:avLst/>
          </a:prstGeom>
          <a:solidFill>
            <a:srgbClr val="C08A2E"/>
          </a:solidFill>
          <a:ln w="12700">
            <a:solidFill>
              <a:srgbClr val="C08A2E"/>
            </a:solidFill>
            <a:prstDash val="solid"/>
          </a:ln>
        </p:spPr>
      </p:sp>
      <p:sp>
        <p:nvSpPr>
          <p:cNvPr id="14" name="Text 12"/>
          <p:cNvSpPr txBox="1"/>
          <p:nvPr/>
        </p:nvSpPr>
        <p:spPr>
          <a:xfrm>
            <a:off x="1325880" y="4489704"/>
            <a:ext cx="10134295" cy="36576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過程で自信がつき、事業者を叱れる存在という稀有な診断士になった</a:t>
            </a:r>
            <a:endParaRPr lang="en-US" sz="1600" dirty="0"/>
          </a:p>
        </p:txBody>
      </p:sp>
      <p:sp>
        <p:nvSpPr>
          <p:cNvPr id="15" name="Shape 13"/>
          <p:cNvSpPr/>
          <p:nvPr/>
        </p:nvSpPr>
        <p:spPr>
          <a:xfrm>
            <a:off x="640080" y="5577840"/>
            <a:ext cx="10911535" cy="777240"/>
          </a:xfrm>
          <a:prstGeom prst="roundRect">
            <a:avLst>
              <a:gd name="adj" fmla="val 9412"/>
            </a:avLst>
          </a:prstGeom>
          <a:solidFill>
            <a:srgbClr val="F2F5FB"/>
          </a:solidFill>
          <a:ln w="12700">
            <a:solidFill>
              <a:srgbClr val="F2F5FB"/>
            </a:solidFill>
            <a:prstDash val="solid"/>
          </a:ln>
        </p:spPr>
      </p:sp>
      <p:sp>
        <p:nvSpPr>
          <p:cNvPr id="16" name="Text 14"/>
          <p:cNvSpPr txBox="1"/>
          <p:nvPr/>
        </p:nvSpPr>
        <p:spPr>
          <a:xfrm>
            <a:off x="868680" y="5577840"/>
            <a:ext cx="10454335" cy="777240"/>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Meiryo" pitchFamily="34" charset="0"/>
                <a:ea typeface="Meiryo" pitchFamily="34" charset="-122"/>
                <a:cs typeface="Meiryo" pitchFamily="34" charset="-120"/>
              </a:rPr>
              <a:t>いま：貸し手である金融機関からの信頼 → 紹介のエコシステム</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第2部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鵜頭さん</a:t>
            </a:r>
            <a:endParaRPr lang="en-US" sz="3000" dirty="0"/>
          </a:p>
        </p:txBody>
      </p:sp>
      <p:sp>
        <p:nvSpPr>
          <p:cNvPr id="4" name="Shape 2"/>
          <p:cNvSpPr/>
          <p:nvPr/>
        </p:nvSpPr>
        <p:spPr>
          <a:xfrm>
            <a:off x="640080" y="1600200"/>
            <a:ext cx="3291840" cy="1005840"/>
          </a:xfrm>
          <a:prstGeom prst="roundRect">
            <a:avLst>
              <a:gd name="adj" fmla="val 7273"/>
            </a:avLst>
          </a:prstGeom>
          <a:solidFill>
            <a:srgbClr val="1E2761"/>
          </a:solidFill>
          <a:ln w="12700">
            <a:solidFill>
              <a:srgbClr val="1E2761"/>
            </a:solidFill>
            <a:prstDash val="solid"/>
          </a:ln>
        </p:spPr>
      </p:sp>
      <p:sp>
        <p:nvSpPr>
          <p:cNvPr id="5" name="Text 3"/>
          <p:cNvSpPr txBox="1"/>
          <p:nvPr/>
        </p:nvSpPr>
        <p:spPr>
          <a:xfrm>
            <a:off x="822960" y="1600200"/>
            <a:ext cx="2926080" cy="1005840"/>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Meiryo" pitchFamily="34" charset="0"/>
                <a:ea typeface="Meiryo" pitchFamily="34" charset="-122"/>
                <a:cs typeface="Meiryo" pitchFamily="34" charset="-120"/>
              </a:rPr>
              <a:t>推定 1500万円以上</a:t>
            </a:r>
            <a:endParaRPr lang="en-US" sz="2000" dirty="0"/>
          </a:p>
        </p:txBody>
      </p:sp>
      <p:sp>
        <p:nvSpPr>
          <p:cNvPr id="6" name="Text 4"/>
          <p:cNvSpPr txBox="1"/>
          <p:nvPr/>
        </p:nvSpPr>
        <p:spPr>
          <a:xfrm>
            <a:off x="4297680" y="1645920"/>
            <a:ext cx="7253935" cy="274320"/>
          </a:xfrm>
          <a:prstGeom prst="rect">
            <a:avLst/>
          </a:prstGeom>
          <a:noFill/>
          <a:ln/>
        </p:spPr>
        <p:txBody>
          <a:bodyPr wrap="square" lIns="0" tIns="0" rIns="0" bIns="0" rtlCol="0" anchor="ctr"/>
          <a:lstStyle/>
          <a:p>
            <a:pPr indent="0" marL="0">
              <a:buNone/>
            </a:pPr>
            <a:r>
              <a:rPr lang="en-US" sz="1300" b="1" dirty="0">
                <a:solidFill>
                  <a:srgbClr val="C08A2E"/>
                </a:solidFill>
                <a:latin typeface="Meiryo" pitchFamily="34" charset="0"/>
                <a:ea typeface="Meiryo" pitchFamily="34" charset="-122"/>
                <a:cs typeface="Meiryo" pitchFamily="34" charset="-120"/>
              </a:rPr>
              <a:t>出発点</a:t>
            </a:r>
            <a:endParaRPr lang="en-US" sz="1300" dirty="0"/>
          </a:p>
        </p:txBody>
      </p:sp>
      <p:sp>
        <p:nvSpPr>
          <p:cNvPr id="7" name="Text 5"/>
          <p:cNvSpPr txBox="1"/>
          <p:nvPr/>
        </p:nvSpPr>
        <p:spPr>
          <a:xfrm>
            <a:off x="4297680" y="1938528"/>
            <a:ext cx="7253935" cy="731520"/>
          </a:xfrm>
          <a:prstGeom prst="rect">
            <a:avLst/>
          </a:prstGeom>
          <a:noFill/>
          <a:ln/>
        </p:spPr>
        <p:txBody>
          <a:bodyPr wrap="square" lIns="0" tIns="0" rIns="0" bIns="0" rtlCol="0" anchor="ctr">
            <a:normAutofit/>
          </a:bodyPr>
          <a:lstStyle/>
          <a:p>
            <a:pPr indent="0" marL="0">
              <a:lnSpc>
                <a:spcPts val="2000"/>
              </a:lnSpc>
              <a:buNone/>
            </a:pPr>
            <a:r>
              <a:rPr lang="en-US" sz="1500" dirty="0">
                <a:solidFill>
                  <a:srgbClr val="222222"/>
                </a:solidFill>
                <a:latin typeface="Meiryo" pitchFamily="34" charset="0"/>
                <a:ea typeface="Meiryo" pitchFamily="34" charset="-122"/>
                <a:cs typeface="Meiryo" pitchFamily="34" charset="-120"/>
              </a:rPr>
              <a:t>自治体に勤務。自治体の作法に詳しい</a:t>
            </a:r>
            <a:endParaRPr lang="en-US" sz="1500" dirty="0"/>
          </a:p>
        </p:txBody>
      </p:sp>
      <p:sp>
        <p:nvSpPr>
          <p:cNvPr id="8" name="Text 6"/>
          <p:cNvSpPr txBox="1"/>
          <p:nvPr/>
        </p:nvSpPr>
        <p:spPr>
          <a:xfrm>
            <a:off x="640080" y="2834640"/>
            <a:ext cx="10911535" cy="274320"/>
          </a:xfrm>
          <a:prstGeom prst="rect">
            <a:avLst/>
          </a:prstGeom>
          <a:noFill/>
          <a:ln/>
        </p:spPr>
        <p:txBody>
          <a:bodyPr wrap="square" lIns="0" tIns="0" rIns="0" bIns="0" rtlCol="0" anchor="ctr"/>
          <a:lstStyle/>
          <a:p>
            <a:pPr indent="0" marL="0">
              <a:buNone/>
            </a:pPr>
            <a:r>
              <a:rPr lang="en-US" sz="1300" b="1" dirty="0">
                <a:solidFill>
                  <a:srgbClr val="C08A2E"/>
                </a:solidFill>
                <a:latin typeface="Meiryo" pitchFamily="34" charset="0"/>
                <a:ea typeface="Meiryo" pitchFamily="34" charset="-122"/>
                <a:cs typeface="Meiryo" pitchFamily="34" charset="-120"/>
              </a:rPr>
              <a:t>何をして実績を積んだか</a:t>
            </a:r>
            <a:endParaRPr lang="en-US" sz="1300" dirty="0"/>
          </a:p>
        </p:txBody>
      </p:sp>
      <p:sp>
        <p:nvSpPr>
          <p:cNvPr id="9" name="Shape 7"/>
          <p:cNvSpPr/>
          <p:nvPr/>
        </p:nvSpPr>
        <p:spPr>
          <a:xfrm>
            <a:off x="749808" y="3337560"/>
            <a:ext cx="182880" cy="182880"/>
          </a:xfrm>
          <a:prstGeom prst="ellipse">
            <a:avLst/>
          </a:prstGeom>
          <a:solidFill>
            <a:srgbClr val="C08A2E"/>
          </a:solidFill>
          <a:ln w="12700">
            <a:solidFill>
              <a:srgbClr val="C08A2E"/>
            </a:solidFill>
            <a:prstDash val="solid"/>
          </a:ln>
        </p:spPr>
      </p:sp>
      <p:sp>
        <p:nvSpPr>
          <p:cNvPr id="10" name="Text 8"/>
          <p:cNvSpPr txBox="1"/>
          <p:nvPr/>
        </p:nvSpPr>
        <p:spPr>
          <a:xfrm>
            <a:off x="1325880" y="3172968"/>
            <a:ext cx="10134295" cy="36576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商店街支援で実績を積んだ</a:t>
            </a:r>
            <a:endParaRPr lang="en-US" sz="1600" dirty="0"/>
          </a:p>
        </p:txBody>
      </p:sp>
      <p:sp>
        <p:nvSpPr>
          <p:cNvPr id="11" name="Shape 9"/>
          <p:cNvSpPr/>
          <p:nvPr/>
        </p:nvSpPr>
        <p:spPr>
          <a:xfrm>
            <a:off x="749808" y="3995928"/>
            <a:ext cx="182880" cy="182880"/>
          </a:xfrm>
          <a:prstGeom prst="ellipse">
            <a:avLst/>
          </a:prstGeom>
          <a:solidFill>
            <a:srgbClr val="C08A2E"/>
          </a:solidFill>
          <a:ln w="12700">
            <a:solidFill>
              <a:srgbClr val="C08A2E"/>
            </a:solidFill>
            <a:prstDash val="solid"/>
          </a:ln>
        </p:spPr>
      </p:sp>
      <p:sp>
        <p:nvSpPr>
          <p:cNvPr id="12" name="Text 10"/>
          <p:cNvSpPr txBox="1"/>
          <p:nvPr/>
        </p:nvSpPr>
        <p:spPr>
          <a:xfrm>
            <a:off x="1325880" y="3831336"/>
            <a:ext cx="10134295" cy="36576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診断士のチームを束ねて複数の自治体を支援する仕組みに育てた</a:t>
            </a:r>
            <a:endParaRPr lang="en-US" sz="1600" dirty="0"/>
          </a:p>
        </p:txBody>
      </p:sp>
      <p:sp>
        <p:nvSpPr>
          <p:cNvPr id="13" name="Shape 11"/>
          <p:cNvSpPr/>
          <p:nvPr/>
        </p:nvSpPr>
        <p:spPr>
          <a:xfrm>
            <a:off x="749808" y="4654296"/>
            <a:ext cx="182880" cy="182880"/>
          </a:xfrm>
          <a:prstGeom prst="ellipse">
            <a:avLst/>
          </a:prstGeom>
          <a:solidFill>
            <a:srgbClr val="C08A2E"/>
          </a:solidFill>
          <a:ln w="12700">
            <a:solidFill>
              <a:srgbClr val="C08A2E"/>
            </a:solidFill>
            <a:prstDash val="solid"/>
          </a:ln>
        </p:spPr>
      </p:sp>
      <p:sp>
        <p:nvSpPr>
          <p:cNvPr id="14" name="Text 12"/>
          <p:cNvSpPr txBox="1"/>
          <p:nvPr/>
        </p:nvSpPr>
        <p:spPr>
          <a:xfrm>
            <a:off x="1325880" y="4489704"/>
            <a:ext cx="10134295" cy="36576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予算組のノウハウ、実績の水平展開、新人に経験の場を与える仕組みまで確立</a:t>
            </a:r>
            <a:endParaRPr lang="en-US" sz="1600" dirty="0"/>
          </a:p>
        </p:txBody>
      </p:sp>
      <p:sp>
        <p:nvSpPr>
          <p:cNvPr id="15" name="Shape 13"/>
          <p:cNvSpPr/>
          <p:nvPr/>
        </p:nvSpPr>
        <p:spPr>
          <a:xfrm>
            <a:off x="640080" y="5577840"/>
            <a:ext cx="10911535" cy="777240"/>
          </a:xfrm>
          <a:prstGeom prst="roundRect">
            <a:avLst>
              <a:gd name="adj" fmla="val 9412"/>
            </a:avLst>
          </a:prstGeom>
          <a:solidFill>
            <a:srgbClr val="F2F5FB"/>
          </a:solidFill>
          <a:ln w="12700">
            <a:solidFill>
              <a:srgbClr val="F2F5FB"/>
            </a:solidFill>
            <a:prstDash val="solid"/>
          </a:ln>
        </p:spPr>
      </p:sp>
      <p:sp>
        <p:nvSpPr>
          <p:cNvPr id="16" name="Text 14"/>
          <p:cNvSpPr txBox="1"/>
          <p:nvPr/>
        </p:nvSpPr>
        <p:spPr>
          <a:xfrm>
            <a:off x="868680" y="5577840"/>
            <a:ext cx="10454335" cy="777240"/>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Meiryo" pitchFamily="34" charset="0"/>
                <a:ea typeface="Meiryo" pitchFamily="34" charset="-122"/>
                <a:cs typeface="Meiryo" pitchFamily="34" charset="-120"/>
              </a:rPr>
              <a:t>いま：商店街支援といえばこの人、という圧倒的な存在</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第2部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石川さん</a:t>
            </a:r>
            <a:endParaRPr lang="en-US" sz="3000" dirty="0"/>
          </a:p>
        </p:txBody>
      </p:sp>
      <p:sp>
        <p:nvSpPr>
          <p:cNvPr id="4" name="Shape 2"/>
          <p:cNvSpPr/>
          <p:nvPr/>
        </p:nvSpPr>
        <p:spPr>
          <a:xfrm>
            <a:off x="640080" y="1600200"/>
            <a:ext cx="3291840" cy="1005840"/>
          </a:xfrm>
          <a:prstGeom prst="roundRect">
            <a:avLst>
              <a:gd name="adj" fmla="val 7273"/>
            </a:avLst>
          </a:prstGeom>
          <a:solidFill>
            <a:srgbClr val="1E2761"/>
          </a:solidFill>
          <a:ln w="12700">
            <a:solidFill>
              <a:srgbClr val="1E2761"/>
            </a:solidFill>
            <a:prstDash val="solid"/>
          </a:ln>
        </p:spPr>
      </p:sp>
      <p:sp>
        <p:nvSpPr>
          <p:cNvPr id="5" name="Text 3"/>
          <p:cNvSpPr txBox="1"/>
          <p:nvPr/>
        </p:nvSpPr>
        <p:spPr>
          <a:xfrm>
            <a:off x="822960" y="1600200"/>
            <a:ext cx="2926080" cy="1005840"/>
          </a:xfrm>
          <a:prstGeom prst="rect">
            <a:avLst/>
          </a:prstGeom>
          <a:noFill/>
          <a:ln/>
        </p:spPr>
        <p:txBody>
          <a:bodyPr wrap="square" lIns="0" tIns="0" rIns="0" bIns="0" rtlCol="0" anchor="ctr">
            <a:normAutofit/>
          </a:bodyPr>
          <a:lstStyle/>
          <a:p>
            <a:pPr indent="0" marL="0">
              <a:buNone/>
            </a:pPr>
            <a:r>
              <a:rPr lang="en-US" sz="2000" b="1" dirty="0">
                <a:solidFill>
                  <a:srgbClr val="FFFFFF"/>
                </a:solidFill>
                <a:latin typeface="Meiryo" pitchFamily="34" charset="0"/>
                <a:ea typeface="Meiryo" pitchFamily="34" charset="-122"/>
                <a:cs typeface="Meiryo" pitchFamily="34" charset="-120"/>
              </a:rPr>
              <a:t>推定 年収不明</a:t>
            </a:r>
            <a:endParaRPr lang="en-US" sz="2000" dirty="0"/>
          </a:p>
        </p:txBody>
      </p:sp>
      <p:sp>
        <p:nvSpPr>
          <p:cNvPr id="6" name="Text 4"/>
          <p:cNvSpPr txBox="1"/>
          <p:nvPr/>
        </p:nvSpPr>
        <p:spPr>
          <a:xfrm>
            <a:off x="4297680" y="1645920"/>
            <a:ext cx="7253935" cy="274320"/>
          </a:xfrm>
          <a:prstGeom prst="rect">
            <a:avLst/>
          </a:prstGeom>
          <a:noFill/>
          <a:ln/>
        </p:spPr>
        <p:txBody>
          <a:bodyPr wrap="square" lIns="0" tIns="0" rIns="0" bIns="0" rtlCol="0" anchor="ctr"/>
          <a:lstStyle/>
          <a:p>
            <a:pPr indent="0" marL="0">
              <a:buNone/>
            </a:pPr>
            <a:r>
              <a:rPr lang="en-US" sz="1300" b="1" dirty="0">
                <a:solidFill>
                  <a:srgbClr val="C08A2E"/>
                </a:solidFill>
                <a:latin typeface="Meiryo" pitchFamily="34" charset="0"/>
                <a:ea typeface="Meiryo" pitchFamily="34" charset="-122"/>
                <a:cs typeface="Meiryo" pitchFamily="34" charset="-120"/>
              </a:rPr>
              <a:t>出発点</a:t>
            </a:r>
            <a:endParaRPr lang="en-US" sz="1300" dirty="0"/>
          </a:p>
        </p:txBody>
      </p:sp>
      <p:sp>
        <p:nvSpPr>
          <p:cNvPr id="7" name="Text 5"/>
          <p:cNvSpPr txBox="1"/>
          <p:nvPr/>
        </p:nvSpPr>
        <p:spPr>
          <a:xfrm>
            <a:off x="4297680" y="1938528"/>
            <a:ext cx="7253935" cy="731520"/>
          </a:xfrm>
          <a:prstGeom prst="rect">
            <a:avLst/>
          </a:prstGeom>
          <a:noFill/>
          <a:ln/>
        </p:spPr>
        <p:txBody>
          <a:bodyPr wrap="square" lIns="0" tIns="0" rIns="0" bIns="0" rtlCol="0" anchor="ctr">
            <a:normAutofit/>
          </a:bodyPr>
          <a:lstStyle/>
          <a:p>
            <a:pPr indent="0" marL="0">
              <a:lnSpc>
                <a:spcPts val="2000"/>
              </a:lnSpc>
              <a:buNone/>
            </a:pPr>
            <a:r>
              <a:rPr lang="en-US" sz="1500" dirty="0">
                <a:solidFill>
                  <a:srgbClr val="222222"/>
                </a:solidFill>
                <a:latin typeface="Meiryo" pitchFamily="34" charset="0"/>
                <a:ea typeface="Meiryo" pitchFamily="34" charset="-122"/>
                <a:cs typeface="Meiryo" pitchFamily="34" charset="-120"/>
              </a:rPr>
              <a:t>独立初期に商工会のコーディネーターとなり、10年以上契約を更新</a:t>
            </a:r>
            <a:endParaRPr lang="en-US" sz="1500" dirty="0"/>
          </a:p>
        </p:txBody>
      </p:sp>
      <p:sp>
        <p:nvSpPr>
          <p:cNvPr id="8" name="Text 6"/>
          <p:cNvSpPr txBox="1"/>
          <p:nvPr/>
        </p:nvSpPr>
        <p:spPr>
          <a:xfrm>
            <a:off x="640080" y="2834640"/>
            <a:ext cx="10911535" cy="274320"/>
          </a:xfrm>
          <a:prstGeom prst="rect">
            <a:avLst/>
          </a:prstGeom>
          <a:noFill/>
          <a:ln/>
        </p:spPr>
        <p:txBody>
          <a:bodyPr wrap="square" lIns="0" tIns="0" rIns="0" bIns="0" rtlCol="0" anchor="ctr"/>
          <a:lstStyle/>
          <a:p>
            <a:pPr indent="0" marL="0">
              <a:buNone/>
            </a:pPr>
            <a:r>
              <a:rPr lang="en-US" sz="1300" b="1" dirty="0">
                <a:solidFill>
                  <a:srgbClr val="C08A2E"/>
                </a:solidFill>
                <a:latin typeface="Meiryo" pitchFamily="34" charset="0"/>
                <a:ea typeface="Meiryo" pitchFamily="34" charset="-122"/>
                <a:cs typeface="Meiryo" pitchFamily="34" charset="-120"/>
              </a:rPr>
              <a:t>何をして実績を積んだか</a:t>
            </a:r>
            <a:endParaRPr lang="en-US" sz="1300" dirty="0"/>
          </a:p>
        </p:txBody>
      </p:sp>
      <p:sp>
        <p:nvSpPr>
          <p:cNvPr id="9" name="Shape 7"/>
          <p:cNvSpPr/>
          <p:nvPr/>
        </p:nvSpPr>
        <p:spPr>
          <a:xfrm>
            <a:off x="749808" y="3337560"/>
            <a:ext cx="182880" cy="182880"/>
          </a:xfrm>
          <a:prstGeom prst="ellipse">
            <a:avLst/>
          </a:prstGeom>
          <a:solidFill>
            <a:srgbClr val="C08A2E"/>
          </a:solidFill>
          <a:ln w="12700">
            <a:solidFill>
              <a:srgbClr val="C08A2E"/>
            </a:solidFill>
            <a:prstDash val="solid"/>
          </a:ln>
        </p:spPr>
      </p:sp>
      <p:sp>
        <p:nvSpPr>
          <p:cNvPr id="10" name="Text 8"/>
          <p:cNvSpPr txBox="1"/>
          <p:nvPr/>
        </p:nvSpPr>
        <p:spPr>
          <a:xfrm>
            <a:off x="1325880" y="3172968"/>
            <a:ext cx="10134295" cy="36576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最初は飲食もSNSマーケも、かじる程度だった</a:t>
            </a:r>
            <a:endParaRPr lang="en-US" sz="1600" dirty="0"/>
          </a:p>
        </p:txBody>
      </p:sp>
      <p:sp>
        <p:nvSpPr>
          <p:cNvPr id="11" name="Shape 9"/>
          <p:cNvSpPr/>
          <p:nvPr/>
        </p:nvSpPr>
        <p:spPr>
          <a:xfrm>
            <a:off x="749808" y="3995928"/>
            <a:ext cx="182880" cy="182880"/>
          </a:xfrm>
          <a:prstGeom prst="ellipse">
            <a:avLst/>
          </a:prstGeom>
          <a:solidFill>
            <a:srgbClr val="C08A2E"/>
          </a:solidFill>
          <a:ln w="12700">
            <a:solidFill>
              <a:srgbClr val="C08A2E"/>
            </a:solidFill>
            <a:prstDash val="solid"/>
          </a:ln>
        </p:spPr>
      </p:sp>
      <p:sp>
        <p:nvSpPr>
          <p:cNvPr id="12" name="Text 10"/>
          <p:cNvSpPr txBox="1"/>
          <p:nvPr/>
        </p:nvSpPr>
        <p:spPr>
          <a:xfrm>
            <a:off x="1325880" y="3831336"/>
            <a:ext cx="10134295" cy="36576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商工会の支援スキームの中で、飲食という分野に実績を積んだ</a:t>
            </a:r>
            <a:endParaRPr lang="en-US" sz="1600" dirty="0"/>
          </a:p>
        </p:txBody>
      </p:sp>
      <p:sp>
        <p:nvSpPr>
          <p:cNvPr id="13" name="Shape 11"/>
          <p:cNvSpPr/>
          <p:nvPr/>
        </p:nvSpPr>
        <p:spPr>
          <a:xfrm>
            <a:off x="749808" y="4654296"/>
            <a:ext cx="182880" cy="182880"/>
          </a:xfrm>
          <a:prstGeom prst="ellipse">
            <a:avLst/>
          </a:prstGeom>
          <a:solidFill>
            <a:srgbClr val="C08A2E"/>
          </a:solidFill>
          <a:ln w="12700">
            <a:solidFill>
              <a:srgbClr val="C08A2E"/>
            </a:solidFill>
            <a:prstDash val="solid"/>
          </a:ln>
        </p:spPr>
      </p:sp>
      <p:sp>
        <p:nvSpPr>
          <p:cNvPr id="14" name="Text 12"/>
          <p:cNvSpPr txBox="1"/>
          <p:nvPr/>
        </p:nvSpPr>
        <p:spPr>
          <a:xfrm>
            <a:off x="1325880" y="4489704"/>
            <a:ext cx="10134295" cy="36576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ワインや日本酒など周辺資格を取り、自らをブランディングした</a:t>
            </a:r>
            <a:endParaRPr lang="en-US" sz="1600" dirty="0"/>
          </a:p>
        </p:txBody>
      </p:sp>
      <p:sp>
        <p:nvSpPr>
          <p:cNvPr id="15" name="Shape 13"/>
          <p:cNvSpPr/>
          <p:nvPr/>
        </p:nvSpPr>
        <p:spPr>
          <a:xfrm>
            <a:off x="640080" y="5577840"/>
            <a:ext cx="10911535" cy="777240"/>
          </a:xfrm>
          <a:prstGeom prst="roundRect">
            <a:avLst>
              <a:gd name="adj" fmla="val 9412"/>
            </a:avLst>
          </a:prstGeom>
          <a:solidFill>
            <a:srgbClr val="F2F5FB"/>
          </a:solidFill>
          <a:ln w="12700">
            <a:solidFill>
              <a:srgbClr val="F2F5FB"/>
            </a:solidFill>
            <a:prstDash val="solid"/>
          </a:ln>
        </p:spPr>
      </p:sp>
      <p:sp>
        <p:nvSpPr>
          <p:cNvPr id="16" name="Text 14"/>
          <p:cNvSpPr txBox="1"/>
          <p:nvPr/>
        </p:nvSpPr>
        <p:spPr>
          <a:xfrm>
            <a:off x="868680" y="5577840"/>
            <a:ext cx="10454335" cy="777240"/>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Meiryo" pitchFamily="34" charset="0"/>
                <a:ea typeface="Meiryo" pitchFamily="34" charset="-122"/>
                <a:cs typeface="Meiryo" pitchFamily="34" charset="-120"/>
              </a:rPr>
              <a:t>いま：飲食といえば、お酒といえばこの人。情報が集まり続けるエコシステム</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第2部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4人に共通する「育ち方」</a:t>
            </a:r>
            <a:endParaRPr lang="en-US" sz="3000" dirty="0"/>
          </a:p>
        </p:txBody>
      </p:sp>
      <p:sp>
        <p:nvSpPr>
          <p:cNvPr id="4" name="Shape 2"/>
          <p:cNvSpPr/>
          <p:nvPr/>
        </p:nvSpPr>
        <p:spPr>
          <a:xfrm>
            <a:off x="640080" y="1783080"/>
            <a:ext cx="457200" cy="457200"/>
          </a:xfrm>
          <a:prstGeom prst="ellipse">
            <a:avLst/>
          </a:prstGeom>
          <a:solidFill>
            <a:srgbClr val="1E2761"/>
          </a:solidFill>
          <a:ln w="12700">
            <a:solidFill>
              <a:srgbClr val="1E2761"/>
            </a:solidFill>
            <a:prstDash val="solid"/>
          </a:ln>
        </p:spPr>
      </p:sp>
      <p:sp>
        <p:nvSpPr>
          <p:cNvPr id="5" name="Text 3"/>
          <p:cNvSpPr txBox="1"/>
          <p:nvPr/>
        </p:nvSpPr>
        <p:spPr>
          <a:xfrm>
            <a:off x="640080" y="1783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6" name="Text 4"/>
          <p:cNvSpPr txBox="1"/>
          <p:nvPr/>
        </p:nvSpPr>
        <p:spPr>
          <a:xfrm>
            <a:off x="1325880" y="175564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最初は、与えられた場で数をこなす</a:t>
            </a:r>
            <a:endParaRPr lang="en-US" sz="1800" dirty="0"/>
          </a:p>
        </p:txBody>
      </p:sp>
      <p:sp>
        <p:nvSpPr>
          <p:cNvPr id="7" name="Text 5"/>
          <p:cNvSpPr txBox="1"/>
          <p:nvPr/>
        </p:nvSpPr>
        <p:spPr>
          <a:xfrm>
            <a:off x="1325880" y="2112264"/>
            <a:ext cx="10134295" cy="62179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商工会、公的支援、副業。誰も最初から尖ってはいない</a:t>
            </a:r>
            <a:endParaRPr lang="en-US" sz="1400" dirty="0"/>
          </a:p>
        </p:txBody>
      </p:sp>
      <p:sp>
        <p:nvSpPr>
          <p:cNvPr id="8" name="Shape 6"/>
          <p:cNvSpPr/>
          <p:nvPr/>
        </p:nvSpPr>
        <p:spPr>
          <a:xfrm>
            <a:off x="640080" y="2788920"/>
            <a:ext cx="457200" cy="457200"/>
          </a:xfrm>
          <a:prstGeom prst="ellipse">
            <a:avLst/>
          </a:prstGeom>
          <a:solidFill>
            <a:srgbClr val="1E2761"/>
          </a:solidFill>
          <a:ln w="12700">
            <a:solidFill>
              <a:srgbClr val="1E2761"/>
            </a:solidFill>
            <a:prstDash val="solid"/>
          </a:ln>
        </p:spPr>
      </p:sp>
      <p:sp>
        <p:nvSpPr>
          <p:cNvPr id="9" name="Text 7"/>
          <p:cNvSpPr txBox="1"/>
          <p:nvPr/>
        </p:nvSpPr>
        <p:spPr>
          <a:xfrm>
            <a:off x="640080" y="2788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0" name="Text 8"/>
          <p:cNvSpPr txBox="1"/>
          <p:nvPr/>
        </p:nvSpPr>
        <p:spPr>
          <a:xfrm>
            <a:off x="1325880" y="276148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2〜3年かけて、実績が溜まる</a:t>
            </a:r>
            <a:endParaRPr lang="en-US" sz="1800" dirty="0"/>
          </a:p>
        </p:txBody>
      </p:sp>
      <p:sp>
        <p:nvSpPr>
          <p:cNvPr id="11" name="Shape 9"/>
          <p:cNvSpPr/>
          <p:nvPr/>
        </p:nvSpPr>
        <p:spPr>
          <a:xfrm>
            <a:off x="640080" y="3794760"/>
            <a:ext cx="457200" cy="457200"/>
          </a:xfrm>
          <a:prstGeom prst="ellipse">
            <a:avLst/>
          </a:prstGeom>
          <a:solidFill>
            <a:srgbClr val="1E2761"/>
          </a:solidFill>
          <a:ln w="12700">
            <a:solidFill>
              <a:srgbClr val="1E2761"/>
            </a:solidFill>
            <a:prstDash val="solid"/>
          </a:ln>
        </p:spPr>
      </p:sp>
      <p:sp>
        <p:nvSpPr>
          <p:cNvPr id="12" name="Text 10"/>
          <p:cNvSpPr txBox="1"/>
          <p:nvPr/>
        </p:nvSpPr>
        <p:spPr>
          <a:xfrm>
            <a:off x="640080" y="37947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3" name="Text 11"/>
          <p:cNvSpPr txBox="1"/>
          <p:nvPr/>
        </p:nvSpPr>
        <p:spPr>
          <a:xfrm>
            <a:off x="1325880" y="376732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その過程で、強みが後から立ち上がる</a:t>
            </a:r>
            <a:endParaRPr lang="en-US" sz="1800" dirty="0"/>
          </a:p>
        </p:txBody>
      </p:sp>
      <p:sp>
        <p:nvSpPr>
          <p:cNvPr id="14" name="Text 12"/>
          <p:cNvSpPr txBox="1"/>
          <p:nvPr/>
        </p:nvSpPr>
        <p:spPr>
          <a:xfrm>
            <a:off x="1325880" y="4123944"/>
            <a:ext cx="10134295" cy="62179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梁川さんの赤字製造業、石川さんの飲食とお酒</a:t>
            </a:r>
            <a:endParaRPr lang="en-US" sz="1400" dirty="0"/>
          </a:p>
        </p:txBody>
      </p:sp>
      <p:sp>
        <p:nvSpPr>
          <p:cNvPr id="15" name="Shape 13"/>
          <p:cNvSpPr/>
          <p:nvPr/>
        </p:nvSpPr>
        <p:spPr>
          <a:xfrm>
            <a:off x="640080" y="4800600"/>
            <a:ext cx="457200" cy="457200"/>
          </a:xfrm>
          <a:prstGeom prst="ellipse">
            <a:avLst/>
          </a:prstGeom>
          <a:solidFill>
            <a:srgbClr val="1E2761"/>
          </a:solidFill>
          <a:ln w="12700">
            <a:solidFill>
              <a:srgbClr val="1E2761"/>
            </a:solidFill>
            <a:prstDash val="solid"/>
          </a:ln>
        </p:spPr>
      </p:sp>
      <p:sp>
        <p:nvSpPr>
          <p:cNvPr id="16" name="Text 14"/>
          <p:cNvSpPr txBox="1"/>
          <p:nvPr/>
        </p:nvSpPr>
        <p:spPr>
          <a:xfrm>
            <a:off x="640080" y="4800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17" name="Text 15"/>
          <p:cNvSpPr txBox="1"/>
          <p:nvPr/>
        </p:nvSpPr>
        <p:spPr>
          <a:xfrm>
            <a:off x="1325880" y="477316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紹介元の信頼が、仕事の流れる仕組みになる</a:t>
            </a:r>
            <a:endParaRPr lang="en-US" sz="1800" dirty="0"/>
          </a:p>
        </p:txBody>
      </p:sp>
      <p:sp>
        <p:nvSpPr>
          <p:cNvPr id="18" name="Text 16"/>
          <p:cNvSpPr txBox="1"/>
          <p:nvPr/>
        </p:nvSpPr>
        <p:spPr>
          <a:xfrm>
            <a:off x="1325880" y="5129784"/>
            <a:ext cx="10134295" cy="62179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金融機関・商工会・自治体から、自分で取りに行かなくても流れてくる</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2103120"/>
            <a:ext cx="10911535" cy="1828800"/>
          </a:xfrm>
          <a:prstGeom prst="rect">
            <a:avLst/>
          </a:prstGeom>
          <a:noFill/>
          <a:ln/>
        </p:spPr>
        <p:txBody>
          <a:bodyPr wrap="square" lIns="0" tIns="0" rIns="0" bIns="0" rtlCol="0" anchor="ctr">
            <a:normAutofit/>
          </a:bodyPr>
          <a:lstStyle/>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ブランディング（＝信用）と、</a:t>
            </a:r>
            <a:endParaRPr lang="en-US" sz="4000" dirty="0"/>
          </a:p>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エコシステム。</a:t>
            </a:r>
            <a:endParaRPr lang="en-US" sz="4000" dirty="0"/>
          </a:p>
        </p:txBody>
      </p:sp>
      <p:sp>
        <p:nvSpPr>
          <p:cNvPr id="3" name="Text 1"/>
          <p:cNvSpPr txBox="1"/>
          <p:nvPr/>
        </p:nvSpPr>
        <p:spPr>
          <a:xfrm>
            <a:off x="640080" y="4023360"/>
            <a:ext cx="10911535" cy="640080"/>
          </a:xfrm>
          <a:prstGeom prst="rect">
            <a:avLst/>
          </a:prstGeom>
          <a:noFill/>
          <a:ln/>
        </p:spPr>
        <p:txBody>
          <a:bodyPr wrap="square" lIns="0" tIns="0" rIns="0" bIns="0" rtlCol="0" anchor="ctr">
            <a:normAutofit/>
          </a:bodyPr>
          <a:lstStyle/>
          <a:p>
            <a:pPr algn="ctr" indent="0" marL="0">
              <a:buNone/>
            </a:pPr>
            <a:r>
              <a:rPr lang="en-US" sz="1800" dirty="0">
                <a:solidFill>
                  <a:srgbClr val="CADCFC"/>
                </a:solidFill>
                <a:latin typeface="Meiryo" pitchFamily="34" charset="0"/>
                <a:ea typeface="Meiryo" pitchFamily="34" charset="-122"/>
                <a:cs typeface="Meiryo" pitchFamily="34" charset="-120"/>
              </a:rPr>
              <a:t>4人の地位をつくったのは、この2つでした</a:t>
            </a:r>
            <a:endParaRPr lang="en-US" sz="1800" dirty="0"/>
          </a:p>
        </p:txBody>
      </p:sp>
      <p:sp>
        <p:nvSpPr>
          <p:cNvPr id="4" name="Text 2"/>
          <p:cNvSpPr txBox="1"/>
          <p:nvPr/>
        </p:nvSpPr>
        <p:spPr>
          <a:xfrm>
            <a:off x="640080" y="4754880"/>
            <a:ext cx="10911535" cy="548640"/>
          </a:xfrm>
          <a:prstGeom prst="rect">
            <a:avLst/>
          </a:prstGeom>
          <a:noFill/>
          <a:ln/>
        </p:spPr>
        <p:txBody>
          <a:bodyPr wrap="square" lIns="0" tIns="0" rIns="0" bIns="0" rtlCol="0" anchor="ctr">
            <a:normAutofit/>
          </a:bodyPr>
          <a:lstStyle/>
          <a:p>
            <a:pPr algn="ctr" indent="0" marL="0">
              <a:buNone/>
            </a:pPr>
            <a:r>
              <a:rPr lang="en-US" sz="1400" dirty="0">
                <a:solidFill>
                  <a:srgbClr val="CADCFC"/>
                </a:solidFill>
                <a:latin typeface="Meiryo" pitchFamily="34" charset="0"/>
                <a:ea typeface="Meiryo" pitchFamily="34" charset="-122"/>
                <a:cs typeface="Meiryo" pitchFamily="34" charset="-120"/>
              </a:rPr>
              <a:t>尖りが先ではない。実績 → 信用 → 仕組み、の順です</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640080" y="2286000"/>
            <a:ext cx="1005840" cy="1005840"/>
          </a:xfrm>
          <a:prstGeom prst="ellipse">
            <a:avLst/>
          </a:prstGeom>
          <a:solidFill>
            <a:srgbClr val="C08A2E"/>
          </a:solidFill>
          <a:ln w="12700">
            <a:solidFill>
              <a:srgbClr val="C08A2E"/>
            </a:solidFill>
            <a:prstDash val="solid"/>
          </a:ln>
        </p:spPr>
      </p:sp>
      <p:sp>
        <p:nvSpPr>
          <p:cNvPr id="3" name="Text 1"/>
          <p:cNvSpPr txBox="1"/>
          <p:nvPr/>
        </p:nvSpPr>
        <p:spPr>
          <a:xfrm>
            <a:off x="640080" y="2286000"/>
            <a:ext cx="1005840" cy="1005840"/>
          </a:xfrm>
          <a:prstGeom prst="rect">
            <a:avLst/>
          </a:prstGeom>
          <a:noFill/>
          <a:ln/>
        </p:spPr>
        <p:txBody>
          <a:bodyPr wrap="square" lIns="0" tIns="0" rIns="0" bIns="0" rtlCol="0" anchor="ctr"/>
          <a:lstStyle/>
          <a:p>
            <a:pPr algn="ctr" indent="0" marL="0">
              <a:buNone/>
            </a:pPr>
            <a:r>
              <a:rPr lang="en-US" sz="3400" b="1" dirty="0">
                <a:solidFill>
                  <a:srgbClr val="FFFFFF"/>
                </a:solidFill>
                <a:latin typeface="Meiryo" pitchFamily="34" charset="0"/>
                <a:ea typeface="Meiryo" pitchFamily="34" charset="-122"/>
                <a:cs typeface="Meiryo" pitchFamily="34" charset="-120"/>
              </a:rPr>
              <a:t>3</a:t>
            </a:r>
            <a:endParaRPr lang="en-US" sz="3400" dirty="0"/>
          </a:p>
        </p:txBody>
      </p:sp>
      <p:sp>
        <p:nvSpPr>
          <p:cNvPr id="4" name="Text 2"/>
          <p:cNvSpPr txBox="1"/>
          <p:nvPr/>
        </p:nvSpPr>
        <p:spPr>
          <a:xfrm>
            <a:off x="2011680" y="2240280"/>
            <a:ext cx="9539935" cy="91440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Meiryo" pitchFamily="34" charset="0"/>
                <a:ea typeface="Meiryo" pitchFamily="34" charset="-122"/>
                <a:cs typeface="Meiryo" pitchFamily="34" charset="-120"/>
              </a:rPr>
              <a:t>「尖っていないとダメ」を疑う</a:t>
            </a:r>
            <a:endParaRPr lang="en-US" sz="3400" dirty="0"/>
          </a:p>
        </p:txBody>
      </p:sp>
      <p:sp>
        <p:nvSpPr>
          <p:cNvPr id="5" name="Text 3"/>
          <p:cNvSpPr txBox="1"/>
          <p:nvPr/>
        </p:nvSpPr>
        <p:spPr>
          <a:xfrm>
            <a:off x="2011680" y="3246120"/>
            <a:ext cx="9539935" cy="731520"/>
          </a:xfrm>
          <a:prstGeom prst="rect">
            <a:avLst/>
          </a:prstGeom>
          <a:noFill/>
          <a:ln/>
        </p:spPr>
        <p:txBody>
          <a:bodyPr wrap="square" lIns="0" tIns="0" rIns="0" bIns="0" rtlCol="0" anchor="ctr">
            <a:normAutofit/>
          </a:bodyPr>
          <a:lstStyle/>
          <a:p>
            <a:pPr indent="0" marL="0">
              <a:buNone/>
            </a:pPr>
            <a:r>
              <a:rPr lang="en-US" sz="1600" dirty="0">
                <a:solidFill>
                  <a:srgbClr val="CADCFC"/>
                </a:solidFill>
                <a:latin typeface="Meiryo" pitchFamily="34" charset="0"/>
                <a:ea typeface="Meiryo" pitchFamily="34" charset="-122"/>
                <a:cs typeface="Meiryo" pitchFamily="34" charset="-120"/>
              </a:rPr>
              <a:t>13:46-14:02／16分　成功の定義を先に決める</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第3部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必ず言われる、この教え</a:t>
            </a:r>
            <a:endParaRPr lang="en-US" sz="3000" dirty="0"/>
          </a:p>
        </p:txBody>
      </p:sp>
      <p:sp>
        <p:nvSpPr>
          <p:cNvPr id="4" name="Shape 2"/>
          <p:cNvSpPr/>
          <p:nvPr/>
        </p:nvSpPr>
        <p:spPr>
          <a:xfrm>
            <a:off x="640080" y="2103120"/>
            <a:ext cx="3454298" cy="1371600"/>
          </a:xfrm>
          <a:prstGeom prst="roundRect">
            <a:avLst>
              <a:gd name="adj" fmla="val 5333"/>
            </a:avLst>
          </a:prstGeom>
          <a:solidFill>
            <a:srgbClr val="F2F5FB"/>
          </a:solidFill>
          <a:ln w="12700">
            <a:solidFill>
              <a:srgbClr val="F2F5FB"/>
            </a:solidFill>
            <a:prstDash val="solid"/>
          </a:ln>
        </p:spPr>
      </p:sp>
      <p:sp>
        <p:nvSpPr>
          <p:cNvPr id="5" name="Text 3"/>
          <p:cNvSpPr txBox="1"/>
          <p:nvPr/>
        </p:nvSpPr>
        <p:spPr>
          <a:xfrm>
            <a:off x="896112" y="2359152"/>
            <a:ext cx="2942234" cy="640080"/>
          </a:xfrm>
          <a:prstGeom prst="rect">
            <a:avLst/>
          </a:prstGeom>
          <a:noFill/>
          <a:ln/>
        </p:spPr>
        <p:txBody>
          <a:bodyPr wrap="square" lIns="0" tIns="0" rIns="0" bIns="0" rtlCol="0" anchor="ctr">
            <a:normAutofit/>
          </a:bodyPr>
          <a:lstStyle/>
          <a:p>
            <a:pPr indent="0" marL="0">
              <a:buNone/>
            </a:pPr>
            <a:r>
              <a:rPr lang="en-US" sz="1900" b="1" dirty="0">
                <a:solidFill>
                  <a:srgbClr val="1E2761"/>
                </a:solidFill>
                <a:latin typeface="Meiryo" pitchFamily="34" charset="0"/>
                <a:ea typeface="Meiryo" pitchFamily="34" charset="-122"/>
                <a:cs typeface="Meiryo" pitchFamily="34" charset="-120"/>
              </a:rPr>
              <a:t>「あなたは何ができるのですか？」</a:t>
            </a:r>
            <a:endParaRPr lang="en-US" sz="1900" dirty="0"/>
          </a:p>
        </p:txBody>
      </p:sp>
      <p:sp>
        <p:nvSpPr>
          <p:cNvPr id="6" name="Text 4"/>
          <p:cNvSpPr txBox="1"/>
          <p:nvPr/>
        </p:nvSpPr>
        <p:spPr>
          <a:xfrm>
            <a:off x="896112" y="3017520"/>
            <a:ext cx="2942234" cy="182880"/>
          </a:xfrm>
          <a:prstGeom prst="rect">
            <a:avLst/>
          </a:prstGeom>
          <a:noFill/>
          <a:ln/>
        </p:spPr>
        <p:txBody>
          <a:bodyPr wrap="square" lIns="0" tIns="0" rIns="0" bIns="0" rtlCol="0" anchor="ctr">
            <a:normAutofit/>
          </a:bodyPr>
          <a:lstStyle/>
          <a:p>
            <a:pPr indent="0" marL="0">
              <a:lnSpc>
                <a:spcPts val="1900"/>
              </a:lnSpc>
              <a:buNone/>
            </a:pPr>
            <a:endParaRPr lang="en-US" sz="1300" dirty="0"/>
          </a:p>
        </p:txBody>
      </p:sp>
      <p:sp>
        <p:nvSpPr>
          <p:cNvPr id="7" name="Shape 5"/>
          <p:cNvSpPr/>
          <p:nvPr/>
        </p:nvSpPr>
        <p:spPr>
          <a:xfrm>
            <a:off x="4368698" y="2103120"/>
            <a:ext cx="3454298" cy="1371600"/>
          </a:xfrm>
          <a:prstGeom prst="roundRect">
            <a:avLst>
              <a:gd name="adj" fmla="val 5333"/>
            </a:avLst>
          </a:prstGeom>
          <a:solidFill>
            <a:srgbClr val="F2F5FB"/>
          </a:solidFill>
          <a:ln w="12700">
            <a:solidFill>
              <a:srgbClr val="F2F5FB"/>
            </a:solidFill>
            <a:prstDash val="solid"/>
          </a:ln>
        </p:spPr>
      </p:sp>
      <p:sp>
        <p:nvSpPr>
          <p:cNvPr id="8" name="Text 6"/>
          <p:cNvSpPr txBox="1"/>
          <p:nvPr/>
        </p:nvSpPr>
        <p:spPr>
          <a:xfrm>
            <a:off x="4624730" y="2359152"/>
            <a:ext cx="2942234" cy="640080"/>
          </a:xfrm>
          <a:prstGeom prst="rect">
            <a:avLst/>
          </a:prstGeom>
          <a:noFill/>
          <a:ln/>
        </p:spPr>
        <p:txBody>
          <a:bodyPr wrap="square" lIns="0" tIns="0" rIns="0" bIns="0" rtlCol="0" anchor="ctr">
            <a:normAutofit/>
          </a:bodyPr>
          <a:lstStyle/>
          <a:p>
            <a:pPr indent="0" marL="0">
              <a:buNone/>
            </a:pPr>
            <a:r>
              <a:rPr lang="en-US" sz="1900" b="1" dirty="0">
                <a:solidFill>
                  <a:srgbClr val="1E2761"/>
                </a:solidFill>
                <a:latin typeface="Meiryo" pitchFamily="34" charset="0"/>
                <a:ea typeface="Meiryo" pitchFamily="34" charset="-122"/>
                <a:cs typeface="Meiryo" pitchFamily="34" charset="-120"/>
              </a:rPr>
              <a:t>「何でもできるは、何もできない」</a:t>
            </a:r>
            <a:endParaRPr lang="en-US" sz="1900" dirty="0"/>
          </a:p>
        </p:txBody>
      </p:sp>
      <p:sp>
        <p:nvSpPr>
          <p:cNvPr id="9" name="Text 7"/>
          <p:cNvSpPr txBox="1"/>
          <p:nvPr/>
        </p:nvSpPr>
        <p:spPr>
          <a:xfrm>
            <a:off x="4624730" y="3017520"/>
            <a:ext cx="2942234" cy="182880"/>
          </a:xfrm>
          <a:prstGeom prst="rect">
            <a:avLst/>
          </a:prstGeom>
          <a:noFill/>
          <a:ln/>
        </p:spPr>
        <p:txBody>
          <a:bodyPr wrap="square" lIns="0" tIns="0" rIns="0" bIns="0" rtlCol="0" anchor="ctr">
            <a:normAutofit/>
          </a:bodyPr>
          <a:lstStyle/>
          <a:p>
            <a:pPr indent="0" marL="0">
              <a:lnSpc>
                <a:spcPts val="1900"/>
              </a:lnSpc>
              <a:buNone/>
            </a:pPr>
            <a:endParaRPr lang="en-US" sz="1300" dirty="0"/>
          </a:p>
        </p:txBody>
      </p:sp>
      <p:sp>
        <p:nvSpPr>
          <p:cNvPr id="10" name="Shape 8"/>
          <p:cNvSpPr/>
          <p:nvPr/>
        </p:nvSpPr>
        <p:spPr>
          <a:xfrm>
            <a:off x="8097317" y="2103120"/>
            <a:ext cx="3454298" cy="1371600"/>
          </a:xfrm>
          <a:prstGeom prst="roundRect">
            <a:avLst>
              <a:gd name="adj" fmla="val 5333"/>
            </a:avLst>
          </a:prstGeom>
          <a:solidFill>
            <a:srgbClr val="F2F5FB"/>
          </a:solidFill>
          <a:ln w="12700">
            <a:solidFill>
              <a:srgbClr val="F2F5FB"/>
            </a:solidFill>
            <a:prstDash val="solid"/>
          </a:ln>
        </p:spPr>
      </p:sp>
      <p:sp>
        <p:nvSpPr>
          <p:cNvPr id="11" name="Text 9"/>
          <p:cNvSpPr txBox="1"/>
          <p:nvPr/>
        </p:nvSpPr>
        <p:spPr>
          <a:xfrm>
            <a:off x="8353349" y="2359152"/>
            <a:ext cx="2942234" cy="640080"/>
          </a:xfrm>
          <a:prstGeom prst="rect">
            <a:avLst/>
          </a:prstGeom>
          <a:noFill/>
          <a:ln/>
        </p:spPr>
        <p:txBody>
          <a:bodyPr wrap="square" lIns="0" tIns="0" rIns="0" bIns="0" rtlCol="0" anchor="ctr">
            <a:normAutofit/>
          </a:bodyPr>
          <a:lstStyle/>
          <a:p>
            <a:pPr indent="0" marL="0">
              <a:buNone/>
            </a:pPr>
            <a:r>
              <a:rPr lang="en-US" sz="1900" b="1" dirty="0">
                <a:solidFill>
                  <a:srgbClr val="1E2761"/>
                </a:solidFill>
                <a:latin typeface="Meiryo" pitchFamily="34" charset="0"/>
                <a:ea typeface="Meiryo" pitchFamily="34" charset="-122"/>
                <a:cs typeface="Meiryo" pitchFamily="34" charset="-120"/>
              </a:rPr>
              <a:t>「尖っているものがないとダメだ」</a:t>
            </a:r>
            <a:endParaRPr lang="en-US" sz="1900" dirty="0"/>
          </a:p>
        </p:txBody>
      </p:sp>
      <p:sp>
        <p:nvSpPr>
          <p:cNvPr id="12" name="Text 10"/>
          <p:cNvSpPr txBox="1"/>
          <p:nvPr/>
        </p:nvSpPr>
        <p:spPr>
          <a:xfrm>
            <a:off x="8353349" y="3017520"/>
            <a:ext cx="2942234" cy="182880"/>
          </a:xfrm>
          <a:prstGeom prst="rect">
            <a:avLst/>
          </a:prstGeom>
          <a:noFill/>
          <a:ln/>
        </p:spPr>
        <p:txBody>
          <a:bodyPr wrap="square" lIns="0" tIns="0" rIns="0" bIns="0" rtlCol="0" anchor="ctr">
            <a:normAutofit/>
          </a:bodyPr>
          <a:lstStyle/>
          <a:p>
            <a:pPr indent="0" marL="0">
              <a:lnSpc>
                <a:spcPts val="1900"/>
              </a:lnSpc>
              <a:buNone/>
            </a:pPr>
            <a:endParaRPr lang="en-US" sz="1300" dirty="0"/>
          </a:p>
        </p:txBody>
      </p:sp>
      <p:sp>
        <p:nvSpPr>
          <p:cNvPr id="13" name="Text 11"/>
          <p:cNvSpPr txBox="1"/>
          <p:nvPr/>
        </p:nvSpPr>
        <p:spPr>
          <a:xfrm>
            <a:off x="640080" y="3840480"/>
            <a:ext cx="10911535" cy="457200"/>
          </a:xfrm>
          <a:prstGeom prst="rect">
            <a:avLst/>
          </a:prstGeom>
          <a:noFill/>
          <a:ln/>
        </p:spPr>
        <p:txBody>
          <a:bodyPr wrap="square" lIns="0" tIns="0" rIns="0" bIns="0" rtlCol="0" anchor="ctr"/>
          <a:lstStyle/>
          <a:p>
            <a:pPr indent="0" marL="0">
              <a:buNone/>
            </a:pPr>
            <a:r>
              <a:rPr lang="en-US" sz="1700" dirty="0">
                <a:solidFill>
                  <a:srgbClr val="222222"/>
                </a:solidFill>
                <a:latin typeface="Meiryo" pitchFamily="34" charset="0"/>
                <a:ea typeface="Meiryo" pitchFamily="34" charset="-122"/>
                <a:cs typeface="Meiryo" pitchFamily="34" charset="-120"/>
              </a:rPr>
              <a:t>いまでも言われますし、昔から言われ続けていると思います。</a:t>
            </a:r>
            <a:endParaRPr lang="en-US" sz="1700" dirty="0"/>
          </a:p>
        </p:txBody>
      </p:sp>
      <p:sp>
        <p:nvSpPr>
          <p:cNvPr id="14" name="Text 12"/>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でも、私はここを疑いました。</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第3部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あの先生方も、最初から尖っていたのか？</a:t>
            </a:r>
            <a:endParaRPr lang="en-US" sz="3000" dirty="0"/>
          </a:p>
        </p:txBody>
      </p:sp>
      <p:sp>
        <p:nvSpPr>
          <p:cNvPr id="4" name="Shape 2"/>
          <p:cNvSpPr/>
          <p:nvPr/>
        </p:nvSpPr>
        <p:spPr>
          <a:xfrm>
            <a:off x="640080" y="1920240"/>
            <a:ext cx="457200" cy="457200"/>
          </a:xfrm>
          <a:prstGeom prst="ellipse">
            <a:avLst/>
          </a:prstGeom>
          <a:solidFill>
            <a:srgbClr val="1E2761"/>
          </a:solidFill>
          <a:ln w="12700">
            <a:solidFill>
              <a:srgbClr val="1E2761"/>
            </a:solidFill>
            <a:prstDash val="solid"/>
          </a:ln>
        </p:spPr>
      </p:sp>
      <p:sp>
        <p:nvSpPr>
          <p:cNvPr id="5" name="Text 3"/>
          <p:cNvSpPr txBox="1"/>
          <p:nvPr/>
        </p:nvSpPr>
        <p:spPr>
          <a:xfrm>
            <a:off x="640080" y="1920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6" name="Text 4"/>
          <p:cNvSpPr txBox="1"/>
          <p:nvPr/>
        </p:nvSpPr>
        <p:spPr>
          <a:xfrm>
            <a:off x="1325880" y="1892808"/>
            <a:ext cx="10134295" cy="365760"/>
          </a:xfrm>
          <a:prstGeom prst="rect">
            <a:avLst/>
          </a:prstGeom>
          <a:noFill/>
          <a:ln/>
        </p:spPr>
        <p:txBody>
          <a:bodyPr wrap="square" lIns="0" tIns="0" rIns="0" bIns="0" rtlCol="0" anchor="ctr">
            <a:normAutofit/>
          </a:bodyPr>
          <a:lstStyle/>
          <a:p>
            <a:pPr indent="0" marL="0">
              <a:buNone/>
            </a:pPr>
            <a:r>
              <a:rPr lang="en-US" sz="1900" b="1" dirty="0">
                <a:solidFill>
                  <a:srgbClr val="222222"/>
                </a:solidFill>
                <a:latin typeface="Meiryo" pitchFamily="34" charset="0"/>
                <a:ea typeface="Meiryo" pitchFamily="34" charset="-122"/>
                <a:cs typeface="Meiryo" pitchFamily="34" charset="-120"/>
              </a:rPr>
              <a:t>「〇〇のプロ」「〇〇といえば〇〇先生」は、いま成功している人の“現在地”を表す言葉</a:t>
            </a:r>
            <a:endParaRPr lang="en-US" sz="1900" dirty="0"/>
          </a:p>
        </p:txBody>
      </p:sp>
      <p:sp>
        <p:nvSpPr>
          <p:cNvPr id="7" name="Shape 5"/>
          <p:cNvSpPr/>
          <p:nvPr/>
        </p:nvSpPr>
        <p:spPr>
          <a:xfrm>
            <a:off x="640080" y="3063240"/>
            <a:ext cx="457200" cy="457200"/>
          </a:xfrm>
          <a:prstGeom prst="ellipse">
            <a:avLst/>
          </a:prstGeom>
          <a:solidFill>
            <a:srgbClr val="1E2761"/>
          </a:solidFill>
          <a:ln w="12700">
            <a:solidFill>
              <a:srgbClr val="1E2761"/>
            </a:solidFill>
            <a:prstDash val="solid"/>
          </a:ln>
        </p:spPr>
      </p:sp>
      <p:sp>
        <p:nvSpPr>
          <p:cNvPr id="8" name="Text 6"/>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9" name="Text 7"/>
          <p:cNvSpPr txBox="1"/>
          <p:nvPr/>
        </p:nvSpPr>
        <p:spPr>
          <a:xfrm>
            <a:off x="1325880" y="3035808"/>
            <a:ext cx="10134295" cy="365760"/>
          </a:xfrm>
          <a:prstGeom prst="rect">
            <a:avLst/>
          </a:prstGeom>
          <a:noFill/>
          <a:ln/>
        </p:spPr>
        <p:txBody>
          <a:bodyPr wrap="square" lIns="0" tIns="0" rIns="0" bIns="0" rtlCol="0" anchor="ctr">
            <a:normAutofit/>
          </a:bodyPr>
          <a:lstStyle/>
          <a:p>
            <a:pPr indent="0" marL="0">
              <a:buNone/>
            </a:pPr>
            <a:r>
              <a:rPr lang="en-US" sz="1900" b="1" dirty="0">
                <a:solidFill>
                  <a:srgbClr val="222222"/>
                </a:solidFill>
                <a:latin typeface="Meiryo" pitchFamily="34" charset="0"/>
                <a:ea typeface="Meiryo" pitchFamily="34" charset="-122"/>
                <a:cs typeface="Meiryo" pitchFamily="34" charset="-120"/>
              </a:rPr>
              <a:t>成長し、成功を積み上げた「結果」として、〇〇が得意な先生になっている</a:t>
            </a:r>
            <a:endParaRPr lang="en-US" sz="1900" dirty="0"/>
          </a:p>
        </p:txBody>
      </p:sp>
      <p:sp>
        <p:nvSpPr>
          <p:cNvPr id="10" name="Shape 8"/>
          <p:cNvSpPr/>
          <p:nvPr/>
        </p:nvSpPr>
        <p:spPr>
          <a:xfrm>
            <a:off x="640080" y="4206240"/>
            <a:ext cx="457200" cy="457200"/>
          </a:xfrm>
          <a:prstGeom prst="ellipse">
            <a:avLst/>
          </a:prstGeom>
          <a:solidFill>
            <a:srgbClr val="1E2761"/>
          </a:solidFill>
          <a:ln w="12700">
            <a:solidFill>
              <a:srgbClr val="1E2761"/>
            </a:solidFill>
            <a:prstDash val="solid"/>
          </a:ln>
        </p:spPr>
      </p:sp>
      <p:sp>
        <p:nvSpPr>
          <p:cNvPr id="11" name="Text 9"/>
          <p:cNvSpPr txBox="1"/>
          <p:nvPr/>
        </p:nvSpPr>
        <p:spPr>
          <a:xfrm>
            <a:off x="640080" y="4206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2" name="Text 10"/>
          <p:cNvSpPr txBox="1"/>
          <p:nvPr/>
        </p:nvSpPr>
        <p:spPr>
          <a:xfrm>
            <a:off x="1325880" y="4178808"/>
            <a:ext cx="10134295" cy="365760"/>
          </a:xfrm>
          <a:prstGeom prst="rect">
            <a:avLst/>
          </a:prstGeom>
          <a:noFill/>
          <a:ln/>
        </p:spPr>
        <p:txBody>
          <a:bodyPr wrap="square" lIns="0" tIns="0" rIns="0" bIns="0" rtlCol="0" anchor="ctr">
            <a:normAutofit/>
          </a:bodyPr>
          <a:lstStyle/>
          <a:p>
            <a:pPr indent="0" marL="0">
              <a:buNone/>
            </a:pPr>
            <a:r>
              <a:rPr lang="en-US" sz="1900" b="1" dirty="0">
                <a:solidFill>
                  <a:srgbClr val="222222"/>
                </a:solidFill>
                <a:latin typeface="Meiryo" pitchFamily="34" charset="0"/>
                <a:ea typeface="Meiryo" pitchFamily="34" charset="-122"/>
                <a:cs typeface="Meiryo" pitchFamily="34" charset="-120"/>
              </a:rPr>
              <a:t>だから、成功している先生の「今」を見ても参考にならない</a:t>
            </a:r>
            <a:endParaRPr lang="en-US" sz="1900" dirty="0"/>
          </a:p>
        </p:txBody>
      </p:sp>
      <p:sp>
        <p:nvSpPr>
          <p:cNvPr id="13" name="Text 11"/>
          <p:cNvSpPr txBox="1"/>
          <p:nvPr/>
        </p:nvSpPr>
        <p:spPr>
          <a:xfrm>
            <a:off x="1325880" y="4535424"/>
            <a:ext cx="10134295" cy="75895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「〇〇に強い〇〇先生」になるまでの過程を理解するほうが近道</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2103120"/>
            <a:ext cx="10911535" cy="1828800"/>
          </a:xfrm>
          <a:prstGeom prst="rect">
            <a:avLst/>
          </a:prstGeom>
          <a:noFill/>
          <a:ln/>
        </p:spPr>
        <p:txBody>
          <a:bodyPr wrap="square" lIns="0" tIns="0" rIns="0" bIns="0" rtlCol="0" anchor="ctr">
            <a:normAutofit/>
          </a:bodyPr>
          <a:lstStyle/>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梁川さんは、独立当初の年収は</a:t>
            </a:r>
            <a:endParaRPr lang="en-US" sz="4000" dirty="0"/>
          </a:p>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50万円だったと言っていました。</a:t>
            </a:r>
            <a:endParaRPr lang="en-US" sz="4000" dirty="0"/>
          </a:p>
        </p:txBody>
      </p:sp>
      <p:sp>
        <p:nvSpPr>
          <p:cNvPr id="3" name="Text 1"/>
          <p:cNvSpPr txBox="1"/>
          <p:nvPr/>
        </p:nvSpPr>
        <p:spPr>
          <a:xfrm>
            <a:off x="640080" y="4023360"/>
            <a:ext cx="10911535" cy="640080"/>
          </a:xfrm>
          <a:prstGeom prst="rect">
            <a:avLst/>
          </a:prstGeom>
          <a:noFill/>
          <a:ln/>
        </p:spPr>
        <p:txBody>
          <a:bodyPr wrap="square" lIns="0" tIns="0" rIns="0" bIns="0" rtlCol="0" anchor="ctr">
            <a:normAutofit/>
          </a:bodyPr>
          <a:lstStyle/>
          <a:p>
            <a:pPr algn="ctr" indent="0" marL="0">
              <a:buNone/>
            </a:pPr>
            <a:r>
              <a:rPr lang="en-US" sz="1800" dirty="0">
                <a:solidFill>
                  <a:srgbClr val="CADCFC"/>
                </a:solidFill>
                <a:latin typeface="Meiryo" pitchFamily="34" charset="0"/>
                <a:ea typeface="Meiryo" pitchFamily="34" charset="-122"/>
                <a:cs typeface="Meiryo" pitchFamily="34" charset="-120"/>
              </a:rPr>
              <a:t>いま推定2000万円。最初から尖っていた人はいません。</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第3部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私が考える「独立診断士としての成功」</a:t>
            </a:r>
            <a:endParaRPr lang="en-US" sz="3000" dirty="0"/>
          </a:p>
        </p:txBody>
      </p:sp>
      <p:sp>
        <p:nvSpPr>
          <p:cNvPr id="4" name="Text 2"/>
          <p:cNvSpPr txBox="1"/>
          <p:nvPr/>
        </p:nvSpPr>
        <p:spPr>
          <a:xfrm>
            <a:off x="640080" y="1600200"/>
            <a:ext cx="10911535" cy="365760"/>
          </a:xfrm>
          <a:prstGeom prst="rect">
            <a:avLst/>
          </a:prstGeom>
          <a:noFill/>
          <a:ln/>
        </p:spPr>
        <p:txBody>
          <a:bodyPr wrap="square" lIns="0" tIns="0" rIns="0" bIns="0" rtlCol="0" anchor="ctr"/>
          <a:lstStyle/>
          <a:p>
            <a:pPr indent="0" marL="0">
              <a:buNone/>
            </a:pPr>
            <a:r>
              <a:rPr lang="en-US" sz="1500" dirty="0">
                <a:solidFill>
                  <a:srgbClr val="666666"/>
                </a:solidFill>
                <a:latin typeface="Meiryo" pitchFamily="34" charset="0"/>
                <a:ea typeface="Meiryo" pitchFamily="34" charset="-122"/>
                <a:cs typeface="Meiryo" pitchFamily="34" charset="-120"/>
              </a:rPr>
              <a:t>成功の定義は人それぞれです。私の定義を先に置きます。これは優先順位でもあります。</a:t>
            </a:r>
            <a:endParaRPr lang="en-US" sz="1500" dirty="0"/>
          </a:p>
        </p:txBody>
      </p:sp>
      <p:sp>
        <p:nvSpPr>
          <p:cNvPr id="5" name="Shape 3"/>
          <p:cNvSpPr/>
          <p:nvPr/>
        </p:nvSpPr>
        <p:spPr>
          <a:xfrm>
            <a:off x="640080" y="2148840"/>
            <a:ext cx="457200" cy="457200"/>
          </a:xfrm>
          <a:prstGeom prst="ellipse">
            <a:avLst/>
          </a:prstGeom>
          <a:solidFill>
            <a:srgbClr val="1E2761"/>
          </a:solidFill>
          <a:ln w="12700">
            <a:solidFill>
              <a:srgbClr val="1E2761"/>
            </a:solidFill>
            <a:prstDash val="solid"/>
          </a:ln>
        </p:spPr>
      </p:sp>
      <p:sp>
        <p:nvSpPr>
          <p:cNvPr id="6" name="Text 4"/>
          <p:cNvSpPr txBox="1"/>
          <p:nvPr/>
        </p:nvSpPr>
        <p:spPr>
          <a:xfrm>
            <a:off x="640080" y="21488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7" name="Text 5"/>
          <p:cNvSpPr txBox="1"/>
          <p:nvPr/>
        </p:nvSpPr>
        <p:spPr>
          <a:xfrm>
            <a:off x="1325880" y="2121408"/>
            <a:ext cx="10134295" cy="365760"/>
          </a:xfrm>
          <a:prstGeom prst="rect">
            <a:avLst/>
          </a:prstGeom>
          <a:noFill/>
          <a:ln/>
        </p:spPr>
        <p:txBody>
          <a:bodyPr wrap="square" lIns="0" tIns="0" rIns="0" bIns="0" rtlCol="0" anchor="ctr">
            <a:normAutofit/>
          </a:bodyPr>
          <a:lstStyle/>
          <a:p>
            <a:pPr indent="0" marL="0">
              <a:buNone/>
            </a:pPr>
            <a:r>
              <a:rPr lang="en-US" sz="1900" b="1" dirty="0">
                <a:solidFill>
                  <a:srgbClr val="222222"/>
                </a:solidFill>
                <a:latin typeface="Meiryo" pitchFamily="34" charset="0"/>
                <a:ea typeface="Meiryo" pitchFamily="34" charset="-122"/>
                <a:cs typeface="Meiryo" pitchFamily="34" charset="-120"/>
              </a:rPr>
              <a:t>サラリーマンの時の年収を大きく越える</a:t>
            </a:r>
            <a:endParaRPr lang="en-US" sz="1900" dirty="0"/>
          </a:p>
        </p:txBody>
      </p:sp>
      <p:sp>
        <p:nvSpPr>
          <p:cNvPr id="8" name="Text 6"/>
          <p:cNvSpPr txBox="1"/>
          <p:nvPr/>
        </p:nvSpPr>
        <p:spPr>
          <a:xfrm>
            <a:off x="1325880" y="2478024"/>
            <a:ext cx="10134295" cy="48463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私は「2倍」としました</a:t>
            </a:r>
            <a:endParaRPr lang="en-US" sz="1400" dirty="0"/>
          </a:p>
        </p:txBody>
      </p:sp>
      <p:sp>
        <p:nvSpPr>
          <p:cNvPr id="9" name="Shape 7"/>
          <p:cNvSpPr/>
          <p:nvPr/>
        </p:nvSpPr>
        <p:spPr>
          <a:xfrm>
            <a:off x="640080" y="3017520"/>
            <a:ext cx="457200" cy="457200"/>
          </a:xfrm>
          <a:prstGeom prst="ellipse">
            <a:avLst/>
          </a:prstGeom>
          <a:solidFill>
            <a:srgbClr val="1E2761"/>
          </a:solidFill>
          <a:ln w="12700">
            <a:solidFill>
              <a:srgbClr val="1E2761"/>
            </a:solidFill>
            <a:prstDash val="solid"/>
          </a:ln>
        </p:spPr>
      </p:sp>
      <p:sp>
        <p:nvSpPr>
          <p:cNvPr id="10" name="Text 8"/>
          <p:cNvSpPr txBox="1"/>
          <p:nvPr/>
        </p:nvSpPr>
        <p:spPr>
          <a:xfrm>
            <a:off x="640080" y="3017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1" name="Text 9"/>
          <p:cNvSpPr txBox="1"/>
          <p:nvPr/>
        </p:nvSpPr>
        <p:spPr>
          <a:xfrm>
            <a:off x="1325880" y="2990088"/>
            <a:ext cx="10134295" cy="365760"/>
          </a:xfrm>
          <a:prstGeom prst="rect">
            <a:avLst/>
          </a:prstGeom>
          <a:noFill/>
          <a:ln/>
        </p:spPr>
        <p:txBody>
          <a:bodyPr wrap="square" lIns="0" tIns="0" rIns="0" bIns="0" rtlCol="0" anchor="ctr">
            <a:normAutofit/>
          </a:bodyPr>
          <a:lstStyle/>
          <a:p>
            <a:pPr indent="0" marL="0">
              <a:buNone/>
            </a:pPr>
            <a:r>
              <a:rPr lang="en-US" sz="1900" b="1" dirty="0">
                <a:solidFill>
                  <a:srgbClr val="222222"/>
                </a:solidFill>
                <a:latin typeface="Meiryo" pitchFamily="34" charset="0"/>
                <a:ea typeface="Meiryo" pitchFamily="34" charset="-122"/>
                <a:cs typeface="Meiryo" pitchFamily="34" charset="-120"/>
              </a:rPr>
              <a:t>自分の人生を、自分でコントロールしている実感がある</a:t>
            </a:r>
            <a:endParaRPr lang="en-US" sz="1900" dirty="0"/>
          </a:p>
        </p:txBody>
      </p:sp>
      <p:sp>
        <p:nvSpPr>
          <p:cNvPr id="12" name="Shape 10"/>
          <p:cNvSpPr/>
          <p:nvPr/>
        </p:nvSpPr>
        <p:spPr>
          <a:xfrm>
            <a:off x="640080" y="3886200"/>
            <a:ext cx="457200" cy="457200"/>
          </a:xfrm>
          <a:prstGeom prst="ellipse">
            <a:avLst/>
          </a:prstGeom>
          <a:solidFill>
            <a:srgbClr val="1E2761"/>
          </a:solidFill>
          <a:ln w="12700">
            <a:solidFill>
              <a:srgbClr val="1E2761"/>
            </a:solidFill>
            <a:prstDash val="solid"/>
          </a:ln>
        </p:spPr>
      </p:sp>
      <p:sp>
        <p:nvSpPr>
          <p:cNvPr id="13" name="Text 11"/>
          <p:cNvSpPr txBox="1"/>
          <p:nvPr/>
        </p:nvSpPr>
        <p:spPr>
          <a:xfrm>
            <a:off x="640080" y="38862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4" name="Text 12"/>
          <p:cNvSpPr txBox="1"/>
          <p:nvPr/>
        </p:nvSpPr>
        <p:spPr>
          <a:xfrm>
            <a:off x="1325880" y="3858768"/>
            <a:ext cx="10134295" cy="365760"/>
          </a:xfrm>
          <a:prstGeom prst="rect">
            <a:avLst/>
          </a:prstGeom>
          <a:noFill/>
          <a:ln/>
        </p:spPr>
        <p:txBody>
          <a:bodyPr wrap="square" lIns="0" tIns="0" rIns="0" bIns="0" rtlCol="0" anchor="ctr">
            <a:normAutofit/>
          </a:bodyPr>
          <a:lstStyle/>
          <a:p>
            <a:pPr indent="0" marL="0">
              <a:buNone/>
            </a:pPr>
            <a:r>
              <a:rPr lang="en-US" sz="1900" b="1" dirty="0">
                <a:solidFill>
                  <a:srgbClr val="222222"/>
                </a:solidFill>
                <a:latin typeface="Meiryo" pitchFamily="34" charset="0"/>
                <a:ea typeface="Meiryo" pitchFamily="34" charset="-122"/>
                <a:cs typeface="Meiryo" pitchFamily="34" charset="-120"/>
              </a:rPr>
              <a:t>会社員時代にはできなかったことをする</a:t>
            </a:r>
            <a:endParaRPr lang="en-US" sz="1900" dirty="0"/>
          </a:p>
        </p:txBody>
      </p:sp>
      <p:sp>
        <p:nvSpPr>
          <p:cNvPr id="15" name="Shape 13"/>
          <p:cNvSpPr/>
          <p:nvPr/>
        </p:nvSpPr>
        <p:spPr>
          <a:xfrm>
            <a:off x="640080" y="4754880"/>
            <a:ext cx="457200" cy="457200"/>
          </a:xfrm>
          <a:prstGeom prst="ellipse">
            <a:avLst/>
          </a:prstGeom>
          <a:solidFill>
            <a:srgbClr val="1E2761"/>
          </a:solidFill>
          <a:ln w="12700">
            <a:solidFill>
              <a:srgbClr val="1E2761"/>
            </a:solidFill>
            <a:prstDash val="solid"/>
          </a:ln>
        </p:spPr>
      </p:sp>
      <p:sp>
        <p:nvSpPr>
          <p:cNvPr id="16" name="Text 14"/>
          <p:cNvSpPr txBox="1"/>
          <p:nvPr/>
        </p:nvSpPr>
        <p:spPr>
          <a:xfrm>
            <a:off x="640080" y="4754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17" name="Text 15"/>
          <p:cNvSpPr txBox="1"/>
          <p:nvPr/>
        </p:nvSpPr>
        <p:spPr>
          <a:xfrm>
            <a:off x="1325880" y="4727448"/>
            <a:ext cx="10134295" cy="365760"/>
          </a:xfrm>
          <a:prstGeom prst="rect">
            <a:avLst/>
          </a:prstGeom>
          <a:noFill/>
          <a:ln/>
        </p:spPr>
        <p:txBody>
          <a:bodyPr wrap="square" lIns="0" tIns="0" rIns="0" bIns="0" rtlCol="0" anchor="ctr">
            <a:normAutofit/>
          </a:bodyPr>
          <a:lstStyle/>
          <a:p>
            <a:pPr indent="0" marL="0">
              <a:buNone/>
            </a:pPr>
            <a:r>
              <a:rPr lang="en-US" sz="1900" b="1" dirty="0">
                <a:solidFill>
                  <a:srgbClr val="222222"/>
                </a:solidFill>
                <a:latin typeface="Meiryo" pitchFamily="34" charset="0"/>
                <a:ea typeface="Meiryo" pitchFamily="34" charset="-122"/>
                <a:cs typeface="Meiryo" pitchFamily="34" charset="-120"/>
              </a:rPr>
              <a:t>自分の型を見つけて、それをつくる</a:t>
            </a:r>
            <a:endParaRPr lang="en-US" sz="1900" dirty="0"/>
          </a:p>
        </p:txBody>
      </p:sp>
      <p:sp>
        <p:nvSpPr>
          <p:cNvPr id="18" name="Text 16"/>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④「自分は何ができるのか」を、私はいちばん最後にしました。</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第3部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なぜ④を最後にしたのか</a:t>
            </a:r>
            <a:endParaRPr lang="en-US" sz="3000" dirty="0"/>
          </a:p>
        </p:txBody>
      </p:sp>
      <p:sp>
        <p:nvSpPr>
          <p:cNvPr id="4" name="Shape 2"/>
          <p:cNvSpPr/>
          <p:nvPr/>
        </p:nvSpPr>
        <p:spPr>
          <a:xfrm>
            <a:off x="640080" y="2011680"/>
            <a:ext cx="5318608" cy="2743200"/>
          </a:xfrm>
          <a:prstGeom prst="roundRect">
            <a:avLst>
              <a:gd name="adj" fmla="val 2667"/>
            </a:avLst>
          </a:prstGeom>
          <a:solidFill>
            <a:srgbClr val="F2F5FB"/>
          </a:solidFill>
          <a:ln w="12700">
            <a:solidFill>
              <a:srgbClr val="F2F5FB"/>
            </a:solidFill>
            <a:prstDash val="solid"/>
          </a:ln>
        </p:spPr>
      </p:sp>
      <p:sp>
        <p:nvSpPr>
          <p:cNvPr id="5" name="Text 3"/>
          <p:cNvSpPr txBox="1"/>
          <p:nvPr/>
        </p:nvSpPr>
        <p:spPr>
          <a:xfrm>
            <a:off x="896112" y="226771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多くの人は④から行こうとする</a:t>
            </a:r>
            <a:endParaRPr lang="en-US" sz="1800" dirty="0"/>
          </a:p>
        </p:txBody>
      </p:sp>
      <p:sp>
        <p:nvSpPr>
          <p:cNvPr id="6" name="Text 4"/>
          <p:cNvSpPr txBox="1"/>
          <p:nvPr/>
        </p:nvSpPr>
        <p:spPr>
          <a:xfrm>
            <a:off x="896112" y="2926080"/>
            <a:ext cx="4806544" cy="155448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「自分の型を見つけてから独立しよう」「尖ってから始めよう」。</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これは思い込みだと、私は思っています。</a:t>
            </a:r>
            <a:endParaRPr lang="en-US" sz="1300" dirty="0"/>
          </a:p>
        </p:txBody>
      </p:sp>
      <p:sp>
        <p:nvSpPr>
          <p:cNvPr id="7" name="Shape 5"/>
          <p:cNvSpPr/>
          <p:nvPr/>
        </p:nvSpPr>
        <p:spPr>
          <a:xfrm>
            <a:off x="6233008" y="2011680"/>
            <a:ext cx="5318608" cy="2743200"/>
          </a:xfrm>
          <a:prstGeom prst="roundRect">
            <a:avLst>
              <a:gd name="adj" fmla="val 2667"/>
            </a:avLst>
          </a:prstGeom>
          <a:solidFill>
            <a:srgbClr val="F2F5FB"/>
          </a:solidFill>
          <a:ln w="12700">
            <a:solidFill>
              <a:srgbClr val="F2F5FB"/>
            </a:solidFill>
            <a:prstDash val="solid"/>
          </a:ln>
        </p:spPr>
      </p:sp>
      <p:sp>
        <p:nvSpPr>
          <p:cNvPr id="8" name="Text 6"/>
          <p:cNvSpPr txBox="1"/>
          <p:nvPr/>
        </p:nvSpPr>
        <p:spPr>
          <a:xfrm>
            <a:off x="6489040" y="226771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過程をトレースするほうが近道</a:t>
            </a:r>
            <a:endParaRPr lang="en-US" sz="1800" dirty="0"/>
          </a:p>
        </p:txBody>
      </p:sp>
      <p:sp>
        <p:nvSpPr>
          <p:cNvPr id="9" name="Text 7"/>
          <p:cNvSpPr txBox="1"/>
          <p:nvPr/>
        </p:nvSpPr>
        <p:spPr>
          <a:xfrm>
            <a:off x="6489040" y="2926080"/>
            <a:ext cx="4806544" cy="155448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独立して全員がうまくいくわけではありません。</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うまくいった人の「今」から成功要因を見出すのは難しい。成功するまでの過程を辿るほうが近道です。</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640080" y="2286000"/>
            <a:ext cx="1005840" cy="1005840"/>
          </a:xfrm>
          <a:prstGeom prst="ellipse">
            <a:avLst/>
          </a:prstGeom>
          <a:solidFill>
            <a:srgbClr val="C08A2E"/>
          </a:solidFill>
          <a:ln w="12700">
            <a:solidFill>
              <a:srgbClr val="C08A2E"/>
            </a:solidFill>
            <a:prstDash val="solid"/>
          </a:ln>
        </p:spPr>
      </p:sp>
      <p:sp>
        <p:nvSpPr>
          <p:cNvPr id="3" name="Text 1"/>
          <p:cNvSpPr txBox="1"/>
          <p:nvPr/>
        </p:nvSpPr>
        <p:spPr>
          <a:xfrm>
            <a:off x="640080" y="2286000"/>
            <a:ext cx="1005840" cy="1005840"/>
          </a:xfrm>
          <a:prstGeom prst="rect">
            <a:avLst/>
          </a:prstGeom>
          <a:noFill/>
          <a:ln/>
        </p:spPr>
        <p:txBody>
          <a:bodyPr wrap="square" lIns="0" tIns="0" rIns="0" bIns="0" rtlCol="0" anchor="ctr"/>
          <a:lstStyle/>
          <a:p>
            <a:pPr algn="ctr" indent="0" marL="0">
              <a:buNone/>
            </a:pPr>
            <a:r>
              <a:rPr lang="en-US" sz="3400" b="1" dirty="0">
                <a:solidFill>
                  <a:srgbClr val="FFFFFF"/>
                </a:solidFill>
                <a:latin typeface="Meiryo" pitchFamily="34" charset="0"/>
                <a:ea typeface="Meiryo" pitchFamily="34" charset="-122"/>
                <a:cs typeface="Meiryo" pitchFamily="34" charset="-120"/>
              </a:rPr>
              <a:t>4</a:t>
            </a:r>
            <a:endParaRPr lang="en-US" sz="3400" dirty="0"/>
          </a:p>
        </p:txBody>
      </p:sp>
      <p:sp>
        <p:nvSpPr>
          <p:cNvPr id="4" name="Text 2"/>
          <p:cNvSpPr txBox="1"/>
          <p:nvPr/>
        </p:nvSpPr>
        <p:spPr>
          <a:xfrm>
            <a:off x="2011680" y="2240280"/>
            <a:ext cx="9539935" cy="91440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Meiryo" pitchFamily="34" charset="0"/>
                <a:ea typeface="Meiryo" pitchFamily="34" charset="-122"/>
                <a:cs typeface="Meiryo" pitchFamily="34" charset="-120"/>
              </a:rPr>
              <a:t>私の売上を、全部お見せします</a:t>
            </a:r>
            <a:endParaRPr lang="en-US" sz="3400" dirty="0"/>
          </a:p>
        </p:txBody>
      </p:sp>
      <p:sp>
        <p:nvSpPr>
          <p:cNvPr id="5" name="Text 3"/>
          <p:cNvSpPr txBox="1"/>
          <p:nvPr/>
        </p:nvSpPr>
        <p:spPr>
          <a:xfrm>
            <a:off x="2011680" y="3246120"/>
            <a:ext cx="9539935" cy="731520"/>
          </a:xfrm>
          <a:prstGeom prst="rect">
            <a:avLst/>
          </a:prstGeom>
          <a:noFill/>
          <a:ln/>
        </p:spPr>
        <p:txBody>
          <a:bodyPr wrap="square" lIns="0" tIns="0" rIns="0" bIns="0" rtlCol="0" anchor="ctr">
            <a:normAutofit/>
          </a:bodyPr>
          <a:lstStyle/>
          <a:p>
            <a:pPr indent="0" marL="0">
              <a:buNone/>
            </a:pPr>
            <a:r>
              <a:rPr lang="en-US" sz="1600" dirty="0">
                <a:solidFill>
                  <a:srgbClr val="CADCFC"/>
                </a:solidFill>
                <a:latin typeface="Meiryo" pitchFamily="34" charset="0"/>
                <a:ea typeface="Meiryo" pitchFamily="34" charset="-122"/>
                <a:cs typeface="Meiryo" pitchFamily="34" charset="-120"/>
              </a:rPr>
              <a:t>14:12-14:30／18分　独立2年間の月次売上</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第4部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出発点：会社員時代の年収</a:t>
            </a:r>
            <a:endParaRPr lang="en-US" sz="3000" dirty="0"/>
          </a:p>
        </p:txBody>
      </p:sp>
      <p:sp>
        <p:nvSpPr>
          <p:cNvPr id="4" name="Shape 2"/>
          <p:cNvSpPr/>
          <p:nvPr/>
        </p:nvSpPr>
        <p:spPr>
          <a:xfrm>
            <a:off x="640080" y="2011680"/>
            <a:ext cx="3291840" cy="2194560"/>
          </a:xfrm>
          <a:prstGeom prst="roundRect">
            <a:avLst>
              <a:gd name="adj" fmla="val 3333"/>
            </a:avLst>
          </a:prstGeom>
          <a:solidFill>
            <a:srgbClr val="F2F5FB"/>
          </a:solidFill>
          <a:ln w="12700">
            <a:solidFill>
              <a:srgbClr val="F2F5FB"/>
            </a:solidFill>
            <a:prstDash val="solid"/>
          </a:ln>
        </p:spPr>
      </p:sp>
      <p:sp>
        <p:nvSpPr>
          <p:cNvPr id="5" name="Text 3"/>
          <p:cNvSpPr txBox="1"/>
          <p:nvPr/>
        </p:nvSpPr>
        <p:spPr>
          <a:xfrm>
            <a:off x="914400" y="2240280"/>
            <a:ext cx="2743200" cy="365760"/>
          </a:xfrm>
          <a:prstGeom prst="rect">
            <a:avLst/>
          </a:prstGeom>
          <a:noFill/>
          <a:ln/>
        </p:spPr>
        <p:txBody>
          <a:bodyPr wrap="square" lIns="0" tIns="0" rIns="0" bIns="0" rtlCol="0" anchor="ctr"/>
          <a:lstStyle/>
          <a:p>
            <a:pPr indent="0" marL="0">
              <a:buNone/>
            </a:pPr>
            <a:r>
              <a:rPr lang="en-US" sz="1400" dirty="0">
                <a:solidFill>
                  <a:srgbClr val="666666"/>
                </a:solidFill>
                <a:latin typeface="Meiryo" pitchFamily="34" charset="0"/>
                <a:ea typeface="Meiryo" pitchFamily="34" charset="-122"/>
                <a:cs typeface="Meiryo" pitchFamily="34" charset="-120"/>
              </a:rPr>
              <a:t>会社員時代の年収</a:t>
            </a:r>
            <a:endParaRPr lang="en-US" sz="1400" dirty="0"/>
          </a:p>
        </p:txBody>
      </p:sp>
      <p:sp>
        <p:nvSpPr>
          <p:cNvPr id="6" name="Text 4"/>
          <p:cNvSpPr txBox="1"/>
          <p:nvPr/>
        </p:nvSpPr>
        <p:spPr>
          <a:xfrm>
            <a:off x="914400" y="2651760"/>
            <a:ext cx="2743200" cy="822960"/>
          </a:xfrm>
          <a:prstGeom prst="rect">
            <a:avLst/>
          </a:prstGeom>
          <a:noFill/>
          <a:ln/>
        </p:spPr>
        <p:txBody>
          <a:bodyPr wrap="square" lIns="0" tIns="0" rIns="0" bIns="0" rtlCol="0" anchor="ctr">
            <a:normAutofit/>
          </a:bodyPr>
          <a:lstStyle/>
          <a:p>
            <a:pPr indent="0" marL="0">
              <a:buNone/>
            </a:pPr>
            <a:r>
              <a:rPr lang="en-US" sz="3600" b="1" dirty="0">
                <a:solidFill>
                  <a:srgbClr val="1E2761"/>
                </a:solidFill>
                <a:latin typeface="Meiryo" pitchFamily="34" charset="0"/>
                <a:ea typeface="Meiryo" pitchFamily="34" charset="-122"/>
                <a:cs typeface="Meiryo" pitchFamily="34" charset="-120"/>
              </a:rPr>
              <a:t>1,200万円</a:t>
            </a:r>
            <a:endParaRPr lang="en-US" sz="3600" dirty="0"/>
          </a:p>
        </p:txBody>
      </p:sp>
      <p:sp>
        <p:nvSpPr>
          <p:cNvPr id="7" name="Text 5"/>
          <p:cNvSpPr txBox="1"/>
          <p:nvPr/>
        </p:nvSpPr>
        <p:spPr>
          <a:xfrm>
            <a:off x="914400" y="3520440"/>
            <a:ext cx="2743200" cy="502920"/>
          </a:xfrm>
          <a:prstGeom prst="rect">
            <a:avLst/>
          </a:prstGeom>
          <a:noFill/>
          <a:ln/>
        </p:spPr>
        <p:txBody>
          <a:bodyPr wrap="square" lIns="0" tIns="0" rIns="0" bIns="0" rtlCol="0" anchor="ctr">
            <a:normAutofit/>
          </a:bodyPr>
          <a:lstStyle/>
          <a:p>
            <a:pPr indent="0" marL="0">
              <a:buNone/>
            </a:pPr>
            <a:r>
              <a:rPr lang="en-US" sz="1300" dirty="0">
                <a:solidFill>
                  <a:srgbClr val="666666"/>
                </a:solidFill>
                <a:latin typeface="Meiryo" pitchFamily="34" charset="0"/>
                <a:ea typeface="Meiryo" pitchFamily="34" charset="-122"/>
                <a:cs typeface="Meiryo" pitchFamily="34" charset="-120"/>
              </a:rPr>
              <a:t>リコージャパン</a:t>
            </a:r>
            <a:endParaRPr lang="en-US" sz="1300" dirty="0"/>
          </a:p>
        </p:txBody>
      </p:sp>
      <p:sp>
        <p:nvSpPr>
          <p:cNvPr id="8" name="Shape 6"/>
          <p:cNvSpPr/>
          <p:nvPr/>
        </p:nvSpPr>
        <p:spPr>
          <a:xfrm>
            <a:off x="4343400" y="2011680"/>
            <a:ext cx="3291840" cy="2194560"/>
          </a:xfrm>
          <a:prstGeom prst="roundRect">
            <a:avLst>
              <a:gd name="adj" fmla="val 3333"/>
            </a:avLst>
          </a:prstGeom>
          <a:solidFill>
            <a:srgbClr val="F2F5FB"/>
          </a:solidFill>
          <a:ln w="12700">
            <a:solidFill>
              <a:srgbClr val="F2F5FB"/>
            </a:solidFill>
            <a:prstDash val="solid"/>
          </a:ln>
        </p:spPr>
      </p:sp>
      <p:sp>
        <p:nvSpPr>
          <p:cNvPr id="9" name="Text 7"/>
          <p:cNvSpPr txBox="1"/>
          <p:nvPr/>
        </p:nvSpPr>
        <p:spPr>
          <a:xfrm>
            <a:off x="4617720" y="2240280"/>
            <a:ext cx="2743200" cy="365760"/>
          </a:xfrm>
          <a:prstGeom prst="rect">
            <a:avLst/>
          </a:prstGeom>
          <a:noFill/>
          <a:ln/>
        </p:spPr>
        <p:txBody>
          <a:bodyPr wrap="square" lIns="0" tIns="0" rIns="0" bIns="0" rtlCol="0" anchor="ctr"/>
          <a:lstStyle/>
          <a:p>
            <a:pPr indent="0" marL="0">
              <a:buNone/>
            </a:pPr>
            <a:r>
              <a:rPr lang="en-US" sz="1400" dirty="0">
                <a:solidFill>
                  <a:srgbClr val="666666"/>
                </a:solidFill>
                <a:latin typeface="Meiryo" pitchFamily="34" charset="0"/>
                <a:ea typeface="Meiryo" pitchFamily="34" charset="-122"/>
                <a:cs typeface="Meiryo" pitchFamily="34" charset="-120"/>
              </a:rPr>
              <a:t>副業</a:t>
            </a:r>
            <a:endParaRPr lang="en-US" sz="1400" dirty="0"/>
          </a:p>
        </p:txBody>
      </p:sp>
      <p:sp>
        <p:nvSpPr>
          <p:cNvPr id="10" name="Text 8"/>
          <p:cNvSpPr txBox="1"/>
          <p:nvPr/>
        </p:nvSpPr>
        <p:spPr>
          <a:xfrm>
            <a:off x="4617720" y="2651760"/>
            <a:ext cx="2743200" cy="822960"/>
          </a:xfrm>
          <a:prstGeom prst="rect">
            <a:avLst/>
          </a:prstGeom>
          <a:noFill/>
          <a:ln/>
        </p:spPr>
        <p:txBody>
          <a:bodyPr wrap="square" lIns="0" tIns="0" rIns="0" bIns="0" rtlCol="0" anchor="ctr">
            <a:normAutofit/>
          </a:bodyPr>
          <a:lstStyle/>
          <a:p>
            <a:pPr indent="0" marL="0">
              <a:buNone/>
            </a:pPr>
            <a:r>
              <a:rPr lang="en-US" sz="3600" b="1" dirty="0">
                <a:solidFill>
                  <a:srgbClr val="1E2761"/>
                </a:solidFill>
                <a:latin typeface="Meiryo" pitchFamily="34" charset="0"/>
                <a:ea typeface="Meiryo" pitchFamily="34" charset="-122"/>
                <a:cs typeface="Meiryo" pitchFamily="34" charset="-120"/>
              </a:rPr>
              <a:t>120万円</a:t>
            </a:r>
            <a:endParaRPr lang="en-US" sz="3600" dirty="0"/>
          </a:p>
        </p:txBody>
      </p:sp>
      <p:sp>
        <p:nvSpPr>
          <p:cNvPr id="11" name="Text 9"/>
          <p:cNvSpPr txBox="1"/>
          <p:nvPr/>
        </p:nvSpPr>
        <p:spPr>
          <a:xfrm>
            <a:off x="4617720" y="3520440"/>
            <a:ext cx="2743200" cy="502920"/>
          </a:xfrm>
          <a:prstGeom prst="rect">
            <a:avLst/>
          </a:prstGeom>
          <a:noFill/>
          <a:ln/>
        </p:spPr>
        <p:txBody>
          <a:bodyPr wrap="square" lIns="0" tIns="0" rIns="0" bIns="0" rtlCol="0" anchor="ctr">
            <a:normAutofit/>
          </a:bodyPr>
          <a:lstStyle/>
          <a:p>
            <a:pPr indent="0" marL="0">
              <a:buNone/>
            </a:pPr>
            <a:r>
              <a:rPr lang="en-US" sz="1300" dirty="0">
                <a:solidFill>
                  <a:srgbClr val="666666"/>
                </a:solidFill>
                <a:latin typeface="Meiryo" pitchFamily="34" charset="0"/>
                <a:ea typeface="Meiryo" pitchFamily="34" charset="-122"/>
                <a:cs typeface="Meiryo" pitchFamily="34" charset="-120"/>
              </a:rPr>
              <a:t>会社員のかたわら</a:t>
            </a:r>
            <a:endParaRPr lang="en-US" sz="1300" dirty="0"/>
          </a:p>
        </p:txBody>
      </p:sp>
      <p:sp>
        <p:nvSpPr>
          <p:cNvPr id="12" name="Shape 10"/>
          <p:cNvSpPr/>
          <p:nvPr/>
        </p:nvSpPr>
        <p:spPr>
          <a:xfrm>
            <a:off x="8046720" y="2011680"/>
            <a:ext cx="3291840" cy="2194560"/>
          </a:xfrm>
          <a:prstGeom prst="roundRect">
            <a:avLst>
              <a:gd name="adj" fmla="val 3333"/>
            </a:avLst>
          </a:prstGeom>
          <a:solidFill>
            <a:srgbClr val="F2F5FB"/>
          </a:solidFill>
          <a:ln w="12700">
            <a:solidFill>
              <a:srgbClr val="F2F5FB"/>
            </a:solidFill>
            <a:prstDash val="solid"/>
          </a:ln>
        </p:spPr>
      </p:sp>
      <p:sp>
        <p:nvSpPr>
          <p:cNvPr id="13" name="Text 11"/>
          <p:cNvSpPr txBox="1"/>
          <p:nvPr/>
        </p:nvSpPr>
        <p:spPr>
          <a:xfrm>
            <a:off x="8321040" y="2240280"/>
            <a:ext cx="2743200" cy="365760"/>
          </a:xfrm>
          <a:prstGeom prst="rect">
            <a:avLst/>
          </a:prstGeom>
          <a:noFill/>
          <a:ln/>
        </p:spPr>
        <p:txBody>
          <a:bodyPr wrap="square" lIns="0" tIns="0" rIns="0" bIns="0" rtlCol="0" anchor="ctr"/>
          <a:lstStyle/>
          <a:p>
            <a:pPr indent="0" marL="0">
              <a:buNone/>
            </a:pPr>
            <a:r>
              <a:rPr lang="en-US" sz="1400" dirty="0">
                <a:solidFill>
                  <a:srgbClr val="666666"/>
                </a:solidFill>
                <a:latin typeface="Meiryo" pitchFamily="34" charset="0"/>
                <a:ea typeface="Meiryo" pitchFamily="34" charset="-122"/>
                <a:cs typeface="Meiryo" pitchFamily="34" charset="-120"/>
              </a:rPr>
              <a:t>独立後の目標（2倍）</a:t>
            </a:r>
            <a:endParaRPr lang="en-US" sz="1400" dirty="0"/>
          </a:p>
        </p:txBody>
      </p:sp>
      <p:sp>
        <p:nvSpPr>
          <p:cNvPr id="14" name="Text 12"/>
          <p:cNvSpPr txBox="1"/>
          <p:nvPr/>
        </p:nvSpPr>
        <p:spPr>
          <a:xfrm>
            <a:off x="8321040" y="2651760"/>
            <a:ext cx="2743200" cy="822960"/>
          </a:xfrm>
          <a:prstGeom prst="rect">
            <a:avLst/>
          </a:prstGeom>
          <a:noFill/>
          <a:ln/>
        </p:spPr>
        <p:txBody>
          <a:bodyPr wrap="square" lIns="0" tIns="0" rIns="0" bIns="0" rtlCol="0" anchor="ctr">
            <a:normAutofit/>
          </a:bodyPr>
          <a:lstStyle/>
          <a:p>
            <a:pPr indent="0" marL="0">
              <a:buNone/>
            </a:pPr>
            <a:r>
              <a:rPr lang="en-US" sz="3600" b="1" dirty="0">
                <a:solidFill>
                  <a:srgbClr val="1E2761"/>
                </a:solidFill>
                <a:latin typeface="Meiryo" pitchFamily="34" charset="0"/>
                <a:ea typeface="Meiryo" pitchFamily="34" charset="-122"/>
                <a:cs typeface="Meiryo" pitchFamily="34" charset="-120"/>
              </a:rPr>
              <a:t>2,400万円</a:t>
            </a:r>
            <a:endParaRPr lang="en-US" sz="3600" dirty="0"/>
          </a:p>
        </p:txBody>
      </p:sp>
      <p:sp>
        <p:nvSpPr>
          <p:cNvPr id="15" name="Text 13"/>
          <p:cNvSpPr txBox="1"/>
          <p:nvPr/>
        </p:nvSpPr>
        <p:spPr>
          <a:xfrm>
            <a:off x="8321040" y="3520440"/>
            <a:ext cx="2743200" cy="502920"/>
          </a:xfrm>
          <a:prstGeom prst="rect">
            <a:avLst/>
          </a:prstGeom>
          <a:noFill/>
          <a:ln/>
        </p:spPr>
        <p:txBody>
          <a:bodyPr wrap="square" lIns="0" tIns="0" rIns="0" bIns="0" rtlCol="0" anchor="ctr">
            <a:normAutofit/>
          </a:bodyPr>
          <a:lstStyle/>
          <a:p>
            <a:pPr indent="0" marL="0">
              <a:buNone/>
            </a:pPr>
            <a:r>
              <a:rPr lang="en-US" sz="1300" dirty="0">
                <a:solidFill>
                  <a:srgbClr val="666666"/>
                </a:solidFill>
                <a:latin typeface="Meiryo" pitchFamily="34" charset="0"/>
                <a:ea typeface="Meiryo" pitchFamily="34" charset="-122"/>
                <a:cs typeface="Meiryo" pitchFamily="34" charset="-120"/>
              </a:rPr>
              <a:t>成功の定義①として設定</a:t>
            </a:r>
            <a:endParaRPr lang="en-US" sz="1300" dirty="0"/>
          </a:p>
        </p:txBody>
      </p:sp>
      <p:sp>
        <p:nvSpPr>
          <p:cNvPr id="16" name="Text 14"/>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この2,400万円を、独立の目標に置きました。</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第4部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独立1年目（2024年9月〜2025年8月）</a:t>
            </a:r>
            <a:endParaRPr lang="en-US" sz="3000" dirty="0"/>
          </a:p>
        </p:txBody>
      </p:sp>
      <p:graphicFrame>
        <p:nvGraphicFramePr>
          <p:cNvPr id="4" name="Chart 0" descr=""/>
          <p:cNvGraphicFramePr/>
          <p:nvPr/>
        </p:nvGraphicFramePr>
        <p:xfrm>
          <a:off x="640080" y="1600200"/>
          <a:ext cx="10911535"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40080" y="1371600"/>
            <a:ext cx="1371600" cy="274320"/>
          </a:xfrm>
          <a:prstGeom prst="rect">
            <a:avLst/>
          </a:prstGeom>
          <a:noFill/>
          <a:ln/>
        </p:spPr>
        <p:txBody>
          <a:bodyPr wrap="square" lIns="0" tIns="0" rIns="0" bIns="0" rtlCol="0" anchor="ctr"/>
          <a:lstStyle/>
          <a:p>
            <a:pPr indent="0" marL="0">
              <a:buNone/>
            </a:pPr>
            <a:r>
              <a:rPr lang="en-US" sz="1200" dirty="0">
                <a:solidFill>
                  <a:srgbClr val="666666"/>
                </a:solidFill>
                <a:latin typeface="Meiryo" pitchFamily="34" charset="0"/>
                <a:ea typeface="Meiryo" pitchFamily="34" charset="-122"/>
                <a:cs typeface="Meiryo" pitchFamily="34" charset="-120"/>
              </a:rPr>
              <a:t>（万円）</a:t>
            </a:r>
            <a:endParaRPr lang="en-US" sz="1200" dirty="0"/>
          </a:p>
        </p:txBody>
      </p:sp>
      <p:sp>
        <p:nvSpPr>
          <p:cNvPr id="6" name="Text 3"/>
          <p:cNvSpPr txBox="1"/>
          <p:nvPr/>
        </p:nvSpPr>
        <p:spPr>
          <a:xfrm>
            <a:off x="640080" y="5349240"/>
            <a:ext cx="10911535" cy="54864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Meiryo" pitchFamily="34" charset="0"/>
                <a:ea typeface="Meiryo" pitchFamily="34" charset="-122"/>
                <a:cs typeface="Meiryo" pitchFamily="34" charset="-120"/>
              </a:rPr>
              <a:t>年間合計　18,804,829円　／　初月75万円 → 12か月目200万円</a:t>
            </a:r>
            <a:endParaRPr lang="en-US" sz="2000" dirty="0"/>
          </a:p>
        </p:txBody>
      </p:sp>
      <p:sp>
        <p:nvSpPr>
          <p:cNvPr id="7" name="Text 4"/>
          <p:cNvSpPr txBox="1"/>
          <p:nvPr/>
        </p:nvSpPr>
        <p:spPr>
          <a:xfrm>
            <a:off x="640080" y="5943600"/>
            <a:ext cx="10911535" cy="365760"/>
          </a:xfrm>
          <a:prstGeom prst="rect">
            <a:avLst/>
          </a:prstGeom>
          <a:noFill/>
          <a:ln/>
        </p:spPr>
        <p:txBody>
          <a:bodyPr wrap="square" lIns="0" tIns="0" rIns="0" bIns="0" rtlCol="0" anchor="ctr"/>
          <a:lstStyle/>
          <a:p>
            <a:pPr indent="0" marL="0">
              <a:buNone/>
            </a:pPr>
            <a:r>
              <a:rPr lang="en-US" sz="1300" dirty="0">
                <a:solidFill>
                  <a:srgbClr val="666666"/>
                </a:solidFill>
                <a:latin typeface="Meiryo" pitchFamily="34" charset="0"/>
                <a:ea typeface="Meiryo" pitchFamily="34" charset="-122"/>
                <a:cs typeface="Meiryo" pitchFamily="34" charset="-120"/>
              </a:rPr>
              <a:t>これは売上です。ここから経費を引きます。</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第4部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独立2年目（2025年9月〜2026年8月）</a:t>
            </a:r>
            <a:endParaRPr lang="en-US" sz="3000" dirty="0"/>
          </a:p>
        </p:txBody>
      </p:sp>
      <p:graphicFrame>
        <p:nvGraphicFramePr>
          <p:cNvPr id="4" name="Chart 0" descr=""/>
          <p:cNvGraphicFramePr/>
          <p:nvPr/>
        </p:nvGraphicFramePr>
        <p:xfrm>
          <a:off x="640080" y="1600200"/>
          <a:ext cx="10911535"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40080" y="1371600"/>
            <a:ext cx="1371600" cy="274320"/>
          </a:xfrm>
          <a:prstGeom prst="rect">
            <a:avLst/>
          </a:prstGeom>
          <a:noFill/>
          <a:ln/>
        </p:spPr>
        <p:txBody>
          <a:bodyPr wrap="square" lIns="0" tIns="0" rIns="0" bIns="0" rtlCol="0" anchor="ctr"/>
          <a:lstStyle/>
          <a:p>
            <a:pPr indent="0" marL="0">
              <a:buNone/>
            </a:pPr>
            <a:r>
              <a:rPr lang="en-US" sz="1200" dirty="0">
                <a:solidFill>
                  <a:srgbClr val="666666"/>
                </a:solidFill>
                <a:latin typeface="Meiryo" pitchFamily="34" charset="0"/>
                <a:ea typeface="Meiryo" pitchFamily="34" charset="-122"/>
                <a:cs typeface="Meiryo" pitchFamily="34" charset="-120"/>
              </a:rPr>
              <a:t>（万円）</a:t>
            </a:r>
            <a:endParaRPr lang="en-US" sz="1200" dirty="0"/>
          </a:p>
        </p:txBody>
      </p:sp>
      <p:sp>
        <p:nvSpPr>
          <p:cNvPr id="6" name="Text 3"/>
          <p:cNvSpPr txBox="1"/>
          <p:nvPr/>
        </p:nvSpPr>
        <p:spPr>
          <a:xfrm>
            <a:off x="640080" y="5349240"/>
            <a:ext cx="10911535" cy="54864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Meiryo" pitchFamily="34" charset="0"/>
                <a:ea typeface="Meiryo" pitchFamily="34" charset="-122"/>
                <a:cs typeface="Meiryo" pitchFamily="34" charset="-120"/>
              </a:rPr>
              <a:t>年間合計　25,064,699円　／　月平均 約209万円で安定</a:t>
            </a:r>
            <a:endParaRPr lang="en-US" sz="2000" dirty="0"/>
          </a:p>
        </p:txBody>
      </p:sp>
      <p:sp>
        <p:nvSpPr>
          <p:cNvPr id="7" name="Text 4"/>
          <p:cNvSpPr txBox="1"/>
          <p:nvPr/>
        </p:nvSpPr>
        <p:spPr>
          <a:xfrm>
            <a:off x="640080" y="5943600"/>
            <a:ext cx="10911535" cy="365760"/>
          </a:xfrm>
          <a:prstGeom prst="rect">
            <a:avLst/>
          </a:prstGeom>
          <a:noFill/>
          <a:ln/>
        </p:spPr>
        <p:txBody>
          <a:bodyPr wrap="square" lIns="0" tIns="0" rIns="0" bIns="0" rtlCol="0" anchor="ctr">
            <a:normAutofit/>
          </a:bodyPr>
          <a:lstStyle/>
          <a:p>
            <a:pPr indent="0" marL="0">
              <a:buNone/>
            </a:pPr>
            <a:r>
              <a:rPr lang="en-US" sz="1300" dirty="0">
                <a:solidFill>
                  <a:srgbClr val="666666"/>
                </a:solidFill>
                <a:latin typeface="Meiryo" pitchFamily="34" charset="0"/>
                <a:ea typeface="Meiryo" pitchFamily="34" charset="-122"/>
                <a:cs typeface="Meiryo" pitchFamily="34" charset="-120"/>
              </a:rPr>
              <a:t>1月に計上された年間契約660万円は、実態に合わせて12か月に55万円ずつ均しています。</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第4部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売上は、3つの柱でできています</a:t>
            </a:r>
            <a:endParaRPr lang="en-US" sz="3000" dirty="0"/>
          </a:p>
        </p:txBody>
      </p:sp>
      <p:sp>
        <p:nvSpPr>
          <p:cNvPr id="4" name="Shape 2"/>
          <p:cNvSpPr/>
          <p:nvPr/>
        </p:nvSpPr>
        <p:spPr>
          <a:xfrm>
            <a:off x="640080" y="2011680"/>
            <a:ext cx="4364614" cy="1371600"/>
          </a:xfrm>
          <a:prstGeom prst="rect">
            <a:avLst/>
          </a:prstGeom>
          <a:solidFill>
            <a:srgbClr val="1E2761"/>
          </a:solidFill>
          <a:ln w="25400">
            <a:solidFill>
              <a:srgbClr val="FFFFFF"/>
            </a:solidFill>
            <a:prstDash val="solid"/>
          </a:ln>
        </p:spPr>
      </p:sp>
      <p:sp>
        <p:nvSpPr>
          <p:cNvPr id="5" name="Text 3"/>
          <p:cNvSpPr txBox="1"/>
          <p:nvPr/>
        </p:nvSpPr>
        <p:spPr>
          <a:xfrm>
            <a:off x="777240" y="2148840"/>
            <a:ext cx="4090294" cy="54864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Meiryo" pitchFamily="34" charset="0"/>
                <a:ea typeface="Meiryo" pitchFamily="34" charset="-122"/>
                <a:cs typeface="Meiryo" pitchFamily="34" charset="-120"/>
              </a:rPr>
              <a:t>民間の顧問契約</a:t>
            </a:r>
            <a:endParaRPr lang="en-US" sz="1700" dirty="0"/>
          </a:p>
        </p:txBody>
      </p:sp>
      <p:sp>
        <p:nvSpPr>
          <p:cNvPr id="6" name="Text 4"/>
          <p:cNvSpPr txBox="1"/>
          <p:nvPr/>
        </p:nvSpPr>
        <p:spPr>
          <a:xfrm>
            <a:off x="777240" y="2697480"/>
            <a:ext cx="4090294"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Meiryo" pitchFamily="34" charset="0"/>
                <a:ea typeface="Meiryo" pitchFamily="34" charset="-122"/>
                <a:cs typeface="Meiryo" pitchFamily="34" charset="-120"/>
              </a:rPr>
              <a:t>2</a:t>
            </a:r>
            <a:endParaRPr lang="en-US" sz="2600" dirty="0"/>
          </a:p>
        </p:txBody>
      </p:sp>
      <p:sp>
        <p:nvSpPr>
          <p:cNvPr id="7" name="Shape 5"/>
          <p:cNvSpPr/>
          <p:nvPr/>
        </p:nvSpPr>
        <p:spPr>
          <a:xfrm>
            <a:off x="5004694" y="2011680"/>
            <a:ext cx="4364614" cy="1371600"/>
          </a:xfrm>
          <a:prstGeom prst="rect">
            <a:avLst/>
          </a:prstGeom>
          <a:solidFill>
            <a:srgbClr val="C08A2E"/>
          </a:solidFill>
          <a:ln w="25400">
            <a:solidFill>
              <a:srgbClr val="FFFFFF"/>
            </a:solidFill>
            <a:prstDash val="solid"/>
          </a:ln>
        </p:spPr>
      </p:sp>
      <p:sp>
        <p:nvSpPr>
          <p:cNvPr id="8" name="Text 6"/>
          <p:cNvSpPr txBox="1"/>
          <p:nvPr/>
        </p:nvSpPr>
        <p:spPr>
          <a:xfrm>
            <a:off x="5141854" y="2148840"/>
            <a:ext cx="4090294" cy="54864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Meiryo" pitchFamily="34" charset="0"/>
                <a:ea typeface="Meiryo" pitchFamily="34" charset="-122"/>
                <a:cs typeface="Meiryo" pitchFamily="34" charset="-120"/>
              </a:rPr>
              <a:t>公的支援</a:t>
            </a:r>
            <a:endParaRPr lang="en-US" sz="1700" dirty="0"/>
          </a:p>
        </p:txBody>
      </p:sp>
      <p:sp>
        <p:nvSpPr>
          <p:cNvPr id="9" name="Text 7"/>
          <p:cNvSpPr txBox="1"/>
          <p:nvPr/>
        </p:nvSpPr>
        <p:spPr>
          <a:xfrm>
            <a:off x="5141854" y="2697480"/>
            <a:ext cx="4090294"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Meiryo" pitchFamily="34" charset="0"/>
                <a:ea typeface="Meiryo" pitchFamily="34" charset="-122"/>
                <a:cs typeface="Meiryo" pitchFamily="34" charset="-120"/>
              </a:rPr>
              <a:t>2</a:t>
            </a:r>
            <a:endParaRPr lang="en-US" sz="2600" dirty="0"/>
          </a:p>
        </p:txBody>
      </p:sp>
      <p:sp>
        <p:nvSpPr>
          <p:cNvPr id="10" name="Shape 8"/>
          <p:cNvSpPr/>
          <p:nvPr/>
        </p:nvSpPr>
        <p:spPr>
          <a:xfrm>
            <a:off x="9369308" y="2011680"/>
            <a:ext cx="2182307" cy="1371600"/>
          </a:xfrm>
          <a:prstGeom prst="rect">
            <a:avLst/>
          </a:prstGeom>
          <a:solidFill>
            <a:srgbClr val="CADCFC"/>
          </a:solidFill>
          <a:ln w="25400">
            <a:solidFill>
              <a:srgbClr val="FFFFFF"/>
            </a:solidFill>
            <a:prstDash val="solid"/>
          </a:ln>
        </p:spPr>
      </p:sp>
      <p:sp>
        <p:nvSpPr>
          <p:cNvPr id="11" name="Text 9"/>
          <p:cNvSpPr txBox="1"/>
          <p:nvPr/>
        </p:nvSpPr>
        <p:spPr>
          <a:xfrm>
            <a:off x="9506468" y="2148840"/>
            <a:ext cx="1907987" cy="548640"/>
          </a:xfrm>
          <a:prstGeom prst="rect">
            <a:avLst/>
          </a:prstGeom>
          <a:noFill/>
          <a:ln/>
        </p:spPr>
        <p:txBody>
          <a:bodyPr wrap="square" lIns="0" tIns="0" rIns="0" bIns="0" rtlCol="0" anchor="ctr">
            <a:normAutofit/>
          </a:bodyPr>
          <a:lstStyle/>
          <a:p>
            <a:pPr algn="ctr" indent="0" marL="0">
              <a:buNone/>
            </a:pPr>
            <a:r>
              <a:rPr lang="en-US" sz="1700" b="1" dirty="0">
                <a:solidFill>
                  <a:srgbClr val="1E2761"/>
                </a:solidFill>
                <a:latin typeface="Meiryo" pitchFamily="34" charset="0"/>
                <a:ea typeface="Meiryo" pitchFamily="34" charset="-122"/>
                <a:cs typeface="Meiryo" pitchFamily="34" charset="-120"/>
              </a:rPr>
              <a:t>民間プロジェクト</a:t>
            </a:r>
            <a:endParaRPr lang="en-US" sz="1700" dirty="0"/>
          </a:p>
        </p:txBody>
      </p:sp>
      <p:sp>
        <p:nvSpPr>
          <p:cNvPr id="12" name="Text 10"/>
          <p:cNvSpPr txBox="1"/>
          <p:nvPr/>
        </p:nvSpPr>
        <p:spPr>
          <a:xfrm>
            <a:off x="9506468" y="2697480"/>
            <a:ext cx="1907987" cy="548640"/>
          </a:xfrm>
          <a:prstGeom prst="rect">
            <a:avLst/>
          </a:prstGeom>
          <a:noFill/>
          <a:ln/>
        </p:spPr>
        <p:txBody>
          <a:bodyPr wrap="square" lIns="0" tIns="0" rIns="0" bIns="0" rtlCol="0" anchor="ctr"/>
          <a:lstStyle/>
          <a:p>
            <a:pPr algn="ctr" indent="0" marL="0">
              <a:buNone/>
            </a:pPr>
            <a:r>
              <a:rPr lang="en-US" sz="2600" b="1" dirty="0">
                <a:solidFill>
                  <a:srgbClr val="1E2761"/>
                </a:solidFill>
                <a:latin typeface="Meiryo" pitchFamily="34" charset="0"/>
                <a:ea typeface="Meiryo" pitchFamily="34" charset="-122"/>
                <a:cs typeface="Meiryo" pitchFamily="34" charset="-120"/>
              </a:rPr>
              <a:t>1</a:t>
            </a:r>
            <a:endParaRPr lang="en-US" sz="2600" dirty="0"/>
          </a:p>
        </p:txBody>
      </p:sp>
      <p:sp>
        <p:nvSpPr>
          <p:cNvPr id="13" name="Text 11"/>
          <p:cNvSpPr txBox="1"/>
          <p:nvPr/>
        </p:nvSpPr>
        <p:spPr>
          <a:xfrm>
            <a:off x="640080" y="3749040"/>
            <a:ext cx="10911535" cy="640080"/>
          </a:xfrm>
          <a:prstGeom prst="rect">
            <a:avLst/>
          </a:prstGeom>
          <a:noFill/>
          <a:ln/>
        </p:spPr>
        <p:txBody>
          <a:bodyPr wrap="square" lIns="0" tIns="0" rIns="0" bIns="0" rtlCol="0" anchor="ctr">
            <a:normAutofit/>
          </a:bodyPr>
          <a:lstStyle/>
          <a:p>
            <a:pPr algn="ctr" indent="0" marL="0">
              <a:buNone/>
            </a:pPr>
            <a:r>
              <a:rPr lang="en-US" sz="2400" b="1" dirty="0">
                <a:solidFill>
                  <a:srgbClr val="1E2761"/>
                </a:solidFill>
                <a:latin typeface="Meiryo" pitchFamily="34" charset="0"/>
                <a:ea typeface="Meiryo" pitchFamily="34" charset="-122"/>
                <a:cs typeface="Meiryo" pitchFamily="34" charset="-120"/>
              </a:rPr>
              <a:t>民間の顧問契約 2　：　公的支援 2　：　民間プロジェクト 1</a:t>
            </a:r>
            <a:endParaRPr lang="en-US" sz="2400" dirty="0"/>
          </a:p>
        </p:txBody>
      </p:sp>
      <p:sp>
        <p:nvSpPr>
          <p:cNvPr id="14" name="Shape 12"/>
          <p:cNvSpPr/>
          <p:nvPr/>
        </p:nvSpPr>
        <p:spPr>
          <a:xfrm>
            <a:off x="640080" y="4526280"/>
            <a:ext cx="457200" cy="457200"/>
          </a:xfrm>
          <a:prstGeom prst="ellipse">
            <a:avLst/>
          </a:prstGeom>
          <a:solidFill>
            <a:srgbClr val="1E2761"/>
          </a:solidFill>
          <a:ln w="12700">
            <a:solidFill>
              <a:srgbClr val="1E2761"/>
            </a:solidFill>
            <a:prstDash val="solid"/>
          </a:ln>
        </p:spPr>
      </p:sp>
      <p:sp>
        <p:nvSpPr>
          <p:cNvPr id="15" name="Text 13"/>
          <p:cNvSpPr txBox="1"/>
          <p:nvPr/>
        </p:nvSpPr>
        <p:spPr>
          <a:xfrm>
            <a:off x="640080" y="4526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6" name="Text 14"/>
          <p:cNvSpPr txBox="1"/>
          <p:nvPr/>
        </p:nvSpPr>
        <p:spPr>
          <a:xfrm>
            <a:off x="1325880" y="4498848"/>
            <a:ext cx="10134295" cy="365760"/>
          </a:xfrm>
          <a:prstGeom prst="rect">
            <a:avLst/>
          </a:prstGeom>
          <a:noFill/>
          <a:ln/>
        </p:spPr>
        <p:txBody>
          <a:bodyPr wrap="square" lIns="0" tIns="0" rIns="0" bIns="0" rtlCol="0" anchor="ctr">
            <a:normAutofit/>
          </a:bodyPr>
          <a:lstStyle/>
          <a:p>
            <a:pPr indent="0" marL="0">
              <a:buNone/>
            </a:pPr>
            <a:r>
              <a:rPr lang="en-US" sz="1700" b="1" dirty="0">
                <a:solidFill>
                  <a:srgbClr val="222222"/>
                </a:solidFill>
                <a:latin typeface="Meiryo" pitchFamily="34" charset="0"/>
                <a:ea typeface="Meiryo" pitchFamily="34" charset="-122"/>
                <a:cs typeface="Meiryo" pitchFamily="34" charset="-120"/>
              </a:rPr>
              <a:t>ひとつの柱に依存していない</a:t>
            </a:r>
            <a:endParaRPr lang="en-US" sz="1700" dirty="0"/>
          </a:p>
        </p:txBody>
      </p:sp>
      <p:sp>
        <p:nvSpPr>
          <p:cNvPr id="17" name="Text 15"/>
          <p:cNvSpPr txBox="1"/>
          <p:nvPr/>
        </p:nvSpPr>
        <p:spPr>
          <a:xfrm>
            <a:off x="1325880" y="4855464"/>
            <a:ext cx="10134295" cy="39319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どれかが止まっても、残りで生活が続く状態にしています</a:t>
            </a:r>
            <a:endParaRPr lang="en-US" sz="1400" dirty="0"/>
          </a:p>
        </p:txBody>
      </p:sp>
      <p:sp>
        <p:nvSpPr>
          <p:cNvPr id="18" name="Shape 16"/>
          <p:cNvSpPr/>
          <p:nvPr/>
        </p:nvSpPr>
        <p:spPr>
          <a:xfrm>
            <a:off x="640080" y="5303520"/>
            <a:ext cx="457200" cy="457200"/>
          </a:xfrm>
          <a:prstGeom prst="ellipse">
            <a:avLst/>
          </a:prstGeom>
          <a:solidFill>
            <a:srgbClr val="1E2761"/>
          </a:solidFill>
          <a:ln w="12700">
            <a:solidFill>
              <a:srgbClr val="1E2761"/>
            </a:solidFill>
            <a:prstDash val="solid"/>
          </a:ln>
        </p:spPr>
      </p:sp>
      <p:sp>
        <p:nvSpPr>
          <p:cNvPr id="19" name="Text 17"/>
          <p:cNvSpPr txBox="1"/>
          <p:nvPr/>
        </p:nvSpPr>
        <p:spPr>
          <a:xfrm>
            <a:off x="640080" y="53035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20" name="Text 18"/>
          <p:cNvSpPr txBox="1"/>
          <p:nvPr/>
        </p:nvSpPr>
        <p:spPr>
          <a:xfrm>
            <a:off x="1325880" y="5276088"/>
            <a:ext cx="10134295" cy="365760"/>
          </a:xfrm>
          <a:prstGeom prst="rect">
            <a:avLst/>
          </a:prstGeom>
          <a:noFill/>
          <a:ln/>
        </p:spPr>
        <p:txBody>
          <a:bodyPr wrap="square" lIns="0" tIns="0" rIns="0" bIns="0" rtlCol="0" anchor="ctr">
            <a:normAutofit/>
          </a:bodyPr>
          <a:lstStyle/>
          <a:p>
            <a:pPr indent="0" marL="0">
              <a:buNone/>
            </a:pPr>
            <a:r>
              <a:rPr lang="en-US" sz="1700" b="1" dirty="0">
                <a:solidFill>
                  <a:srgbClr val="222222"/>
                </a:solidFill>
                <a:latin typeface="Meiryo" pitchFamily="34" charset="0"/>
                <a:ea typeface="Meiryo" pitchFamily="34" charset="-122"/>
                <a:cs typeface="Meiryo" pitchFamily="34" charset="-120"/>
              </a:rPr>
              <a:t>公的支援は、民間契約の入口にもなる</a:t>
            </a:r>
            <a:endParaRPr lang="en-US" sz="1700" dirty="0"/>
          </a:p>
        </p:txBody>
      </p:sp>
      <p:sp>
        <p:nvSpPr>
          <p:cNvPr id="21" name="Text 19"/>
          <p:cNvSpPr txBox="1"/>
          <p:nvPr/>
        </p:nvSpPr>
        <p:spPr>
          <a:xfrm>
            <a:off x="1325880" y="5632704"/>
            <a:ext cx="10134295" cy="39319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アンドドットのように、支援が終わってから顧問になる例があります</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第4部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見てほしいのは、最初の3か月です</a:t>
            </a:r>
            <a:endParaRPr lang="en-US" sz="3000" dirty="0"/>
          </a:p>
        </p:txBody>
      </p:sp>
      <p:sp>
        <p:nvSpPr>
          <p:cNvPr id="4" name="Shape 2"/>
          <p:cNvSpPr/>
          <p:nvPr/>
        </p:nvSpPr>
        <p:spPr>
          <a:xfrm>
            <a:off x="640080" y="2011680"/>
            <a:ext cx="3291840" cy="2011680"/>
          </a:xfrm>
          <a:prstGeom prst="roundRect">
            <a:avLst>
              <a:gd name="adj" fmla="val 3636"/>
            </a:avLst>
          </a:prstGeom>
          <a:solidFill>
            <a:srgbClr val="F2F5FB"/>
          </a:solidFill>
          <a:ln w="12700">
            <a:solidFill>
              <a:srgbClr val="F2F5FB"/>
            </a:solidFill>
            <a:prstDash val="solid"/>
          </a:ln>
        </p:spPr>
      </p:sp>
      <p:sp>
        <p:nvSpPr>
          <p:cNvPr id="5" name="Text 3"/>
          <p:cNvSpPr txBox="1"/>
          <p:nvPr/>
        </p:nvSpPr>
        <p:spPr>
          <a:xfrm>
            <a:off x="914400" y="2240280"/>
            <a:ext cx="2743200" cy="365760"/>
          </a:xfrm>
          <a:prstGeom prst="rect">
            <a:avLst/>
          </a:prstGeom>
          <a:noFill/>
          <a:ln/>
        </p:spPr>
        <p:txBody>
          <a:bodyPr wrap="square" lIns="0" tIns="0" rIns="0" bIns="0" rtlCol="0" anchor="ctr"/>
          <a:lstStyle/>
          <a:p>
            <a:pPr indent="0" marL="0">
              <a:buNone/>
            </a:pPr>
            <a:r>
              <a:rPr lang="en-US" sz="1400" dirty="0">
                <a:solidFill>
                  <a:srgbClr val="666666"/>
                </a:solidFill>
                <a:latin typeface="Meiryo" pitchFamily="34" charset="0"/>
                <a:ea typeface="Meiryo" pitchFamily="34" charset="-122"/>
                <a:cs typeface="Meiryo" pitchFamily="34" charset="-120"/>
              </a:rPr>
              <a:t>2024年9月（独立1か月目）</a:t>
            </a:r>
            <a:endParaRPr lang="en-US" sz="1400" dirty="0"/>
          </a:p>
        </p:txBody>
      </p:sp>
      <p:sp>
        <p:nvSpPr>
          <p:cNvPr id="6" name="Text 4"/>
          <p:cNvSpPr txBox="1"/>
          <p:nvPr/>
        </p:nvSpPr>
        <p:spPr>
          <a:xfrm>
            <a:off x="914400" y="2697480"/>
            <a:ext cx="2743200" cy="914400"/>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Meiryo" pitchFamily="34" charset="0"/>
                <a:ea typeface="Meiryo" pitchFamily="34" charset="-122"/>
                <a:cs typeface="Meiryo" pitchFamily="34" charset="-120"/>
              </a:rPr>
              <a:t>749,080円</a:t>
            </a:r>
            <a:endParaRPr lang="en-US" sz="2800" dirty="0"/>
          </a:p>
        </p:txBody>
      </p:sp>
      <p:sp>
        <p:nvSpPr>
          <p:cNvPr id="7" name="Shape 5"/>
          <p:cNvSpPr/>
          <p:nvPr/>
        </p:nvSpPr>
        <p:spPr>
          <a:xfrm>
            <a:off x="4343400" y="2011680"/>
            <a:ext cx="3291840" cy="2011680"/>
          </a:xfrm>
          <a:prstGeom prst="roundRect">
            <a:avLst>
              <a:gd name="adj" fmla="val 3636"/>
            </a:avLst>
          </a:prstGeom>
          <a:solidFill>
            <a:srgbClr val="F2F5FB"/>
          </a:solidFill>
          <a:ln w="12700">
            <a:solidFill>
              <a:srgbClr val="F2F5FB"/>
            </a:solidFill>
            <a:prstDash val="solid"/>
          </a:ln>
        </p:spPr>
      </p:sp>
      <p:sp>
        <p:nvSpPr>
          <p:cNvPr id="8" name="Text 6"/>
          <p:cNvSpPr txBox="1"/>
          <p:nvPr/>
        </p:nvSpPr>
        <p:spPr>
          <a:xfrm>
            <a:off x="4617720" y="2240280"/>
            <a:ext cx="2743200" cy="365760"/>
          </a:xfrm>
          <a:prstGeom prst="rect">
            <a:avLst/>
          </a:prstGeom>
          <a:noFill/>
          <a:ln/>
        </p:spPr>
        <p:txBody>
          <a:bodyPr wrap="square" lIns="0" tIns="0" rIns="0" bIns="0" rtlCol="0" anchor="ctr"/>
          <a:lstStyle/>
          <a:p>
            <a:pPr indent="0" marL="0">
              <a:buNone/>
            </a:pPr>
            <a:r>
              <a:rPr lang="en-US" sz="1400" dirty="0">
                <a:solidFill>
                  <a:srgbClr val="666666"/>
                </a:solidFill>
                <a:latin typeface="Meiryo" pitchFamily="34" charset="0"/>
                <a:ea typeface="Meiryo" pitchFamily="34" charset="-122"/>
                <a:cs typeface="Meiryo" pitchFamily="34" charset="-120"/>
              </a:rPr>
              <a:t>2024年10月</a:t>
            </a:r>
            <a:endParaRPr lang="en-US" sz="1400" dirty="0"/>
          </a:p>
        </p:txBody>
      </p:sp>
      <p:sp>
        <p:nvSpPr>
          <p:cNvPr id="9" name="Text 7"/>
          <p:cNvSpPr txBox="1"/>
          <p:nvPr/>
        </p:nvSpPr>
        <p:spPr>
          <a:xfrm>
            <a:off x="4617720" y="2697480"/>
            <a:ext cx="2743200" cy="914400"/>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Meiryo" pitchFamily="34" charset="0"/>
                <a:ea typeface="Meiryo" pitchFamily="34" charset="-122"/>
                <a:cs typeface="Meiryo" pitchFamily="34" charset="-120"/>
              </a:rPr>
              <a:t>798,680円</a:t>
            </a:r>
            <a:endParaRPr lang="en-US" sz="2800" dirty="0"/>
          </a:p>
        </p:txBody>
      </p:sp>
      <p:sp>
        <p:nvSpPr>
          <p:cNvPr id="10" name="Shape 8"/>
          <p:cNvSpPr/>
          <p:nvPr/>
        </p:nvSpPr>
        <p:spPr>
          <a:xfrm>
            <a:off x="8046720" y="2011680"/>
            <a:ext cx="3291840" cy="2011680"/>
          </a:xfrm>
          <a:prstGeom prst="roundRect">
            <a:avLst>
              <a:gd name="adj" fmla="val 3636"/>
            </a:avLst>
          </a:prstGeom>
          <a:solidFill>
            <a:srgbClr val="F2F5FB"/>
          </a:solidFill>
          <a:ln w="12700">
            <a:solidFill>
              <a:srgbClr val="F2F5FB"/>
            </a:solidFill>
            <a:prstDash val="solid"/>
          </a:ln>
        </p:spPr>
      </p:sp>
      <p:sp>
        <p:nvSpPr>
          <p:cNvPr id="11" name="Text 9"/>
          <p:cNvSpPr txBox="1"/>
          <p:nvPr/>
        </p:nvSpPr>
        <p:spPr>
          <a:xfrm>
            <a:off x="8321040" y="2240280"/>
            <a:ext cx="2743200" cy="365760"/>
          </a:xfrm>
          <a:prstGeom prst="rect">
            <a:avLst/>
          </a:prstGeom>
          <a:noFill/>
          <a:ln/>
        </p:spPr>
        <p:txBody>
          <a:bodyPr wrap="square" lIns="0" tIns="0" rIns="0" bIns="0" rtlCol="0" anchor="ctr"/>
          <a:lstStyle/>
          <a:p>
            <a:pPr indent="0" marL="0">
              <a:buNone/>
            </a:pPr>
            <a:r>
              <a:rPr lang="en-US" sz="1400" dirty="0">
                <a:solidFill>
                  <a:srgbClr val="666666"/>
                </a:solidFill>
                <a:latin typeface="Meiryo" pitchFamily="34" charset="0"/>
                <a:ea typeface="Meiryo" pitchFamily="34" charset="-122"/>
                <a:cs typeface="Meiryo" pitchFamily="34" charset="-120"/>
              </a:rPr>
              <a:t>2024年11月</a:t>
            </a:r>
            <a:endParaRPr lang="en-US" sz="1400" dirty="0"/>
          </a:p>
        </p:txBody>
      </p:sp>
      <p:sp>
        <p:nvSpPr>
          <p:cNvPr id="12" name="Text 10"/>
          <p:cNvSpPr txBox="1"/>
          <p:nvPr/>
        </p:nvSpPr>
        <p:spPr>
          <a:xfrm>
            <a:off x="8321040" y="2697480"/>
            <a:ext cx="2743200" cy="914400"/>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Meiryo" pitchFamily="34" charset="0"/>
                <a:ea typeface="Meiryo" pitchFamily="34" charset="-122"/>
                <a:cs typeface="Meiryo" pitchFamily="34" charset="-120"/>
              </a:rPr>
              <a:t>1,081,480円</a:t>
            </a:r>
            <a:endParaRPr lang="en-US" sz="2800" dirty="0"/>
          </a:p>
        </p:txBody>
      </p:sp>
      <p:sp>
        <p:nvSpPr>
          <p:cNvPr id="13" name="Text 11"/>
          <p:cNvSpPr txBox="1"/>
          <p:nvPr/>
        </p:nvSpPr>
        <p:spPr>
          <a:xfrm>
            <a:off x="640080" y="4389120"/>
            <a:ext cx="10911535" cy="54864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Meiryo" pitchFamily="34" charset="0"/>
                <a:ea typeface="Meiryo" pitchFamily="34" charset="-122"/>
                <a:cs typeface="Meiryo" pitchFamily="34" charset="-120"/>
              </a:rPr>
              <a:t>2年前の私は、ここにいました。皆さんと地続きの場所です。</a:t>
            </a:r>
            <a:endParaRPr lang="en-US" sz="2000" dirty="0"/>
          </a:p>
        </p:txBody>
      </p:sp>
      <p:sp>
        <p:nvSpPr>
          <p:cNvPr id="14" name="Text 12"/>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そこから何をしたのか。次で26件すべて並べます。</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640080" y="2286000"/>
            <a:ext cx="1005840" cy="1005840"/>
          </a:xfrm>
          <a:prstGeom prst="ellipse">
            <a:avLst/>
          </a:prstGeom>
          <a:solidFill>
            <a:srgbClr val="C08A2E"/>
          </a:solidFill>
          <a:ln w="12700">
            <a:solidFill>
              <a:srgbClr val="C08A2E"/>
            </a:solidFill>
            <a:prstDash val="solid"/>
          </a:ln>
        </p:spPr>
      </p:sp>
      <p:sp>
        <p:nvSpPr>
          <p:cNvPr id="3" name="Text 1"/>
          <p:cNvSpPr txBox="1"/>
          <p:nvPr/>
        </p:nvSpPr>
        <p:spPr>
          <a:xfrm>
            <a:off x="640080" y="2286000"/>
            <a:ext cx="1005840" cy="1005840"/>
          </a:xfrm>
          <a:prstGeom prst="rect">
            <a:avLst/>
          </a:prstGeom>
          <a:noFill/>
          <a:ln/>
        </p:spPr>
        <p:txBody>
          <a:bodyPr wrap="square" lIns="0" tIns="0" rIns="0" bIns="0" rtlCol="0" anchor="ctr"/>
          <a:lstStyle/>
          <a:p>
            <a:pPr algn="ctr" indent="0" marL="0">
              <a:buNone/>
            </a:pPr>
            <a:r>
              <a:rPr lang="en-US" sz="3400" b="1" dirty="0">
                <a:solidFill>
                  <a:srgbClr val="FFFFFF"/>
                </a:solidFill>
                <a:latin typeface="Meiryo" pitchFamily="34" charset="0"/>
                <a:ea typeface="Meiryo" pitchFamily="34" charset="-122"/>
                <a:cs typeface="Meiryo" pitchFamily="34" charset="-120"/>
              </a:rPr>
              <a:t>5</a:t>
            </a:r>
            <a:endParaRPr lang="en-US" sz="3400" dirty="0"/>
          </a:p>
        </p:txBody>
      </p:sp>
      <p:sp>
        <p:nvSpPr>
          <p:cNvPr id="4" name="Text 2"/>
          <p:cNvSpPr txBox="1"/>
          <p:nvPr/>
        </p:nvSpPr>
        <p:spPr>
          <a:xfrm>
            <a:off x="2011680" y="2240280"/>
            <a:ext cx="9539935" cy="91440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Meiryo" pitchFamily="34" charset="0"/>
                <a:ea typeface="Meiryo" pitchFamily="34" charset="-122"/>
                <a:cs typeface="Meiryo" pitchFamily="34" charset="-120"/>
              </a:rPr>
              <a:t>26件、どこから来たのか</a:t>
            </a:r>
            <a:endParaRPr lang="en-US" sz="3400" dirty="0"/>
          </a:p>
        </p:txBody>
      </p:sp>
      <p:sp>
        <p:nvSpPr>
          <p:cNvPr id="5" name="Text 3"/>
          <p:cNvSpPr txBox="1"/>
          <p:nvPr/>
        </p:nvSpPr>
        <p:spPr>
          <a:xfrm>
            <a:off x="2011680" y="3246120"/>
            <a:ext cx="9539935" cy="731520"/>
          </a:xfrm>
          <a:prstGeom prst="rect">
            <a:avLst/>
          </a:prstGeom>
          <a:noFill/>
          <a:ln/>
        </p:spPr>
        <p:txBody>
          <a:bodyPr wrap="square" lIns="0" tIns="0" rIns="0" bIns="0" rtlCol="0" anchor="ctr">
            <a:normAutofit/>
          </a:bodyPr>
          <a:lstStyle/>
          <a:p>
            <a:pPr indent="0" marL="0">
              <a:buNone/>
            </a:pPr>
            <a:r>
              <a:rPr lang="en-US" sz="1600" dirty="0">
                <a:solidFill>
                  <a:srgbClr val="CADCFC"/>
                </a:solidFill>
                <a:latin typeface="Meiryo" pitchFamily="34" charset="0"/>
                <a:ea typeface="Meiryo" pitchFamily="34" charset="-122"/>
                <a:cs typeface="Meiryo" pitchFamily="34" charset="-120"/>
              </a:rPr>
              <a:t>14:30-14:58／28分　公的支援と民間、1件ずつ何をやったか。最後に共通点を探します</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第5部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2年間で受けた仕事26件の入口</a:t>
            </a:r>
            <a:endParaRPr lang="en-US" sz="3000" dirty="0"/>
          </a:p>
        </p:txBody>
      </p:sp>
      <p:graphicFrame>
        <p:nvGraphicFramePr>
          <p:cNvPr id="4" name="Chart 0" descr=""/>
          <p:cNvGraphicFramePr/>
          <p:nvPr/>
        </p:nvGraphicFramePr>
        <p:xfrm>
          <a:off x="640080" y="1645920"/>
          <a:ext cx="10911535"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このうち、こちらから売り込んで取った仕事はゼロです。</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2103120"/>
            <a:ext cx="10911535" cy="1828800"/>
          </a:xfrm>
          <a:prstGeom prst="rect">
            <a:avLst/>
          </a:prstGeom>
          <a:noFill/>
          <a:ln/>
        </p:spPr>
        <p:txBody>
          <a:bodyPr wrap="square" lIns="0" tIns="0" rIns="0" bIns="0" rtlCol="0" anchor="ctr">
            <a:normAutofit/>
          </a:bodyPr>
          <a:lstStyle/>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まず、公的支援。</a:t>
            </a:r>
            <a:endParaRPr lang="en-US" sz="4000" dirty="0"/>
          </a:p>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最初の一歩で何をやったか。</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第5部｜公的支援</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公的支援の入り方は、2つありました</a:t>
            </a:r>
            <a:endParaRPr lang="en-US" sz="3000" dirty="0"/>
          </a:p>
        </p:txBody>
      </p:sp>
      <p:sp>
        <p:nvSpPr>
          <p:cNvPr id="4" name="Shape 2"/>
          <p:cNvSpPr/>
          <p:nvPr/>
        </p:nvSpPr>
        <p:spPr>
          <a:xfrm>
            <a:off x="640080" y="1920240"/>
            <a:ext cx="5318608" cy="2743200"/>
          </a:xfrm>
          <a:prstGeom prst="roundRect">
            <a:avLst>
              <a:gd name="adj" fmla="val 2667"/>
            </a:avLst>
          </a:prstGeom>
          <a:solidFill>
            <a:srgbClr val="F2F5FB"/>
          </a:solidFill>
          <a:ln w="12700">
            <a:solidFill>
              <a:srgbClr val="F2F5FB"/>
            </a:solidFill>
            <a:prstDash val="solid"/>
          </a:ln>
        </p:spPr>
      </p:sp>
      <p:sp>
        <p:nvSpPr>
          <p:cNvPr id="5" name="Text 3"/>
          <p:cNvSpPr txBox="1"/>
          <p:nvPr/>
        </p:nvSpPr>
        <p:spPr>
          <a:xfrm>
            <a:off x="896112" y="217627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① 登録して、応募する</a:t>
            </a:r>
            <a:endParaRPr lang="en-US" sz="1800" dirty="0"/>
          </a:p>
        </p:txBody>
      </p:sp>
      <p:sp>
        <p:nvSpPr>
          <p:cNvPr id="6" name="Text 4"/>
          <p:cNvSpPr txBox="1"/>
          <p:nvPr/>
        </p:nvSpPr>
        <p:spPr>
          <a:xfrm>
            <a:off x="896112" y="2834640"/>
            <a:ext cx="4806544" cy="155448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城北支部のキャリアデータベースに登録。</a:t>
            </a: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公募が出たので応募し、補助金の書面審査へ。</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これが、独立後に最初に報酬を得た仕事のひとつです。</a:t>
            </a:r>
            <a:endParaRPr lang="en-US" sz="1300" dirty="0"/>
          </a:p>
        </p:txBody>
      </p:sp>
      <p:sp>
        <p:nvSpPr>
          <p:cNvPr id="7" name="Shape 5"/>
          <p:cNvSpPr/>
          <p:nvPr/>
        </p:nvSpPr>
        <p:spPr>
          <a:xfrm>
            <a:off x="6233008" y="1920240"/>
            <a:ext cx="5318608" cy="2743200"/>
          </a:xfrm>
          <a:prstGeom prst="roundRect">
            <a:avLst>
              <a:gd name="adj" fmla="val 2667"/>
            </a:avLst>
          </a:prstGeom>
          <a:solidFill>
            <a:srgbClr val="F2F5FB"/>
          </a:solidFill>
          <a:ln w="12700">
            <a:solidFill>
              <a:srgbClr val="F2F5FB"/>
            </a:solidFill>
            <a:prstDash val="solid"/>
          </a:ln>
        </p:spPr>
      </p:sp>
      <p:sp>
        <p:nvSpPr>
          <p:cNvPr id="8" name="Text 6"/>
          <p:cNvSpPr txBox="1"/>
          <p:nvPr/>
        </p:nvSpPr>
        <p:spPr>
          <a:xfrm>
            <a:off x="6489040" y="217627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② 人に、相談する</a:t>
            </a:r>
            <a:endParaRPr lang="en-US" sz="1800" dirty="0"/>
          </a:p>
        </p:txBody>
      </p:sp>
      <p:sp>
        <p:nvSpPr>
          <p:cNvPr id="9" name="Text 7"/>
          <p:cNvSpPr txBox="1"/>
          <p:nvPr/>
        </p:nvSpPr>
        <p:spPr>
          <a:xfrm>
            <a:off x="6489040" y="2834640"/>
            <a:ext cx="4806544" cy="155448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プロコン塾の懇親会で石川先生に相談。</a:t>
            </a: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面接を受けて、商工会議所BSDの専門家に。</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中小機構も、リコージャパン時代の上司がそこで働いていたところから。</a:t>
            </a:r>
            <a:endParaRPr lang="en-US" sz="1300" dirty="0"/>
          </a:p>
        </p:txBody>
      </p:sp>
      <p:sp>
        <p:nvSpPr>
          <p:cNvPr id="10" name="Text 8"/>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公的支援も、半分は「人」から入っています。登録だけではありません。</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第5部｜公的支援</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懇親会での一言が、2つの仕事になった</a:t>
            </a:r>
            <a:endParaRPr lang="en-US" sz="3000" dirty="0"/>
          </a:p>
        </p:txBody>
      </p:sp>
      <p:sp>
        <p:nvSpPr>
          <p:cNvPr id="4" name="Shape 2"/>
          <p:cNvSpPr/>
          <p:nvPr/>
        </p:nvSpPr>
        <p:spPr>
          <a:xfrm>
            <a:off x="640080" y="1691640"/>
            <a:ext cx="2377440" cy="868680"/>
          </a:xfrm>
          <a:prstGeom prst="roundRect">
            <a:avLst>
              <a:gd name="adj" fmla="val 6316"/>
            </a:avLst>
          </a:prstGeom>
          <a:solidFill>
            <a:srgbClr val="F2F5FB"/>
          </a:solidFill>
          <a:ln w="12700">
            <a:solidFill>
              <a:srgbClr val="F2F5FB"/>
            </a:solidFill>
            <a:prstDash val="solid"/>
          </a:ln>
        </p:spPr>
      </p:sp>
      <p:sp>
        <p:nvSpPr>
          <p:cNvPr id="5" name="Text 3"/>
          <p:cNvSpPr txBox="1"/>
          <p:nvPr/>
        </p:nvSpPr>
        <p:spPr>
          <a:xfrm>
            <a:off x="749808" y="1691640"/>
            <a:ext cx="2157984" cy="86868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プロコン塾の懇親会</a:t>
            </a:r>
            <a:endParaRPr lang="en-US" sz="1500" dirty="0"/>
          </a:p>
        </p:txBody>
      </p:sp>
      <p:sp>
        <p:nvSpPr>
          <p:cNvPr id="6" name="Shape 4"/>
          <p:cNvSpPr/>
          <p:nvPr/>
        </p:nvSpPr>
        <p:spPr>
          <a:xfrm>
            <a:off x="3063240" y="1993392"/>
            <a:ext cx="365760" cy="274320"/>
          </a:xfrm>
          <a:prstGeom prst="rightArrow">
            <a:avLst/>
          </a:prstGeom>
          <a:solidFill>
            <a:srgbClr val="C08A2E"/>
          </a:solidFill>
          <a:ln w="12700">
            <a:solidFill>
              <a:srgbClr val="C08A2E"/>
            </a:solidFill>
            <a:prstDash val="solid"/>
          </a:ln>
        </p:spPr>
      </p:sp>
      <p:sp>
        <p:nvSpPr>
          <p:cNvPr id="7" name="Shape 5"/>
          <p:cNvSpPr/>
          <p:nvPr/>
        </p:nvSpPr>
        <p:spPr>
          <a:xfrm>
            <a:off x="3474720" y="1691640"/>
            <a:ext cx="2377440" cy="868680"/>
          </a:xfrm>
          <a:prstGeom prst="roundRect">
            <a:avLst>
              <a:gd name="adj" fmla="val 6316"/>
            </a:avLst>
          </a:prstGeom>
          <a:solidFill>
            <a:srgbClr val="F2F5FB"/>
          </a:solidFill>
          <a:ln w="12700">
            <a:solidFill>
              <a:srgbClr val="F2F5FB"/>
            </a:solidFill>
            <a:prstDash val="solid"/>
          </a:ln>
        </p:spPr>
      </p:sp>
      <p:sp>
        <p:nvSpPr>
          <p:cNvPr id="8" name="Text 6"/>
          <p:cNvSpPr txBox="1"/>
          <p:nvPr/>
        </p:nvSpPr>
        <p:spPr>
          <a:xfrm>
            <a:off x="3584448" y="1691640"/>
            <a:ext cx="2157984" cy="86868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石川先生に相談した</a:t>
            </a:r>
            <a:endParaRPr lang="en-US" sz="1500" dirty="0"/>
          </a:p>
        </p:txBody>
      </p:sp>
      <p:sp>
        <p:nvSpPr>
          <p:cNvPr id="9" name="Shape 7"/>
          <p:cNvSpPr/>
          <p:nvPr/>
        </p:nvSpPr>
        <p:spPr>
          <a:xfrm>
            <a:off x="5897880" y="1993392"/>
            <a:ext cx="365760" cy="274320"/>
          </a:xfrm>
          <a:prstGeom prst="rightArrow">
            <a:avLst/>
          </a:prstGeom>
          <a:solidFill>
            <a:srgbClr val="C08A2E"/>
          </a:solidFill>
          <a:ln w="12700">
            <a:solidFill>
              <a:srgbClr val="C08A2E"/>
            </a:solidFill>
            <a:prstDash val="solid"/>
          </a:ln>
        </p:spPr>
      </p:sp>
      <p:sp>
        <p:nvSpPr>
          <p:cNvPr id="10" name="Shape 8"/>
          <p:cNvSpPr/>
          <p:nvPr/>
        </p:nvSpPr>
        <p:spPr>
          <a:xfrm>
            <a:off x="6309360" y="1691640"/>
            <a:ext cx="2377440" cy="868680"/>
          </a:xfrm>
          <a:prstGeom prst="roundRect">
            <a:avLst>
              <a:gd name="adj" fmla="val 6316"/>
            </a:avLst>
          </a:prstGeom>
          <a:solidFill>
            <a:srgbClr val="F2F5FB"/>
          </a:solidFill>
          <a:ln w="12700">
            <a:solidFill>
              <a:srgbClr val="F2F5FB"/>
            </a:solidFill>
            <a:prstDash val="solid"/>
          </a:ln>
        </p:spPr>
      </p:sp>
      <p:sp>
        <p:nvSpPr>
          <p:cNvPr id="11" name="Text 9"/>
          <p:cNvSpPr txBox="1"/>
          <p:nvPr/>
        </p:nvSpPr>
        <p:spPr>
          <a:xfrm>
            <a:off x="6419088" y="1691640"/>
            <a:ext cx="2157984" cy="86868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面接を受けた</a:t>
            </a:r>
            <a:endParaRPr lang="en-US" sz="1500" dirty="0"/>
          </a:p>
        </p:txBody>
      </p:sp>
      <p:sp>
        <p:nvSpPr>
          <p:cNvPr id="12" name="Shape 10"/>
          <p:cNvSpPr/>
          <p:nvPr/>
        </p:nvSpPr>
        <p:spPr>
          <a:xfrm>
            <a:off x="8732520" y="1993392"/>
            <a:ext cx="365760" cy="274320"/>
          </a:xfrm>
          <a:prstGeom prst="rightArrow">
            <a:avLst/>
          </a:prstGeom>
          <a:solidFill>
            <a:srgbClr val="C08A2E"/>
          </a:solidFill>
          <a:ln w="12700">
            <a:solidFill>
              <a:srgbClr val="C08A2E"/>
            </a:solidFill>
            <a:prstDash val="solid"/>
          </a:ln>
        </p:spPr>
      </p:sp>
      <p:sp>
        <p:nvSpPr>
          <p:cNvPr id="13" name="Shape 11"/>
          <p:cNvSpPr/>
          <p:nvPr/>
        </p:nvSpPr>
        <p:spPr>
          <a:xfrm>
            <a:off x="9144000" y="1691640"/>
            <a:ext cx="2377440" cy="868680"/>
          </a:xfrm>
          <a:prstGeom prst="roundRect">
            <a:avLst>
              <a:gd name="adj" fmla="val 6316"/>
            </a:avLst>
          </a:prstGeom>
          <a:solidFill>
            <a:srgbClr val="1E2761"/>
          </a:solidFill>
          <a:ln w="12700">
            <a:solidFill>
              <a:srgbClr val="1E2761"/>
            </a:solidFill>
            <a:prstDash val="solid"/>
          </a:ln>
        </p:spPr>
      </p:sp>
      <p:sp>
        <p:nvSpPr>
          <p:cNvPr id="14" name="Text 12"/>
          <p:cNvSpPr txBox="1"/>
          <p:nvPr/>
        </p:nvSpPr>
        <p:spPr>
          <a:xfrm>
            <a:off x="9253728" y="1691640"/>
            <a:ext cx="2157984" cy="86868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Meiryo" pitchFamily="34" charset="0"/>
                <a:ea typeface="Meiryo" pitchFamily="34" charset="-122"/>
                <a:cs typeface="Meiryo" pitchFamily="34" charset="-120"/>
              </a:rPr>
              <a:t>合格。</a:t>
            </a:r>
            <a:endParaRPr lang="en-US" sz="1400" dirty="0"/>
          </a:p>
          <a:p>
            <a:pPr algn="ctr" indent="0" marL="0">
              <a:buNone/>
            </a:pPr>
            <a:r>
              <a:rPr lang="en-US" sz="1400" b="1" dirty="0">
                <a:solidFill>
                  <a:srgbClr val="FFFFFF"/>
                </a:solidFill>
                <a:latin typeface="Meiryo" pitchFamily="34" charset="0"/>
                <a:ea typeface="Meiryo" pitchFamily="34" charset="-122"/>
                <a:cs typeface="Meiryo" pitchFamily="34" charset="-120"/>
              </a:rPr>
              <a:t>BSD東の専門家に</a:t>
            </a:r>
            <a:endParaRPr lang="en-US" sz="1400" dirty="0"/>
          </a:p>
        </p:txBody>
      </p:sp>
      <p:sp>
        <p:nvSpPr>
          <p:cNvPr id="15" name="Shape 13"/>
          <p:cNvSpPr/>
          <p:nvPr/>
        </p:nvSpPr>
        <p:spPr>
          <a:xfrm>
            <a:off x="10149840" y="2651760"/>
            <a:ext cx="365760" cy="457200"/>
          </a:xfrm>
          <a:prstGeom prst="downArrow">
            <a:avLst/>
          </a:prstGeom>
          <a:solidFill>
            <a:srgbClr val="C08A2E"/>
          </a:solidFill>
          <a:ln w="12700">
            <a:solidFill>
              <a:srgbClr val="C08A2E"/>
            </a:solidFill>
            <a:prstDash val="solid"/>
          </a:ln>
        </p:spPr>
      </p:sp>
      <p:sp>
        <p:nvSpPr>
          <p:cNvPr id="16" name="Text 14"/>
          <p:cNvSpPr txBox="1"/>
          <p:nvPr/>
        </p:nvSpPr>
        <p:spPr>
          <a:xfrm>
            <a:off x="640080" y="2743200"/>
            <a:ext cx="8183880" cy="365760"/>
          </a:xfrm>
          <a:prstGeom prst="rect">
            <a:avLst/>
          </a:prstGeom>
          <a:noFill/>
          <a:ln/>
        </p:spPr>
        <p:txBody>
          <a:bodyPr wrap="square" lIns="0" tIns="0" rIns="0" bIns="0" rtlCol="0" anchor="ctr">
            <a:normAutofit/>
          </a:bodyPr>
          <a:lstStyle/>
          <a:p>
            <a:pPr algn="r" indent="0" marL="0">
              <a:buNone/>
            </a:pPr>
            <a:r>
              <a:rPr lang="en-US" sz="1500" dirty="0">
                <a:solidFill>
                  <a:srgbClr val="666666"/>
                </a:solidFill>
                <a:latin typeface="Meiryo" pitchFamily="34" charset="0"/>
                <a:ea typeface="Meiryo" pitchFamily="34" charset="-122"/>
                <a:cs typeface="Meiryo" pitchFamily="34" charset="-120"/>
              </a:rPr>
              <a:t>共通の知り合いの診断士がいると分かった</a:t>
            </a:r>
            <a:endParaRPr lang="en-US" sz="1500" dirty="0"/>
          </a:p>
        </p:txBody>
      </p:sp>
      <p:sp>
        <p:nvSpPr>
          <p:cNvPr id="17" name="Shape 15"/>
          <p:cNvSpPr/>
          <p:nvPr/>
        </p:nvSpPr>
        <p:spPr>
          <a:xfrm>
            <a:off x="640080" y="3200400"/>
            <a:ext cx="2377440" cy="868680"/>
          </a:xfrm>
          <a:prstGeom prst="roundRect">
            <a:avLst>
              <a:gd name="adj" fmla="val 6316"/>
            </a:avLst>
          </a:prstGeom>
          <a:solidFill>
            <a:srgbClr val="F2F5FB"/>
          </a:solidFill>
          <a:ln w="12700">
            <a:solidFill>
              <a:srgbClr val="F2F5FB"/>
            </a:solidFill>
            <a:prstDash val="solid"/>
          </a:ln>
        </p:spPr>
      </p:sp>
      <p:sp>
        <p:nvSpPr>
          <p:cNvPr id="18" name="Text 16"/>
          <p:cNvSpPr txBox="1"/>
          <p:nvPr/>
        </p:nvSpPr>
        <p:spPr>
          <a:xfrm>
            <a:off x="749808" y="3200400"/>
            <a:ext cx="2157984" cy="86868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別途、懇親会を実施</a:t>
            </a:r>
            <a:endParaRPr lang="en-US" sz="1500" dirty="0"/>
          </a:p>
        </p:txBody>
      </p:sp>
      <p:sp>
        <p:nvSpPr>
          <p:cNvPr id="19" name="Shape 17"/>
          <p:cNvSpPr/>
          <p:nvPr/>
        </p:nvSpPr>
        <p:spPr>
          <a:xfrm>
            <a:off x="3063240" y="3502152"/>
            <a:ext cx="365760" cy="274320"/>
          </a:xfrm>
          <a:prstGeom prst="rightArrow">
            <a:avLst/>
          </a:prstGeom>
          <a:solidFill>
            <a:srgbClr val="C08A2E"/>
          </a:solidFill>
          <a:ln w="12700">
            <a:solidFill>
              <a:srgbClr val="C08A2E"/>
            </a:solidFill>
            <a:prstDash val="solid"/>
          </a:ln>
        </p:spPr>
      </p:sp>
      <p:sp>
        <p:nvSpPr>
          <p:cNvPr id="20" name="Shape 18"/>
          <p:cNvSpPr/>
          <p:nvPr/>
        </p:nvSpPr>
        <p:spPr>
          <a:xfrm>
            <a:off x="3474720" y="3200400"/>
            <a:ext cx="2377440" cy="868680"/>
          </a:xfrm>
          <a:prstGeom prst="roundRect">
            <a:avLst>
              <a:gd name="adj" fmla="val 6316"/>
            </a:avLst>
          </a:prstGeom>
          <a:solidFill>
            <a:srgbClr val="F2F5FB"/>
          </a:solidFill>
          <a:ln w="12700">
            <a:solidFill>
              <a:srgbClr val="F2F5FB"/>
            </a:solidFill>
            <a:prstDash val="solid"/>
          </a:ln>
        </p:spPr>
      </p:sp>
      <p:sp>
        <p:nvSpPr>
          <p:cNvPr id="21" name="Text 19"/>
          <p:cNvSpPr txBox="1"/>
          <p:nvPr/>
        </p:nvSpPr>
        <p:spPr>
          <a:xfrm>
            <a:off x="3584448" y="3200400"/>
            <a:ext cx="2157984" cy="868680"/>
          </a:xfrm>
          <a:prstGeom prst="rect">
            <a:avLst/>
          </a:prstGeom>
          <a:noFill/>
          <a:ln/>
        </p:spPr>
        <p:txBody>
          <a:bodyPr wrap="square" lIns="0" tIns="0" rIns="0" bIns="0" rtlCol="0" anchor="ctr">
            <a:normAutofit/>
          </a:bodyPr>
          <a:lstStyle/>
          <a:p>
            <a:pPr algn="ctr" indent="0" marL="0">
              <a:buNone/>
            </a:pPr>
            <a:r>
              <a:rPr lang="en-US" sz="1300" b="1" dirty="0">
                <a:solidFill>
                  <a:srgbClr val="1E2761"/>
                </a:solidFill>
                <a:latin typeface="Meiryo" pitchFamily="34" charset="0"/>
                <a:ea typeface="Meiryo" pitchFamily="34" charset="-122"/>
                <a:cs typeface="Meiryo" pitchFamily="34" charset="-120"/>
              </a:rPr>
              <a:t>その方がBSD南の</a:t>
            </a:r>
            <a:endParaRPr lang="en-US" sz="1300" dirty="0"/>
          </a:p>
          <a:p>
            <a:pPr algn="ctr" indent="0" marL="0">
              <a:buNone/>
            </a:pPr>
            <a:r>
              <a:rPr lang="en-US" sz="1300" b="1" dirty="0">
                <a:solidFill>
                  <a:srgbClr val="1E2761"/>
                </a:solidFill>
                <a:latin typeface="Meiryo" pitchFamily="34" charset="0"/>
                <a:ea typeface="Meiryo" pitchFamily="34" charset="-122"/>
                <a:cs typeface="Meiryo" pitchFamily="34" charset="-120"/>
              </a:rPr>
              <a:t>コーディネーターだった</a:t>
            </a:r>
            <a:endParaRPr lang="en-US" sz="1300" dirty="0"/>
          </a:p>
        </p:txBody>
      </p:sp>
      <p:sp>
        <p:nvSpPr>
          <p:cNvPr id="22" name="Shape 20"/>
          <p:cNvSpPr/>
          <p:nvPr/>
        </p:nvSpPr>
        <p:spPr>
          <a:xfrm>
            <a:off x="5897880" y="3502152"/>
            <a:ext cx="365760" cy="274320"/>
          </a:xfrm>
          <a:prstGeom prst="rightArrow">
            <a:avLst/>
          </a:prstGeom>
          <a:solidFill>
            <a:srgbClr val="C08A2E"/>
          </a:solidFill>
          <a:ln w="12700">
            <a:solidFill>
              <a:srgbClr val="C08A2E"/>
            </a:solidFill>
            <a:prstDash val="solid"/>
          </a:ln>
        </p:spPr>
      </p:sp>
      <p:sp>
        <p:nvSpPr>
          <p:cNvPr id="23" name="Shape 21"/>
          <p:cNvSpPr/>
          <p:nvPr/>
        </p:nvSpPr>
        <p:spPr>
          <a:xfrm>
            <a:off x="6309360" y="3200400"/>
            <a:ext cx="2377440" cy="868680"/>
          </a:xfrm>
          <a:prstGeom prst="roundRect">
            <a:avLst>
              <a:gd name="adj" fmla="val 6316"/>
            </a:avLst>
          </a:prstGeom>
          <a:solidFill>
            <a:srgbClr val="1E2761"/>
          </a:solidFill>
          <a:ln w="12700">
            <a:solidFill>
              <a:srgbClr val="1E2761"/>
            </a:solidFill>
            <a:prstDash val="solid"/>
          </a:ln>
        </p:spPr>
      </p:sp>
      <p:sp>
        <p:nvSpPr>
          <p:cNvPr id="24" name="Text 22"/>
          <p:cNvSpPr txBox="1"/>
          <p:nvPr/>
        </p:nvSpPr>
        <p:spPr>
          <a:xfrm>
            <a:off x="6419088" y="3200400"/>
            <a:ext cx="2157984" cy="86868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Meiryo" pitchFamily="34" charset="0"/>
                <a:ea typeface="Meiryo" pitchFamily="34" charset="-122"/>
                <a:cs typeface="Meiryo" pitchFamily="34" charset="-120"/>
              </a:rPr>
              <a:t>専門家派遣の</a:t>
            </a:r>
            <a:endParaRPr lang="en-US" sz="1400" dirty="0"/>
          </a:p>
          <a:p>
            <a:pPr algn="ctr" indent="0" marL="0">
              <a:buNone/>
            </a:pPr>
            <a:r>
              <a:rPr lang="en-US" sz="1400" b="1" dirty="0">
                <a:solidFill>
                  <a:srgbClr val="FFFFFF"/>
                </a:solidFill>
                <a:latin typeface="Meiryo" pitchFamily="34" charset="0"/>
                <a:ea typeface="Meiryo" pitchFamily="34" charset="-122"/>
                <a:cs typeface="Meiryo" pitchFamily="34" charset="-120"/>
              </a:rPr>
              <a:t>依頼をいただいた</a:t>
            </a:r>
            <a:endParaRPr lang="en-US" sz="1400" dirty="0"/>
          </a:p>
        </p:txBody>
      </p:sp>
      <p:sp>
        <p:nvSpPr>
          <p:cNvPr id="25" name="Shape 23"/>
          <p:cNvSpPr/>
          <p:nvPr/>
        </p:nvSpPr>
        <p:spPr>
          <a:xfrm>
            <a:off x="640080" y="4480560"/>
            <a:ext cx="10911535" cy="822960"/>
          </a:xfrm>
          <a:prstGeom prst="roundRect">
            <a:avLst>
              <a:gd name="adj" fmla="val 8889"/>
            </a:avLst>
          </a:prstGeom>
          <a:solidFill>
            <a:srgbClr val="F2F5FB"/>
          </a:solidFill>
          <a:ln w="12700">
            <a:solidFill>
              <a:srgbClr val="F2F5FB"/>
            </a:solidFill>
            <a:prstDash val="solid"/>
          </a:ln>
        </p:spPr>
      </p:sp>
      <p:sp>
        <p:nvSpPr>
          <p:cNvPr id="26" name="Text 24"/>
          <p:cNvSpPr txBox="1"/>
          <p:nvPr/>
        </p:nvSpPr>
        <p:spPr>
          <a:xfrm>
            <a:off x="914400" y="4480560"/>
            <a:ext cx="10362895" cy="822960"/>
          </a:xfrm>
          <a:prstGeom prst="rect">
            <a:avLst/>
          </a:prstGeom>
          <a:noFill/>
          <a:ln/>
        </p:spPr>
        <p:txBody>
          <a:bodyPr wrap="square" lIns="0" tIns="0" rIns="0" bIns="0" rtlCol="0" anchor="ctr">
            <a:normAutofit/>
          </a:bodyPr>
          <a:lstStyle/>
          <a:p>
            <a:pPr indent="0" marL="0">
              <a:buNone/>
            </a:pPr>
            <a:r>
              <a:rPr lang="en-US" sz="1600" b="1" dirty="0">
                <a:solidFill>
                  <a:srgbClr val="1E2761"/>
                </a:solidFill>
                <a:latin typeface="Meiryo" pitchFamily="34" charset="0"/>
                <a:ea typeface="Meiryo" pitchFamily="34" charset="-122"/>
                <a:cs typeface="Meiryo" pitchFamily="34" charset="-120"/>
              </a:rPr>
              <a:t>中小機構の専門家も、リコージャパン時代の上司が中小機構で働いていたところから</a:t>
            </a:r>
            <a:endParaRPr lang="en-US" sz="1600" dirty="0"/>
          </a:p>
        </p:txBody>
      </p:sp>
      <p:sp>
        <p:nvSpPr>
          <p:cNvPr id="27" name="Text 25"/>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石川先生は、第2部でお話しした「飲食といえば」のあの先生です。</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第5部｜公的支援</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そこから、登録先が8つに増えた</a:t>
            </a:r>
            <a:endParaRPr lang="en-US" sz="3000" dirty="0"/>
          </a:p>
        </p:txBody>
      </p:sp>
      <p:sp>
        <p:nvSpPr>
          <p:cNvPr id="4" name="Shape 2"/>
          <p:cNvSpPr/>
          <p:nvPr/>
        </p:nvSpPr>
        <p:spPr>
          <a:xfrm>
            <a:off x="640080" y="1874520"/>
            <a:ext cx="201168" cy="201168"/>
          </a:xfrm>
          <a:prstGeom prst="ellipse">
            <a:avLst/>
          </a:prstGeom>
          <a:solidFill>
            <a:srgbClr val="C08A2E"/>
          </a:solidFill>
          <a:ln w="12700">
            <a:solidFill>
              <a:srgbClr val="C08A2E"/>
            </a:solidFill>
            <a:prstDash val="solid"/>
          </a:ln>
        </p:spPr>
      </p:sp>
      <p:sp>
        <p:nvSpPr>
          <p:cNvPr id="5" name="Text 3"/>
          <p:cNvSpPr txBox="1"/>
          <p:nvPr/>
        </p:nvSpPr>
        <p:spPr>
          <a:xfrm>
            <a:off x="1051560" y="1783080"/>
            <a:ext cx="4907128" cy="640080"/>
          </a:xfrm>
          <a:prstGeom prst="rect">
            <a:avLst/>
          </a:prstGeom>
          <a:noFill/>
          <a:ln/>
        </p:spPr>
        <p:txBody>
          <a:bodyPr wrap="square" lIns="0" tIns="0" rIns="0" bIns="0" rtlCol="0" anchor="ctr">
            <a:normAutofit/>
          </a:bodyPr>
          <a:lstStyle/>
          <a:p>
            <a:pPr indent="0" marL="0">
              <a:lnSpc>
                <a:spcPts val="2000"/>
              </a:lnSpc>
              <a:buNone/>
            </a:pPr>
            <a:r>
              <a:rPr lang="en-US" sz="1500" dirty="0">
                <a:solidFill>
                  <a:srgbClr val="222222"/>
                </a:solidFill>
                <a:latin typeface="Meiryo" pitchFamily="34" charset="0"/>
                <a:ea typeface="Meiryo" pitchFamily="34" charset="-122"/>
                <a:cs typeface="Meiryo" pitchFamily="34" charset="-120"/>
              </a:rPr>
              <a:t>城北支部のキャリアデータベース（公募 → 補助金の書面審査）</a:t>
            </a:r>
            <a:endParaRPr lang="en-US" sz="1500" dirty="0"/>
          </a:p>
        </p:txBody>
      </p:sp>
      <p:sp>
        <p:nvSpPr>
          <p:cNvPr id="6" name="Shape 4"/>
          <p:cNvSpPr/>
          <p:nvPr/>
        </p:nvSpPr>
        <p:spPr>
          <a:xfrm>
            <a:off x="640080" y="2651760"/>
            <a:ext cx="201168" cy="201168"/>
          </a:xfrm>
          <a:prstGeom prst="ellipse">
            <a:avLst/>
          </a:prstGeom>
          <a:solidFill>
            <a:srgbClr val="C08A2E"/>
          </a:solidFill>
          <a:ln w="12700">
            <a:solidFill>
              <a:srgbClr val="C08A2E"/>
            </a:solidFill>
            <a:prstDash val="solid"/>
          </a:ln>
        </p:spPr>
      </p:sp>
      <p:sp>
        <p:nvSpPr>
          <p:cNvPr id="7" name="Text 5"/>
          <p:cNvSpPr txBox="1"/>
          <p:nvPr/>
        </p:nvSpPr>
        <p:spPr>
          <a:xfrm>
            <a:off x="1051560" y="2560320"/>
            <a:ext cx="4907128" cy="640080"/>
          </a:xfrm>
          <a:prstGeom prst="rect">
            <a:avLst/>
          </a:prstGeom>
          <a:noFill/>
          <a:ln/>
        </p:spPr>
        <p:txBody>
          <a:bodyPr wrap="square" lIns="0" tIns="0" rIns="0" bIns="0" rtlCol="0" anchor="ctr">
            <a:normAutofit/>
          </a:bodyPr>
          <a:lstStyle/>
          <a:p>
            <a:pPr indent="0" marL="0">
              <a:lnSpc>
                <a:spcPts val="2000"/>
              </a:lnSpc>
              <a:buNone/>
            </a:pPr>
            <a:r>
              <a:rPr lang="en-US" sz="1500" dirty="0">
                <a:solidFill>
                  <a:srgbClr val="222222"/>
                </a:solidFill>
                <a:latin typeface="Meiryo" pitchFamily="34" charset="0"/>
                <a:ea typeface="Meiryo" pitchFamily="34" charset="-122"/>
                <a:cs typeface="Meiryo" pitchFamily="34" charset="-120"/>
              </a:rPr>
              <a:t>塩島さんの会社のデータベース</a:t>
            </a:r>
            <a:endParaRPr lang="en-US" sz="1500" dirty="0"/>
          </a:p>
        </p:txBody>
      </p:sp>
      <p:sp>
        <p:nvSpPr>
          <p:cNvPr id="8" name="Shape 6"/>
          <p:cNvSpPr/>
          <p:nvPr/>
        </p:nvSpPr>
        <p:spPr>
          <a:xfrm>
            <a:off x="640080" y="3429000"/>
            <a:ext cx="201168" cy="201168"/>
          </a:xfrm>
          <a:prstGeom prst="ellipse">
            <a:avLst/>
          </a:prstGeom>
          <a:solidFill>
            <a:srgbClr val="C08A2E"/>
          </a:solidFill>
          <a:ln w="12700">
            <a:solidFill>
              <a:srgbClr val="C08A2E"/>
            </a:solidFill>
            <a:prstDash val="solid"/>
          </a:ln>
        </p:spPr>
      </p:sp>
      <p:sp>
        <p:nvSpPr>
          <p:cNvPr id="9" name="Text 7"/>
          <p:cNvSpPr txBox="1"/>
          <p:nvPr/>
        </p:nvSpPr>
        <p:spPr>
          <a:xfrm>
            <a:off x="1051560" y="3337560"/>
            <a:ext cx="4907128" cy="640080"/>
          </a:xfrm>
          <a:prstGeom prst="rect">
            <a:avLst/>
          </a:prstGeom>
          <a:noFill/>
          <a:ln/>
        </p:spPr>
        <p:txBody>
          <a:bodyPr wrap="square" lIns="0" tIns="0" rIns="0" bIns="0" rtlCol="0" anchor="ctr">
            <a:normAutofit/>
          </a:bodyPr>
          <a:lstStyle/>
          <a:p>
            <a:pPr indent="0" marL="0">
              <a:lnSpc>
                <a:spcPts val="2000"/>
              </a:lnSpc>
              <a:buNone/>
            </a:pPr>
            <a:r>
              <a:rPr lang="en-US" sz="1500" dirty="0">
                <a:solidFill>
                  <a:srgbClr val="222222"/>
                </a:solidFill>
                <a:latin typeface="Meiryo" pitchFamily="34" charset="0"/>
                <a:ea typeface="Meiryo" pitchFamily="34" charset="-122"/>
                <a:cs typeface="Meiryo" pitchFamily="34" charset="-120"/>
              </a:rPr>
              <a:t>商工会議所BSD の専門家派遣</a:t>
            </a:r>
            <a:endParaRPr lang="en-US" sz="1500" dirty="0"/>
          </a:p>
        </p:txBody>
      </p:sp>
      <p:sp>
        <p:nvSpPr>
          <p:cNvPr id="10" name="Shape 8"/>
          <p:cNvSpPr/>
          <p:nvPr/>
        </p:nvSpPr>
        <p:spPr>
          <a:xfrm>
            <a:off x="640080" y="4206240"/>
            <a:ext cx="201168" cy="201168"/>
          </a:xfrm>
          <a:prstGeom prst="ellipse">
            <a:avLst/>
          </a:prstGeom>
          <a:solidFill>
            <a:srgbClr val="C08A2E"/>
          </a:solidFill>
          <a:ln w="12700">
            <a:solidFill>
              <a:srgbClr val="C08A2E"/>
            </a:solidFill>
            <a:prstDash val="solid"/>
          </a:ln>
        </p:spPr>
      </p:sp>
      <p:sp>
        <p:nvSpPr>
          <p:cNvPr id="11" name="Text 9"/>
          <p:cNvSpPr txBox="1"/>
          <p:nvPr/>
        </p:nvSpPr>
        <p:spPr>
          <a:xfrm>
            <a:off x="1051560" y="4114800"/>
            <a:ext cx="4907128" cy="640080"/>
          </a:xfrm>
          <a:prstGeom prst="rect">
            <a:avLst/>
          </a:prstGeom>
          <a:noFill/>
          <a:ln/>
        </p:spPr>
        <p:txBody>
          <a:bodyPr wrap="square" lIns="0" tIns="0" rIns="0" bIns="0" rtlCol="0" anchor="ctr">
            <a:normAutofit/>
          </a:bodyPr>
          <a:lstStyle/>
          <a:p>
            <a:pPr indent="0" marL="0">
              <a:lnSpc>
                <a:spcPts val="2000"/>
              </a:lnSpc>
              <a:buNone/>
            </a:pPr>
            <a:r>
              <a:rPr lang="en-US" sz="1500" dirty="0">
                <a:solidFill>
                  <a:srgbClr val="222222"/>
                </a:solidFill>
                <a:latin typeface="Meiryo" pitchFamily="34" charset="0"/>
                <a:ea typeface="Meiryo" pitchFamily="34" charset="-122"/>
                <a:cs typeface="Meiryo" pitchFamily="34" charset="-120"/>
              </a:rPr>
              <a:t>中小機構の専門家</a:t>
            </a:r>
            <a:endParaRPr lang="en-US" sz="1500" dirty="0"/>
          </a:p>
        </p:txBody>
      </p:sp>
      <p:sp>
        <p:nvSpPr>
          <p:cNvPr id="12" name="Shape 10"/>
          <p:cNvSpPr/>
          <p:nvPr/>
        </p:nvSpPr>
        <p:spPr>
          <a:xfrm>
            <a:off x="6233008" y="1874520"/>
            <a:ext cx="201168" cy="201168"/>
          </a:xfrm>
          <a:prstGeom prst="ellipse">
            <a:avLst/>
          </a:prstGeom>
          <a:solidFill>
            <a:srgbClr val="C08A2E"/>
          </a:solidFill>
          <a:ln w="12700">
            <a:solidFill>
              <a:srgbClr val="C08A2E"/>
            </a:solidFill>
            <a:prstDash val="solid"/>
          </a:ln>
        </p:spPr>
      </p:sp>
      <p:sp>
        <p:nvSpPr>
          <p:cNvPr id="13" name="Text 11"/>
          <p:cNvSpPr txBox="1"/>
          <p:nvPr/>
        </p:nvSpPr>
        <p:spPr>
          <a:xfrm>
            <a:off x="6644488" y="1783080"/>
            <a:ext cx="4907128" cy="640080"/>
          </a:xfrm>
          <a:prstGeom prst="rect">
            <a:avLst/>
          </a:prstGeom>
          <a:noFill/>
          <a:ln/>
        </p:spPr>
        <p:txBody>
          <a:bodyPr wrap="square" lIns="0" tIns="0" rIns="0" bIns="0" rtlCol="0" anchor="ctr">
            <a:normAutofit/>
          </a:bodyPr>
          <a:lstStyle/>
          <a:p>
            <a:pPr indent="0" marL="0">
              <a:lnSpc>
                <a:spcPts val="2000"/>
              </a:lnSpc>
              <a:buNone/>
            </a:pPr>
            <a:r>
              <a:rPr lang="en-US" sz="1500" dirty="0">
                <a:solidFill>
                  <a:srgbClr val="222222"/>
                </a:solidFill>
                <a:latin typeface="Meiryo" pitchFamily="34" charset="0"/>
                <a:ea typeface="Meiryo" pitchFamily="34" charset="-122"/>
                <a:cs typeface="Meiryo" pitchFamily="34" charset="-120"/>
              </a:rPr>
              <a:t>信用保証協会の専門家</a:t>
            </a:r>
            <a:endParaRPr lang="en-US" sz="1500" dirty="0"/>
          </a:p>
        </p:txBody>
      </p:sp>
      <p:sp>
        <p:nvSpPr>
          <p:cNvPr id="14" name="Shape 12"/>
          <p:cNvSpPr/>
          <p:nvPr/>
        </p:nvSpPr>
        <p:spPr>
          <a:xfrm>
            <a:off x="6233008" y="2651760"/>
            <a:ext cx="201168" cy="201168"/>
          </a:xfrm>
          <a:prstGeom prst="ellipse">
            <a:avLst/>
          </a:prstGeom>
          <a:solidFill>
            <a:srgbClr val="C08A2E"/>
          </a:solidFill>
          <a:ln w="12700">
            <a:solidFill>
              <a:srgbClr val="C08A2E"/>
            </a:solidFill>
            <a:prstDash val="solid"/>
          </a:ln>
        </p:spPr>
      </p:sp>
      <p:sp>
        <p:nvSpPr>
          <p:cNvPr id="15" name="Text 13"/>
          <p:cNvSpPr txBox="1"/>
          <p:nvPr/>
        </p:nvSpPr>
        <p:spPr>
          <a:xfrm>
            <a:off x="6644488" y="2560320"/>
            <a:ext cx="4907128" cy="640080"/>
          </a:xfrm>
          <a:prstGeom prst="rect">
            <a:avLst/>
          </a:prstGeom>
          <a:noFill/>
          <a:ln/>
        </p:spPr>
        <p:txBody>
          <a:bodyPr wrap="square" lIns="0" tIns="0" rIns="0" bIns="0" rtlCol="0" anchor="ctr">
            <a:normAutofit/>
          </a:bodyPr>
          <a:lstStyle/>
          <a:p>
            <a:pPr indent="0" marL="0">
              <a:lnSpc>
                <a:spcPts val="2000"/>
              </a:lnSpc>
              <a:buNone/>
            </a:pPr>
            <a:r>
              <a:rPr lang="en-US" sz="1500" dirty="0">
                <a:solidFill>
                  <a:srgbClr val="222222"/>
                </a:solidFill>
                <a:latin typeface="Meiryo" pitchFamily="34" charset="0"/>
                <a:ea typeface="Meiryo" pitchFamily="34" charset="-122"/>
                <a:cs typeface="Meiryo" pitchFamily="34" charset="-120"/>
              </a:rPr>
              <a:t>公社の専門家</a:t>
            </a:r>
            <a:endParaRPr lang="en-US" sz="1500" dirty="0"/>
          </a:p>
        </p:txBody>
      </p:sp>
      <p:sp>
        <p:nvSpPr>
          <p:cNvPr id="16" name="Shape 14"/>
          <p:cNvSpPr/>
          <p:nvPr/>
        </p:nvSpPr>
        <p:spPr>
          <a:xfrm>
            <a:off x="6233008" y="3429000"/>
            <a:ext cx="201168" cy="201168"/>
          </a:xfrm>
          <a:prstGeom prst="ellipse">
            <a:avLst/>
          </a:prstGeom>
          <a:solidFill>
            <a:srgbClr val="C08A2E"/>
          </a:solidFill>
          <a:ln w="12700">
            <a:solidFill>
              <a:srgbClr val="C08A2E"/>
            </a:solidFill>
            <a:prstDash val="solid"/>
          </a:ln>
        </p:spPr>
      </p:sp>
      <p:sp>
        <p:nvSpPr>
          <p:cNvPr id="17" name="Text 15"/>
          <p:cNvSpPr txBox="1"/>
          <p:nvPr/>
        </p:nvSpPr>
        <p:spPr>
          <a:xfrm>
            <a:off x="6644488" y="3337560"/>
            <a:ext cx="4907128" cy="640080"/>
          </a:xfrm>
          <a:prstGeom prst="rect">
            <a:avLst/>
          </a:prstGeom>
          <a:noFill/>
          <a:ln/>
        </p:spPr>
        <p:txBody>
          <a:bodyPr wrap="square" lIns="0" tIns="0" rIns="0" bIns="0" rtlCol="0" anchor="ctr">
            <a:normAutofit/>
          </a:bodyPr>
          <a:lstStyle/>
          <a:p>
            <a:pPr indent="0" marL="0">
              <a:lnSpc>
                <a:spcPts val="2000"/>
              </a:lnSpc>
              <a:buNone/>
            </a:pPr>
            <a:r>
              <a:rPr lang="en-US" sz="1500" dirty="0">
                <a:solidFill>
                  <a:srgbClr val="222222"/>
                </a:solidFill>
                <a:latin typeface="Meiryo" pitchFamily="34" charset="0"/>
                <a:ea typeface="Meiryo" pitchFamily="34" charset="-122"/>
                <a:cs typeface="Meiryo" pitchFamily="34" charset="-120"/>
              </a:rPr>
              <a:t>公社の先進デジタル（11月から）</a:t>
            </a:r>
            <a:endParaRPr lang="en-US" sz="1500" dirty="0"/>
          </a:p>
        </p:txBody>
      </p:sp>
      <p:sp>
        <p:nvSpPr>
          <p:cNvPr id="18" name="Shape 16"/>
          <p:cNvSpPr/>
          <p:nvPr/>
        </p:nvSpPr>
        <p:spPr>
          <a:xfrm>
            <a:off x="6233008" y="4206240"/>
            <a:ext cx="201168" cy="201168"/>
          </a:xfrm>
          <a:prstGeom prst="ellipse">
            <a:avLst/>
          </a:prstGeom>
          <a:solidFill>
            <a:srgbClr val="C08A2E"/>
          </a:solidFill>
          <a:ln w="12700">
            <a:solidFill>
              <a:srgbClr val="C08A2E"/>
            </a:solidFill>
            <a:prstDash val="solid"/>
          </a:ln>
        </p:spPr>
      </p:sp>
      <p:sp>
        <p:nvSpPr>
          <p:cNvPr id="19" name="Text 17"/>
          <p:cNvSpPr txBox="1"/>
          <p:nvPr/>
        </p:nvSpPr>
        <p:spPr>
          <a:xfrm>
            <a:off x="6644488" y="4114800"/>
            <a:ext cx="4907128" cy="640080"/>
          </a:xfrm>
          <a:prstGeom prst="rect">
            <a:avLst/>
          </a:prstGeom>
          <a:noFill/>
          <a:ln/>
        </p:spPr>
        <p:txBody>
          <a:bodyPr wrap="square" lIns="0" tIns="0" rIns="0" bIns="0" rtlCol="0" anchor="ctr">
            <a:normAutofit/>
          </a:bodyPr>
          <a:lstStyle/>
          <a:p>
            <a:pPr indent="0" marL="0">
              <a:lnSpc>
                <a:spcPts val="2000"/>
              </a:lnSpc>
              <a:buNone/>
            </a:pPr>
            <a:r>
              <a:rPr lang="en-US" sz="1500" dirty="0">
                <a:solidFill>
                  <a:srgbClr val="222222"/>
                </a:solidFill>
                <a:latin typeface="Meiryo" pitchFamily="34" charset="0"/>
                <a:ea typeface="Meiryo" pitchFamily="34" charset="-122"/>
                <a:cs typeface="Meiryo" pitchFamily="34" charset="-120"/>
              </a:rPr>
              <a:t>ニューマ（6月から）</a:t>
            </a:r>
            <a:endParaRPr lang="en-US" sz="1500" dirty="0"/>
          </a:p>
        </p:txBody>
      </p:sp>
      <p:sp>
        <p:nvSpPr>
          <p:cNvPr id="20" name="Text 18"/>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登録しておくだけで入口になります。今日、席に座ったまま申し込めるものがあります。</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2103120"/>
            <a:ext cx="10911535" cy="1828800"/>
          </a:xfrm>
          <a:prstGeom prst="rect">
            <a:avLst/>
          </a:prstGeom>
          <a:noFill/>
          <a:ln/>
        </p:spPr>
        <p:txBody>
          <a:bodyPr wrap="square" lIns="0" tIns="0" rIns="0" bIns="0" rtlCol="0" anchor="ctr">
            <a:normAutofit/>
          </a:bodyPr>
          <a:lstStyle/>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次に、民間の仕事。</a:t>
            </a:r>
            <a:endParaRPr lang="en-US" sz="4000" dirty="0"/>
          </a:p>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1件ずつ、何をやったか。</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第5部｜民間</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過去の縁が、独立を機に仕事になった（5件）</a:t>
            </a:r>
            <a:endParaRPr lang="en-US" sz="3000" dirty="0"/>
          </a:p>
        </p:txBody>
      </p:sp>
      <p:sp>
        <p:nvSpPr>
          <p:cNvPr id="4" name="Shape 2"/>
          <p:cNvSpPr/>
          <p:nvPr/>
        </p:nvSpPr>
        <p:spPr>
          <a:xfrm>
            <a:off x="640080" y="1737360"/>
            <a:ext cx="457200" cy="457200"/>
          </a:xfrm>
          <a:prstGeom prst="ellipse">
            <a:avLst/>
          </a:prstGeom>
          <a:solidFill>
            <a:srgbClr val="1E2761"/>
          </a:solidFill>
          <a:ln w="12700">
            <a:solidFill>
              <a:srgbClr val="1E2761"/>
            </a:solidFill>
            <a:prstDash val="solid"/>
          </a:ln>
        </p:spPr>
      </p:sp>
      <p:sp>
        <p:nvSpPr>
          <p:cNvPr id="5" name="Text 3"/>
          <p:cNvSpPr txBox="1"/>
          <p:nvPr/>
        </p:nvSpPr>
        <p:spPr>
          <a:xfrm>
            <a:off x="640080"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6" name="Text 4"/>
          <p:cNvSpPr txBox="1"/>
          <p:nvPr/>
        </p:nvSpPr>
        <p:spPr>
          <a:xfrm>
            <a:off x="1325880" y="1709928"/>
            <a:ext cx="10134295" cy="365760"/>
          </a:xfrm>
          <a:prstGeom prst="rect">
            <a:avLst/>
          </a:prstGeom>
          <a:noFill/>
          <a:ln/>
        </p:spPr>
        <p:txBody>
          <a:bodyPr wrap="square" lIns="0" tIns="0" rIns="0" bIns="0" rtlCol="0" anchor="ctr">
            <a:normAutofit/>
          </a:bodyPr>
          <a:lstStyle/>
          <a:p>
            <a:pPr indent="0" marL="0">
              <a:buNone/>
            </a:pPr>
            <a:r>
              <a:rPr lang="en-US" sz="1700" b="1" dirty="0">
                <a:solidFill>
                  <a:srgbClr val="222222"/>
                </a:solidFill>
                <a:latin typeface="Meiryo" pitchFamily="34" charset="0"/>
                <a:ea typeface="Meiryo" pitchFamily="34" charset="-122"/>
                <a:cs typeface="Meiryo" pitchFamily="34" charset="-120"/>
              </a:rPr>
              <a:t>地元のサッカークラブ</a:t>
            </a:r>
            <a:endParaRPr lang="en-US" sz="1700" dirty="0"/>
          </a:p>
        </p:txBody>
      </p:sp>
      <p:sp>
        <p:nvSpPr>
          <p:cNvPr id="7" name="Text 5"/>
          <p:cNvSpPr txBox="1"/>
          <p:nvPr/>
        </p:nvSpPr>
        <p:spPr>
          <a:xfrm>
            <a:off x="1325880" y="2066544"/>
            <a:ext cx="10134295" cy="48463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コロナ禍から支援していて、会社を辞めることになり顧問に</a:t>
            </a:r>
            <a:endParaRPr lang="en-US" sz="1400" dirty="0"/>
          </a:p>
        </p:txBody>
      </p:sp>
      <p:sp>
        <p:nvSpPr>
          <p:cNvPr id="8" name="Shape 6"/>
          <p:cNvSpPr/>
          <p:nvPr/>
        </p:nvSpPr>
        <p:spPr>
          <a:xfrm>
            <a:off x="640080" y="2606040"/>
            <a:ext cx="457200" cy="457200"/>
          </a:xfrm>
          <a:prstGeom prst="ellipse">
            <a:avLst/>
          </a:prstGeom>
          <a:solidFill>
            <a:srgbClr val="1E2761"/>
          </a:solidFill>
          <a:ln w="12700">
            <a:solidFill>
              <a:srgbClr val="1E2761"/>
            </a:solidFill>
            <a:prstDash val="solid"/>
          </a:ln>
        </p:spPr>
      </p:sp>
      <p:sp>
        <p:nvSpPr>
          <p:cNvPr id="9" name="Text 7"/>
          <p:cNvSpPr txBox="1"/>
          <p:nvPr/>
        </p:nvSpPr>
        <p:spPr>
          <a:xfrm>
            <a:off x="64008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0" name="Text 8"/>
          <p:cNvSpPr txBox="1"/>
          <p:nvPr/>
        </p:nvSpPr>
        <p:spPr>
          <a:xfrm>
            <a:off x="1325880" y="2578608"/>
            <a:ext cx="10134295" cy="365760"/>
          </a:xfrm>
          <a:prstGeom prst="rect">
            <a:avLst/>
          </a:prstGeom>
          <a:noFill/>
          <a:ln/>
        </p:spPr>
        <p:txBody>
          <a:bodyPr wrap="square" lIns="0" tIns="0" rIns="0" bIns="0" rtlCol="0" anchor="ctr">
            <a:normAutofit/>
          </a:bodyPr>
          <a:lstStyle/>
          <a:p>
            <a:pPr indent="0" marL="0">
              <a:buNone/>
            </a:pPr>
            <a:r>
              <a:rPr lang="en-US" sz="1700" b="1" dirty="0">
                <a:solidFill>
                  <a:srgbClr val="222222"/>
                </a:solidFill>
                <a:latin typeface="Meiryo" pitchFamily="34" charset="0"/>
                <a:ea typeface="Meiryo" pitchFamily="34" charset="-122"/>
                <a:cs typeface="Meiryo" pitchFamily="34" charset="-120"/>
              </a:rPr>
              <a:t>ホームページ作成会社（リコー時代の支援先）</a:t>
            </a:r>
            <a:endParaRPr lang="en-US" sz="1700" dirty="0"/>
          </a:p>
        </p:txBody>
      </p:sp>
      <p:sp>
        <p:nvSpPr>
          <p:cNvPr id="11" name="Text 9"/>
          <p:cNvSpPr txBox="1"/>
          <p:nvPr/>
        </p:nvSpPr>
        <p:spPr>
          <a:xfrm>
            <a:off x="1325880" y="2935224"/>
            <a:ext cx="10134295" cy="48463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退職が決まり、有給休暇中に奄美大島まで会いに行き、その夜に決まった</a:t>
            </a:r>
            <a:endParaRPr lang="en-US" sz="1400" dirty="0"/>
          </a:p>
        </p:txBody>
      </p:sp>
      <p:sp>
        <p:nvSpPr>
          <p:cNvPr id="12" name="Shape 10"/>
          <p:cNvSpPr/>
          <p:nvPr/>
        </p:nvSpPr>
        <p:spPr>
          <a:xfrm>
            <a:off x="640080" y="3474720"/>
            <a:ext cx="457200" cy="457200"/>
          </a:xfrm>
          <a:prstGeom prst="ellipse">
            <a:avLst/>
          </a:prstGeom>
          <a:solidFill>
            <a:srgbClr val="1E2761"/>
          </a:solidFill>
          <a:ln w="12700">
            <a:solidFill>
              <a:srgbClr val="1E2761"/>
            </a:solidFill>
            <a:prstDash val="solid"/>
          </a:ln>
        </p:spPr>
      </p:sp>
      <p:sp>
        <p:nvSpPr>
          <p:cNvPr id="13" name="Text 11"/>
          <p:cNvSpPr txBox="1"/>
          <p:nvPr/>
        </p:nvSpPr>
        <p:spPr>
          <a:xfrm>
            <a:off x="64008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4" name="Text 12"/>
          <p:cNvSpPr txBox="1"/>
          <p:nvPr/>
        </p:nvSpPr>
        <p:spPr>
          <a:xfrm>
            <a:off x="1325880" y="3447288"/>
            <a:ext cx="10134295" cy="365760"/>
          </a:xfrm>
          <a:prstGeom prst="rect">
            <a:avLst/>
          </a:prstGeom>
          <a:noFill/>
          <a:ln/>
        </p:spPr>
        <p:txBody>
          <a:bodyPr wrap="square" lIns="0" tIns="0" rIns="0" bIns="0" rtlCol="0" anchor="ctr">
            <a:normAutofit/>
          </a:bodyPr>
          <a:lstStyle/>
          <a:p>
            <a:pPr indent="0" marL="0">
              <a:buNone/>
            </a:pPr>
            <a:r>
              <a:rPr lang="en-US" sz="1700" b="1" dirty="0">
                <a:solidFill>
                  <a:srgbClr val="222222"/>
                </a:solidFill>
                <a:latin typeface="Meiryo" pitchFamily="34" charset="0"/>
                <a:ea typeface="Meiryo" pitchFamily="34" charset="-122"/>
                <a:cs typeface="Meiryo" pitchFamily="34" charset="-120"/>
              </a:rPr>
              <a:t>scalar（理工のときの支援先）</a:t>
            </a:r>
            <a:endParaRPr lang="en-US" sz="1700" dirty="0"/>
          </a:p>
        </p:txBody>
      </p:sp>
      <p:sp>
        <p:nvSpPr>
          <p:cNvPr id="15" name="Text 13"/>
          <p:cNvSpPr txBox="1"/>
          <p:nvPr/>
        </p:nvSpPr>
        <p:spPr>
          <a:xfrm>
            <a:off x="1325880" y="3803904"/>
            <a:ext cx="10134295" cy="48463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「会社を辞めるなら一緒に」と誘われて</a:t>
            </a:r>
            <a:endParaRPr lang="en-US" sz="1400" dirty="0"/>
          </a:p>
        </p:txBody>
      </p:sp>
      <p:sp>
        <p:nvSpPr>
          <p:cNvPr id="16" name="Shape 14"/>
          <p:cNvSpPr/>
          <p:nvPr/>
        </p:nvSpPr>
        <p:spPr>
          <a:xfrm>
            <a:off x="640080" y="4343400"/>
            <a:ext cx="457200" cy="457200"/>
          </a:xfrm>
          <a:prstGeom prst="ellipse">
            <a:avLst/>
          </a:prstGeom>
          <a:solidFill>
            <a:srgbClr val="1E2761"/>
          </a:solidFill>
          <a:ln w="12700">
            <a:solidFill>
              <a:srgbClr val="1E2761"/>
            </a:solidFill>
            <a:prstDash val="solid"/>
          </a:ln>
        </p:spPr>
      </p:sp>
      <p:sp>
        <p:nvSpPr>
          <p:cNvPr id="17" name="Text 15"/>
          <p:cNvSpPr txBox="1"/>
          <p:nvPr/>
        </p:nvSpPr>
        <p:spPr>
          <a:xfrm>
            <a:off x="640080" y="4343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18" name="Text 16"/>
          <p:cNvSpPr txBox="1"/>
          <p:nvPr/>
        </p:nvSpPr>
        <p:spPr>
          <a:xfrm>
            <a:off x="1325880" y="4315968"/>
            <a:ext cx="10134295" cy="365760"/>
          </a:xfrm>
          <a:prstGeom prst="rect">
            <a:avLst/>
          </a:prstGeom>
          <a:noFill/>
          <a:ln/>
        </p:spPr>
        <p:txBody>
          <a:bodyPr wrap="square" lIns="0" tIns="0" rIns="0" bIns="0" rtlCol="0" anchor="ctr">
            <a:normAutofit/>
          </a:bodyPr>
          <a:lstStyle/>
          <a:p>
            <a:pPr indent="0" marL="0">
              <a:buNone/>
            </a:pPr>
            <a:r>
              <a:rPr lang="en-US" sz="1700" b="1" dirty="0">
                <a:solidFill>
                  <a:srgbClr val="222222"/>
                </a:solidFill>
                <a:latin typeface="Meiryo" pitchFamily="34" charset="0"/>
                <a:ea typeface="Meiryo" pitchFamily="34" charset="-122"/>
                <a:cs typeface="Meiryo" pitchFamily="34" charset="-120"/>
              </a:rPr>
              <a:t>リコージャパン（古巣）</a:t>
            </a:r>
            <a:endParaRPr lang="en-US" sz="1700" dirty="0"/>
          </a:p>
        </p:txBody>
      </p:sp>
      <p:sp>
        <p:nvSpPr>
          <p:cNvPr id="19" name="Text 17"/>
          <p:cNvSpPr txBox="1"/>
          <p:nvPr/>
        </p:nvSpPr>
        <p:spPr>
          <a:xfrm>
            <a:off x="1325880" y="4672584"/>
            <a:ext cx="10134295" cy="48463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前職からの依頼</a:t>
            </a:r>
            <a:endParaRPr lang="en-US" sz="1400" dirty="0"/>
          </a:p>
        </p:txBody>
      </p:sp>
      <p:sp>
        <p:nvSpPr>
          <p:cNvPr id="20" name="Shape 18"/>
          <p:cNvSpPr/>
          <p:nvPr/>
        </p:nvSpPr>
        <p:spPr>
          <a:xfrm>
            <a:off x="640080" y="5212080"/>
            <a:ext cx="457200" cy="457200"/>
          </a:xfrm>
          <a:prstGeom prst="ellipse">
            <a:avLst/>
          </a:prstGeom>
          <a:solidFill>
            <a:srgbClr val="1E2761"/>
          </a:solidFill>
          <a:ln w="12700">
            <a:solidFill>
              <a:srgbClr val="1E2761"/>
            </a:solidFill>
            <a:prstDash val="solid"/>
          </a:ln>
        </p:spPr>
      </p:sp>
      <p:sp>
        <p:nvSpPr>
          <p:cNvPr id="21" name="Text 19"/>
          <p:cNvSpPr txBox="1"/>
          <p:nvPr/>
        </p:nvSpPr>
        <p:spPr>
          <a:xfrm>
            <a:off x="640080" y="52120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5</a:t>
            </a:r>
            <a:endParaRPr lang="en-US" sz="1600" dirty="0"/>
          </a:p>
        </p:txBody>
      </p:sp>
      <p:sp>
        <p:nvSpPr>
          <p:cNvPr id="22" name="Text 20"/>
          <p:cNvSpPr txBox="1"/>
          <p:nvPr/>
        </p:nvSpPr>
        <p:spPr>
          <a:xfrm>
            <a:off x="1325880" y="5184648"/>
            <a:ext cx="10134295" cy="365760"/>
          </a:xfrm>
          <a:prstGeom prst="rect">
            <a:avLst/>
          </a:prstGeom>
          <a:noFill/>
          <a:ln/>
        </p:spPr>
        <p:txBody>
          <a:bodyPr wrap="square" lIns="0" tIns="0" rIns="0" bIns="0" rtlCol="0" anchor="ctr">
            <a:normAutofit/>
          </a:bodyPr>
          <a:lstStyle/>
          <a:p>
            <a:pPr indent="0" marL="0">
              <a:buNone/>
            </a:pPr>
            <a:r>
              <a:rPr lang="en-US" sz="1700" b="1" dirty="0">
                <a:solidFill>
                  <a:srgbClr val="222222"/>
                </a:solidFill>
                <a:latin typeface="Meiryo" pitchFamily="34" charset="0"/>
                <a:ea typeface="Meiryo" pitchFamily="34" charset="-122"/>
                <a:cs typeface="Meiryo" pitchFamily="34" charset="-120"/>
              </a:rPr>
              <a:t>弟の会社</a:t>
            </a:r>
            <a:endParaRPr lang="en-US" sz="1700" dirty="0"/>
          </a:p>
        </p:txBody>
      </p:sp>
      <p:sp>
        <p:nvSpPr>
          <p:cNvPr id="23" name="Text 21"/>
          <p:cNvSpPr txBox="1"/>
          <p:nvPr/>
        </p:nvSpPr>
        <p:spPr>
          <a:xfrm>
            <a:off x="1325880" y="5541264"/>
            <a:ext cx="10134295" cy="48463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泣きついた</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第5部｜民間</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人からのお誘い（3件）</a:t>
            </a:r>
            <a:endParaRPr lang="en-US" sz="3000" dirty="0"/>
          </a:p>
        </p:txBody>
      </p:sp>
      <p:sp>
        <p:nvSpPr>
          <p:cNvPr id="4" name="Shape 2"/>
          <p:cNvSpPr/>
          <p:nvPr/>
        </p:nvSpPr>
        <p:spPr>
          <a:xfrm>
            <a:off x="640080" y="2011680"/>
            <a:ext cx="457200" cy="457200"/>
          </a:xfrm>
          <a:prstGeom prst="ellipse">
            <a:avLst/>
          </a:prstGeom>
          <a:solidFill>
            <a:srgbClr val="1E2761"/>
          </a:solidFill>
          <a:ln w="12700">
            <a:solidFill>
              <a:srgbClr val="1E2761"/>
            </a:solidFill>
            <a:prstDash val="solid"/>
          </a:ln>
        </p:spPr>
      </p:sp>
      <p:sp>
        <p:nvSpPr>
          <p:cNvPr id="5" name="Text 3"/>
          <p:cNvSpPr txBox="1"/>
          <p:nvPr/>
        </p:nvSpPr>
        <p:spPr>
          <a:xfrm>
            <a:off x="640080" y="2011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6" name="Text 4"/>
          <p:cNvSpPr txBox="1"/>
          <p:nvPr/>
        </p:nvSpPr>
        <p:spPr>
          <a:xfrm>
            <a:off x="1325880" y="198424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ビューティーガレージグループ</a:t>
            </a:r>
            <a:endParaRPr lang="en-US" sz="1800" dirty="0"/>
          </a:p>
        </p:txBody>
      </p:sp>
      <p:sp>
        <p:nvSpPr>
          <p:cNvPr id="7" name="Text 5"/>
          <p:cNvSpPr txBox="1"/>
          <p:nvPr/>
        </p:nvSpPr>
        <p:spPr>
          <a:xfrm>
            <a:off x="1325880" y="2340864"/>
            <a:ext cx="10134295" cy="66751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外山さんからのお誘い</a:t>
            </a:r>
            <a:endParaRPr lang="en-US" sz="1400" dirty="0"/>
          </a:p>
        </p:txBody>
      </p:sp>
      <p:sp>
        <p:nvSpPr>
          <p:cNvPr id="8" name="Shape 6"/>
          <p:cNvSpPr/>
          <p:nvPr/>
        </p:nvSpPr>
        <p:spPr>
          <a:xfrm>
            <a:off x="640080" y="3063240"/>
            <a:ext cx="457200" cy="457200"/>
          </a:xfrm>
          <a:prstGeom prst="ellipse">
            <a:avLst/>
          </a:prstGeom>
          <a:solidFill>
            <a:srgbClr val="1E2761"/>
          </a:solidFill>
          <a:ln w="12700">
            <a:solidFill>
              <a:srgbClr val="1E2761"/>
            </a:solidFill>
            <a:prstDash val="solid"/>
          </a:ln>
        </p:spPr>
      </p:sp>
      <p:sp>
        <p:nvSpPr>
          <p:cNvPr id="9" name="Text 7"/>
          <p:cNvSpPr txBox="1"/>
          <p:nvPr/>
        </p:nvSpPr>
        <p:spPr>
          <a:xfrm>
            <a:off x="64008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0" name="Text 8"/>
          <p:cNvSpPr txBox="1"/>
          <p:nvPr/>
        </p:nvSpPr>
        <p:spPr>
          <a:xfrm>
            <a:off x="1325880" y="303580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三菱フードサービス</a:t>
            </a:r>
            <a:endParaRPr lang="en-US" sz="1800" dirty="0"/>
          </a:p>
        </p:txBody>
      </p:sp>
      <p:sp>
        <p:nvSpPr>
          <p:cNvPr id="11" name="Text 9"/>
          <p:cNvSpPr txBox="1"/>
          <p:nvPr/>
        </p:nvSpPr>
        <p:spPr>
          <a:xfrm>
            <a:off x="1325880" y="3392424"/>
            <a:ext cx="10134295" cy="66751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塩島さんからのお誘い</a:t>
            </a:r>
            <a:endParaRPr lang="en-US" sz="1400" dirty="0"/>
          </a:p>
        </p:txBody>
      </p:sp>
      <p:sp>
        <p:nvSpPr>
          <p:cNvPr id="12" name="Shape 10"/>
          <p:cNvSpPr/>
          <p:nvPr/>
        </p:nvSpPr>
        <p:spPr>
          <a:xfrm>
            <a:off x="640080" y="4114800"/>
            <a:ext cx="457200" cy="457200"/>
          </a:xfrm>
          <a:prstGeom prst="ellipse">
            <a:avLst/>
          </a:prstGeom>
          <a:solidFill>
            <a:srgbClr val="1E2761"/>
          </a:solidFill>
          <a:ln w="12700">
            <a:solidFill>
              <a:srgbClr val="1E2761"/>
            </a:solidFill>
            <a:prstDash val="solid"/>
          </a:ln>
        </p:spPr>
      </p:sp>
      <p:sp>
        <p:nvSpPr>
          <p:cNvPr id="13" name="Text 11"/>
          <p:cNvSpPr txBox="1"/>
          <p:nvPr/>
        </p:nvSpPr>
        <p:spPr>
          <a:xfrm>
            <a:off x="640080" y="4114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4" name="Text 12"/>
          <p:cNvSpPr txBox="1"/>
          <p:nvPr/>
        </p:nvSpPr>
        <p:spPr>
          <a:xfrm>
            <a:off x="1325880" y="408736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アンドドット</a:t>
            </a:r>
            <a:endParaRPr lang="en-US" sz="1800" dirty="0"/>
          </a:p>
        </p:txBody>
      </p:sp>
      <p:sp>
        <p:nvSpPr>
          <p:cNvPr id="15" name="Text 13"/>
          <p:cNvSpPr txBox="1"/>
          <p:nvPr/>
        </p:nvSpPr>
        <p:spPr>
          <a:xfrm>
            <a:off x="1325880" y="4443984"/>
            <a:ext cx="10134295" cy="66751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公的支援が終わったあとにお誘いをいただいた（公的 → 民間への転換）</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第5部｜民間</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顧問先からの紹介（7件）</a:t>
            </a:r>
            <a:endParaRPr lang="en-US" sz="3000" dirty="0"/>
          </a:p>
        </p:txBody>
      </p:sp>
      <p:sp>
        <p:nvSpPr>
          <p:cNvPr id="4" name="Text 2"/>
          <p:cNvSpPr txBox="1"/>
          <p:nvPr/>
        </p:nvSpPr>
        <p:spPr>
          <a:xfrm>
            <a:off x="640080" y="1600200"/>
            <a:ext cx="10911535" cy="365760"/>
          </a:xfrm>
          <a:prstGeom prst="rect">
            <a:avLst/>
          </a:prstGeom>
          <a:noFill/>
          <a:ln/>
        </p:spPr>
        <p:txBody>
          <a:bodyPr wrap="square" lIns="0" tIns="0" rIns="0" bIns="0" rtlCol="0" anchor="ctr"/>
          <a:lstStyle/>
          <a:p>
            <a:pPr indent="0" marL="0">
              <a:buNone/>
            </a:pPr>
            <a:r>
              <a:rPr lang="en-US" sz="1600" dirty="0">
                <a:solidFill>
                  <a:srgbClr val="666666"/>
                </a:solidFill>
                <a:latin typeface="Meiryo" pitchFamily="34" charset="0"/>
                <a:ea typeface="Meiryo" pitchFamily="34" charset="-122"/>
                <a:cs typeface="Meiryo" pitchFamily="34" charset="-120"/>
              </a:rPr>
              <a:t>今年から増えた11社のうち、7社が紹介でした。</a:t>
            </a:r>
            <a:endParaRPr lang="en-US" sz="1600" dirty="0"/>
          </a:p>
        </p:txBody>
      </p:sp>
      <p:sp>
        <p:nvSpPr>
          <p:cNvPr id="5" name="Shape 3"/>
          <p:cNvSpPr/>
          <p:nvPr/>
        </p:nvSpPr>
        <p:spPr>
          <a:xfrm>
            <a:off x="640080" y="2221992"/>
            <a:ext cx="201168" cy="201168"/>
          </a:xfrm>
          <a:prstGeom prst="ellipse">
            <a:avLst/>
          </a:prstGeom>
          <a:solidFill>
            <a:srgbClr val="C08A2E"/>
          </a:solidFill>
          <a:ln w="12700">
            <a:solidFill>
              <a:srgbClr val="C08A2E"/>
            </a:solidFill>
            <a:prstDash val="solid"/>
          </a:ln>
        </p:spPr>
      </p:sp>
      <p:sp>
        <p:nvSpPr>
          <p:cNvPr id="6" name="Text 4"/>
          <p:cNvSpPr txBox="1"/>
          <p:nvPr/>
        </p:nvSpPr>
        <p:spPr>
          <a:xfrm>
            <a:off x="1051560" y="2148840"/>
            <a:ext cx="4907128" cy="320040"/>
          </a:xfrm>
          <a:prstGeom prst="rect">
            <a:avLst/>
          </a:prstGeom>
          <a:noFill/>
          <a:ln/>
        </p:spPr>
        <p:txBody>
          <a:bodyPr wrap="square" lIns="0" tIns="0" rIns="0" bIns="0" rtlCol="0" anchor="ctr"/>
          <a:lstStyle/>
          <a:p>
            <a:pPr indent="0" marL="0">
              <a:buNone/>
            </a:pPr>
            <a:r>
              <a:rPr lang="en-US" sz="1700" b="1" dirty="0">
                <a:solidFill>
                  <a:srgbClr val="222222"/>
                </a:solidFill>
                <a:latin typeface="Meiryo" pitchFamily="34" charset="0"/>
                <a:ea typeface="Meiryo" pitchFamily="34" charset="-122"/>
                <a:cs typeface="Meiryo" pitchFamily="34" charset="-120"/>
              </a:rPr>
              <a:t>池田紙工</a:t>
            </a:r>
            <a:endParaRPr lang="en-US" sz="1700" dirty="0"/>
          </a:p>
        </p:txBody>
      </p:sp>
      <p:sp>
        <p:nvSpPr>
          <p:cNvPr id="7" name="Text 5"/>
          <p:cNvSpPr txBox="1"/>
          <p:nvPr/>
        </p:nvSpPr>
        <p:spPr>
          <a:xfrm>
            <a:off x="1051560" y="2478024"/>
            <a:ext cx="4907128" cy="320040"/>
          </a:xfrm>
          <a:prstGeom prst="rect">
            <a:avLst/>
          </a:prstGeom>
          <a:noFill/>
          <a:ln/>
        </p:spPr>
        <p:txBody>
          <a:bodyPr wrap="square" lIns="0" tIns="0" rIns="0" bIns="0" rtlCol="0" anchor="ctr"/>
          <a:lstStyle/>
          <a:p>
            <a:pPr indent="0" marL="0">
              <a:buNone/>
            </a:pPr>
            <a:r>
              <a:rPr lang="en-US" sz="1300" dirty="0">
                <a:solidFill>
                  <a:srgbClr val="666666"/>
                </a:solidFill>
                <a:latin typeface="Meiryo" pitchFamily="34" charset="0"/>
                <a:ea typeface="Meiryo" pitchFamily="34" charset="-122"/>
                <a:cs typeface="Meiryo" pitchFamily="34" charset="-120"/>
              </a:rPr>
              <a:t>scalar からの紹介</a:t>
            </a:r>
            <a:endParaRPr lang="en-US" sz="1300" dirty="0"/>
          </a:p>
        </p:txBody>
      </p:sp>
      <p:sp>
        <p:nvSpPr>
          <p:cNvPr id="8" name="Shape 6"/>
          <p:cNvSpPr/>
          <p:nvPr/>
        </p:nvSpPr>
        <p:spPr>
          <a:xfrm>
            <a:off x="640080" y="3090672"/>
            <a:ext cx="201168" cy="201168"/>
          </a:xfrm>
          <a:prstGeom prst="ellipse">
            <a:avLst/>
          </a:prstGeom>
          <a:solidFill>
            <a:srgbClr val="C08A2E"/>
          </a:solidFill>
          <a:ln w="12700">
            <a:solidFill>
              <a:srgbClr val="C08A2E"/>
            </a:solidFill>
            <a:prstDash val="solid"/>
          </a:ln>
        </p:spPr>
      </p:sp>
      <p:sp>
        <p:nvSpPr>
          <p:cNvPr id="9" name="Text 7"/>
          <p:cNvSpPr txBox="1"/>
          <p:nvPr/>
        </p:nvSpPr>
        <p:spPr>
          <a:xfrm>
            <a:off x="1051560" y="3017520"/>
            <a:ext cx="4907128" cy="320040"/>
          </a:xfrm>
          <a:prstGeom prst="rect">
            <a:avLst/>
          </a:prstGeom>
          <a:noFill/>
          <a:ln/>
        </p:spPr>
        <p:txBody>
          <a:bodyPr wrap="square" lIns="0" tIns="0" rIns="0" bIns="0" rtlCol="0" anchor="ctr"/>
          <a:lstStyle/>
          <a:p>
            <a:pPr indent="0" marL="0">
              <a:buNone/>
            </a:pPr>
            <a:r>
              <a:rPr lang="en-US" sz="1700" b="1" dirty="0">
                <a:solidFill>
                  <a:srgbClr val="222222"/>
                </a:solidFill>
                <a:latin typeface="Meiryo" pitchFamily="34" charset="0"/>
                <a:ea typeface="Meiryo" pitchFamily="34" charset="-122"/>
                <a:cs typeface="Meiryo" pitchFamily="34" charset="-120"/>
              </a:rPr>
              <a:t>OTCコーヒー</a:t>
            </a:r>
            <a:endParaRPr lang="en-US" sz="1700" dirty="0"/>
          </a:p>
        </p:txBody>
      </p:sp>
      <p:sp>
        <p:nvSpPr>
          <p:cNvPr id="10" name="Text 8"/>
          <p:cNvSpPr txBox="1"/>
          <p:nvPr/>
        </p:nvSpPr>
        <p:spPr>
          <a:xfrm>
            <a:off x="1051560" y="3346704"/>
            <a:ext cx="4907128" cy="320040"/>
          </a:xfrm>
          <a:prstGeom prst="rect">
            <a:avLst/>
          </a:prstGeom>
          <a:noFill/>
          <a:ln/>
        </p:spPr>
        <p:txBody>
          <a:bodyPr wrap="square" lIns="0" tIns="0" rIns="0" bIns="0" rtlCol="0" anchor="ctr"/>
          <a:lstStyle/>
          <a:p>
            <a:pPr indent="0" marL="0">
              <a:buNone/>
            </a:pPr>
            <a:r>
              <a:rPr lang="en-US" sz="1300" dirty="0">
                <a:solidFill>
                  <a:srgbClr val="666666"/>
                </a:solidFill>
                <a:latin typeface="Meiryo" pitchFamily="34" charset="0"/>
                <a:ea typeface="Meiryo" pitchFamily="34" charset="-122"/>
                <a:cs typeface="Meiryo" pitchFamily="34" charset="-120"/>
              </a:rPr>
              <a:t>scalar からの紹介・創業支援</a:t>
            </a:r>
            <a:endParaRPr lang="en-US" sz="1300" dirty="0"/>
          </a:p>
        </p:txBody>
      </p:sp>
      <p:sp>
        <p:nvSpPr>
          <p:cNvPr id="11" name="Shape 9"/>
          <p:cNvSpPr/>
          <p:nvPr/>
        </p:nvSpPr>
        <p:spPr>
          <a:xfrm>
            <a:off x="640080" y="3959352"/>
            <a:ext cx="201168" cy="201168"/>
          </a:xfrm>
          <a:prstGeom prst="ellipse">
            <a:avLst/>
          </a:prstGeom>
          <a:solidFill>
            <a:srgbClr val="C08A2E"/>
          </a:solidFill>
          <a:ln w="12700">
            <a:solidFill>
              <a:srgbClr val="C08A2E"/>
            </a:solidFill>
            <a:prstDash val="solid"/>
          </a:ln>
        </p:spPr>
      </p:sp>
      <p:sp>
        <p:nvSpPr>
          <p:cNvPr id="12" name="Text 10"/>
          <p:cNvSpPr txBox="1"/>
          <p:nvPr/>
        </p:nvSpPr>
        <p:spPr>
          <a:xfrm>
            <a:off x="1051560" y="3886200"/>
            <a:ext cx="4907128" cy="320040"/>
          </a:xfrm>
          <a:prstGeom prst="rect">
            <a:avLst/>
          </a:prstGeom>
          <a:noFill/>
          <a:ln/>
        </p:spPr>
        <p:txBody>
          <a:bodyPr wrap="square" lIns="0" tIns="0" rIns="0" bIns="0" rtlCol="0" anchor="ctr"/>
          <a:lstStyle/>
          <a:p>
            <a:pPr indent="0" marL="0">
              <a:buNone/>
            </a:pPr>
            <a:r>
              <a:rPr lang="en-US" sz="1700" b="1" dirty="0">
                <a:solidFill>
                  <a:srgbClr val="222222"/>
                </a:solidFill>
                <a:latin typeface="Meiryo" pitchFamily="34" charset="0"/>
                <a:ea typeface="Meiryo" pitchFamily="34" charset="-122"/>
                <a:cs typeface="Meiryo" pitchFamily="34" charset="-120"/>
              </a:rPr>
              <a:t>春蔵</a:t>
            </a:r>
            <a:endParaRPr lang="en-US" sz="1700" dirty="0"/>
          </a:p>
        </p:txBody>
      </p:sp>
      <p:sp>
        <p:nvSpPr>
          <p:cNvPr id="13" name="Text 11"/>
          <p:cNvSpPr txBox="1"/>
          <p:nvPr/>
        </p:nvSpPr>
        <p:spPr>
          <a:xfrm>
            <a:off x="1051560" y="4215384"/>
            <a:ext cx="4907128" cy="320040"/>
          </a:xfrm>
          <a:prstGeom prst="rect">
            <a:avLst/>
          </a:prstGeom>
          <a:noFill/>
          <a:ln/>
        </p:spPr>
        <p:txBody>
          <a:bodyPr wrap="square" lIns="0" tIns="0" rIns="0" bIns="0" rtlCol="0" anchor="ctr"/>
          <a:lstStyle/>
          <a:p>
            <a:pPr indent="0" marL="0">
              <a:buNone/>
            </a:pPr>
            <a:r>
              <a:rPr lang="en-US" sz="1300" dirty="0">
                <a:solidFill>
                  <a:srgbClr val="666666"/>
                </a:solidFill>
                <a:latin typeface="Meiryo" pitchFamily="34" charset="0"/>
                <a:ea typeface="Meiryo" pitchFamily="34" charset="-122"/>
                <a:cs typeface="Meiryo" pitchFamily="34" charset="-120"/>
              </a:rPr>
              <a:t>顧問先からの紹介</a:t>
            </a:r>
            <a:endParaRPr lang="en-US" sz="1300" dirty="0"/>
          </a:p>
        </p:txBody>
      </p:sp>
      <p:sp>
        <p:nvSpPr>
          <p:cNvPr id="14" name="Shape 12"/>
          <p:cNvSpPr/>
          <p:nvPr/>
        </p:nvSpPr>
        <p:spPr>
          <a:xfrm>
            <a:off x="640080" y="4828032"/>
            <a:ext cx="201168" cy="201168"/>
          </a:xfrm>
          <a:prstGeom prst="ellipse">
            <a:avLst/>
          </a:prstGeom>
          <a:solidFill>
            <a:srgbClr val="C08A2E"/>
          </a:solidFill>
          <a:ln w="12700">
            <a:solidFill>
              <a:srgbClr val="C08A2E"/>
            </a:solidFill>
            <a:prstDash val="solid"/>
          </a:ln>
        </p:spPr>
      </p:sp>
      <p:sp>
        <p:nvSpPr>
          <p:cNvPr id="15" name="Text 13"/>
          <p:cNvSpPr txBox="1"/>
          <p:nvPr/>
        </p:nvSpPr>
        <p:spPr>
          <a:xfrm>
            <a:off x="1051560" y="4754880"/>
            <a:ext cx="4907128" cy="320040"/>
          </a:xfrm>
          <a:prstGeom prst="rect">
            <a:avLst/>
          </a:prstGeom>
          <a:noFill/>
          <a:ln/>
        </p:spPr>
        <p:txBody>
          <a:bodyPr wrap="square" lIns="0" tIns="0" rIns="0" bIns="0" rtlCol="0" anchor="ctr"/>
          <a:lstStyle/>
          <a:p>
            <a:pPr indent="0" marL="0">
              <a:buNone/>
            </a:pPr>
            <a:r>
              <a:rPr lang="en-US" sz="1700" b="1" dirty="0">
                <a:solidFill>
                  <a:srgbClr val="222222"/>
                </a:solidFill>
                <a:latin typeface="Meiryo" pitchFamily="34" charset="0"/>
                <a:ea typeface="Meiryo" pitchFamily="34" charset="-122"/>
                <a:cs typeface="Meiryo" pitchFamily="34" charset="-120"/>
              </a:rPr>
              <a:t>ミセツク</a:t>
            </a:r>
            <a:endParaRPr lang="en-US" sz="1700" dirty="0"/>
          </a:p>
        </p:txBody>
      </p:sp>
      <p:sp>
        <p:nvSpPr>
          <p:cNvPr id="16" name="Text 14"/>
          <p:cNvSpPr txBox="1"/>
          <p:nvPr/>
        </p:nvSpPr>
        <p:spPr>
          <a:xfrm>
            <a:off x="1051560" y="5084064"/>
            <a:ext cx="4907128" cy="320040"/>
          </a:xfrm>
          <a:prstGeom prst="rect">
            <a:avLst/>
          </a:prstGeom>
          <a:noFill/>
          <a:ln/>
        </p:spPr>
        <p:txBody>
          <a:bodyPr wrap="square" lIns="0" tIns="0" rIns="0" bIns="0" rtlCol="0" anchor="ctr"/>
          <a:lstStyle/>
          <a:p>
            <a:pPr indent="0" marL="0">
              <a:buNone/>
            </a:pPr>
            <a:r>
              <a:rPr lang="en-US" sz="1300" dirty="0">
                <a:solidFill>
                  <a:srgbClr val="666666"/>
                </a:solidFill>
                <a:latin typeface="Meiryo" pitchFamily="34" charset="0"/>
                <a:ea typeface="Meiryo" pitchFamily="34" charset="-122"/>
                <a:cs typeface="Meiryo" pitchFamily="34" charset="-120"/>
              </a:rPr>
              <a:t>顧問先からの紹介</a:t>
            </a:r>
            <a:endParaRPr lang="en-US" sz="1300" dirty="0"/>
          </a:p>
        </p:txBody>
      </p:sp>
      <p:sp>
        <p:nvSpPr>
          <p:cNvPr id="17" name="Shape 15"/>
          <p:cNvSpPr/>
          <p:nvPr/>
        </p:nvSpPr>
        <p:spPr>
          <a:xfrm>
            <a:off x="6233008" y="2221992"/>
            <a:ext cx="201168" cy="201168"/>
          </a:xfrm>
          <a:prstGeom prst="ellipse">
            <a:avLst/>
          </a:prstGeom>
          <a:solidFill>
            <a:srgbClr val="C08A2E"/>
          </a:solidFill>
          <a:ln w="12700">
            <a:solidFill>
              <a:srgbClr val="C08A2E"/>
            </a:solidFill>
            <a:prstDash val="solid"/>
          </a:ln>
        </p:spPr>
      </p:sp>
      <p:sp>
        <p:nvSpPr>
          <p:cNvPr id="18" name="Text 16"/>
          <p:cNvSpPr txBox="1"/>
          <p:nvPr/>
        </p:nvSpPr>
        <p:spPr>
          <a:xfrm>
            <a:off x="6644488" y="2148840"/>
            <a:ext cx="4907128" cy="320040"/>
          </a:xfrm>
          <a:prstGeom prst="rect">
            <a:avLst/>
          </a:prstGeom>
          <a:noFill/>
          <a:ln/>
        </p:spPr>
        <p:txBody>
          <a:bodyPr wrap="square" lIns="0" tIns="0" rIns="0" bIns="0" rtlCol="0" anchor="ctr"/>
          <a:lstStyle/>
          <a:p>
            <a:pPr indent="0" marL="0">
              <a:buNone/>
            </a:pPr>
            <a:r>
              <a:rPr lang="en-US" sz="1700" b="1" dirty="0">
                <a:solidFill>
                  <a:srgbClr val="222222"/>
                </a:solidFill>
                <a:latin typeface="Meiryo" pitchFamily="34" charset="0"/>
                <a:ea typeface="Meiryo" pitchFamily="34" charset="-122"/>
                <a:cs typeface="Meiryo" pitchFamily="34" charset="-120"/>
              </a:rPr>
              <a:t>sova</a:t>
            </a:r>
            <a:endParaRPr lang="en-US" sz="1700" dirty="0"/>
          </a:p>
        </p:txBody>
      </p:sp>
      <p:sp>
        <p:nvSpPr>
          <p:cNvPr id="19" name="Text 17"/>
          <p:cNvSpPr txBox="1"/>
          <p:nvPr/>
        </p:nvSpPr>
        <p:spPr>
          <a:xfrm>
            <a:off x="6644488" y="2478024"/>
            <a:ext cx="4907128" cy="320040"/>
          </a:xfrm>
          <a:prstGeom prst="rect">
            <a:avLst/>
          </a:prstGeom>
          <a:noFill/>
          <a:ln/>
        </p:spPr>
        <p:txBody>
          <a:bodyPr wrap="square" lIns="0" tIns="0" rIns="0" bIns="0" rtlCol="0" anchor="ctr"/>
          <a:lstStyle/>
          <a:p>
            <a:pPr indent="0" marL="0">
              <a:buNone/>
            </a:pPr>
            <a:r>
              <a:rPr lang="en-US" sz="1300" dirty="0">
                <a:solidFill>
                  <a:srgbClr val="666666"/>
                </a:solidFill>
                <a:latin typeface="Meiryo" pitchFamily="34" charset="0"/>
                <a:ea typeface="Meiryo" pitchFamily="34" charset="-122"/>
                <a:cs typeface="Meiryo" pitchFamily="34" charset="-120"/>
              </a:rPr>
              <a:t>顧問先からの紹介</a:t>
            </a:r>
            <a:endParaRPr lang="en-US" sz="1300" dirty="0"/>
          </a:p>
        </p:txBody>
      </p:sp>
      <p:sp>
        <p:nvSpPr>
          <p:cNvPr id="20" name="Shape 18"/>
          <p:cNvSpPr/>
          <p:nvPr/>
        </p:nvSpPr>
        <p:spPr>
          <a:xfrm>
            <a:off x="6233008" y="3090672"/>
            <a:ext cx="201168" cy="201168"/>
          </a:xfrm>
          <a:prstGeom prst="ellipse">
            <a:avLst/>
          </a:prstGeom>
          <a:solidFill>
            <a:srgbClr val="C08A2E"/>
          </a:solidFill>
          <a:ln w="12700">
            <a:solidFill>
              <a:srgbClr val="C08A2E"/>
            </a:solidFill>
            <a:prstDash val="solid"/>
          </a:ln>
        </p:spPr>
      </p:sp>
      <p:sp>
        <p:nvSpPr>
          <p:cNvPr id="21" name="Text 19"/>
          <p:cNvSpPr txBox="1"/>
          <p:nvPr/>
        </p:nvSpPr>
        <p:spPr>
          <a:xfrm>
            <a:off x="6644488" y="3017520"/>
            <a:ext cx="4907128" cy="320040"/>
          </a:xfrm>
          <a:prstGeom prst="rect">
            <a:avLst/>
          </a:prstGeom>
          <a:noFill/>
          <a:ln/>
        </p:spPr>
        <p:txBody>
          <a:bodyPr wrap="square" lIns="0" tIns="0" rIns="0" bIns="0" rtlCol="0" anchor="ctr"/>
          <a:lstStyle/>
          <a:p>
            <a:pPr indent="0" marL="0">
              <a:buNone/>
            </a:pPr>
            <a:r>
              <a:rPr lang="en-US" sz="1700" b="1" dirty="0">
                <a:solidFill>
                  <a:srgbClr val="222222"/>
                </a:solidFill>
                <a:latin typeface="Meiryo" pitchFamily="34" charset="0"/>
                <a:ea typeface="Meiryo" pitchFamily="34" charset="-122"/>
                <a:cs typeface="Meiryo" pitchFamily="34" charset="-120"/>
              </a:rPr>
              <a:t>Caneat</a:t>
            </a:r>
            <a:endParaRPr lang="en-US" sz="1700" dirty="0"/>
          </a:p>
        </p:txBody>
      </p:sp>
      <p:sp>
        <p:nvSpPr>
          <p:cNvPr id="22" name="Text 20"/>
          <p:cNvSpPr txBox="1"/>
          <p:nvPr/>
        </p:nvSpPr>
        <p:spPr>
          <a:xfrm>
            <a:off x="6644488" y="3346704"/>
            <a:ext cx="4907128" cy="320040"/>
          </a:xfrm>
          <a:prstGeom prst="rect">
            <a:avLst/>
          </a:prstGeom>
          <a:noFill/>
          <a:ln/>
        </p:spPr>
        <p:txBody>
          <a:bodyPr wrap="square" lIns="0" tIns="0" rIns="0" bIns="0" rtlCol="0" anchor="ctr"/>
          <a:lstStyle/>
          <a:p>
            <a:pPr indent="0" marL="0">
              <a:buNone/>
            </a:pPr>
            <a:r>
              <a:rPr lang="en-US" sz="1300" dirty="0">
                <a:solidFill>
                  <a:srgbClr val="666666"/>
                </a:solidFill>
                <a:latin typeface="Meiryo" pitchFamily="34" charset="0"/>
                <a:ea typeface="Meiryo" pitchFamily="34" charset="-122"/>
                <a:cs typeface="Meiryo" pitchFamily="34" charset="-120"/>
              </a:rPr>
              <a:t>顧問先からの紹介</a:t>
            </a:r>
            <a:endParaRPr lang="en-US" sz="1300" dirty="0"/>
          </a:p>
        </p:txBody>
      </p:sp>
      <p:sp>
        <p:nvSpPr>
          <p:cNvPr id="23" name="Shape 21"/>
          <p:cNvSpPr/>
          <p:nvPr/>
        </p:nvSpPr>
        <p:spPr>
          <a:xfrm>
            <a:off x="6233008" y="3959352"/>
            <a:ext cx="201168" cy="201168"/>
          </a:xfrm>
          <a:prstGeom prst="ellipse">
            <a:avLst/>
          </a:prstGeom>
          <a:solidFill>
            <a:srgbClr val="C08A2E"/>
          </a:solidFill>
          <a:ln w="12700">
            <a:solidFill>
              <a:srgbClr val="C08A2E"/>
            </a:solidFill>
            <a:prstDash val="solid"/>
          </a:ln>
        </p:spPr>
      </p:sp>
      <p:sp>
        <p:nvSpPr>
          <p:cNvPr id="24" name="Text 22"/>
          <p:cNvSpPr txBox="1"/>
          <p:nvPr/>
        </p:nvSpPr>
        <p:spPr>
          <a:xfrm>
            <a:off x="6644488" y="3886200"/>
            <a:ext cx="4907128" cy="320040"/>
          </a:xfrm>
          <a:prstGeom prst="rect">
            <a:avLst/>
          </a:prstGeom>
          <a:noFill/>
          <a:ln/>
        </p:spPr>
        <p:txBody>
          <a:bodyPr wrap="square" lIns="0" tIns="0" rIns="0" bIns="0" rtlCol="0" anchor="ctr"/>
          <a:lstStyle/>
          <a:p>
            <a:pPr indent="0" marL="0">
              <a:buNone/>
            </a:pPr>
            <a:r>
              <a:rPr lang="en-US" sz="1700" b="1" dirty="0">
                <a:solidFill>
                  <a:srgbClr val="222222"/>
                </a:solidFill>
                <a:latin typeface="Meiryo" pitchFamily="34" charset="0"/>
                <a:ea typeface="Meiryo" pitchFamily="34" charset="-122"/>
                <a:cs typeface="Meiryo" pitchFamily="34" charset="-120"/>
              </a:rPr>
              <a:t>Protribe</a:t>
            </a:r>
            <a:endParaRPr lang="en-US" sz="1700" dirty="0"/>
          </a:p>
        </p:txBody>
      </p:sp>
      <p:sp>
        <p:nvSpPr>
          <p:cNvPr id="25" name="Text 23"/>
          <p:cNvSpPr txBox="1"/>
          <p:nvPr/>
        </p:nvSpPr>
        <p:spPr>
          <a:xfrm>
            <a:off x="6644488" y="4215384"/>
            <a:ext cx="4907128" cy="320040"/>
          </a:xfrm>
          <a:prstGeom prst="rect">
            <a:avLst/>
          </a:prstGeom>
          <a:noFill/>
          <a:ln/>
        </p:spPr>
        <p:txBody>
          <a:bodyPr wrap="square" lIns="0" tIns="0" rIns="0" bIns="0" rtlCol="0" anchor="ctr"/>
          <a:lstStyle/>
          <a:p>
            <a:pPr indent="0" marL="0">
              <a:buNone/>
            </a:pPr>
            <a:r>
              <a:rPr lang="en-US" sz="1300" dirty="0">
                <a:solidFill>
                  <a:srgbClr val="666666"/>
                </a:solidFill>
                <a:latin typeface="Meiryo" pitchFamily="34" charset="0"/>
                <a:ea typeface="Meiryo" pitchFamily="34" charset="-122"/>
                <a:cs typeface="Meiryo" pitchFamily="34" charset="-120"/>
              </a:rPr>
              <a:t>顧問先からの紹介</a:t>
            </a:r>
            <a:endParaRPr lang="en-US" sz="1300" dirty="0"/>
          </a:p>
        </p:txBody>
      </p:sp>
      <p:sp>
        <p:nvSpPr>
          <p:cNvPr id="26" name="Text 24"/>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紹介元は、自分が支援してきた顧問先です。</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第5部｜民間</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逆営業（2件）</a:t>
            </a:r>
            <a:endParaRPr lang="en-US" sz="3000" dirty="0"/>
          </a:p>
        </p:txBody>
      </p:sp>
      <p:sp>
        <p:nvSpPr>
          <p:cNvPr id="4" name="Shape 2"/>
          <p:cNvSpPr/>
          <p:nvPr/>
        </p:nvSpPr>
        <p:spPr>
          <a:xfrm>
            <a:off x="640080" y="1828800"/>
            <a:ext cx="5318608" cy="2743200"/>
          </a:xfrm>
          <a:prstGeom prst="roundRect">
            <a:avLst>
              <a:gd name="adj" fmla="val 2667"/>
            </a:avLst>
          </a:prstGeom>
          <a:solidFill>
            <a:srgbClr val="F2F5FB"/>
          </a:solidFill>
          <a:ln w="12700">
            <a:solidFill>
              <a:srgbClr val="F2F5FB"/>
            </a:solidFill>
            <a:prstDash val="solid"/>
          </a:ln>
        </p:spPr>
      </p:sp>
      <p:sp>
        <p:nvSpPr>
          <p:cNvPr id="5" name="Text 3"/>
          <p:cNvSpPr txBox="1"/>
          <p:nvPr/>
        </p:nvSpPr>
        <p:spPr>
          <a:xfrm>
            <a:off x="896112" y="208483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ppコネクト</a:t>
            </a:r>
            <a:endParaRPr lang="en-US" sz="1800" dirty="0"/>
          </a:p>
        </p:txBody>
      </p:sp>
      <p:sp>
        <p:nvSpPr>
          <p:cNvPr id="6" name="Text 4"/>
          <p:cNvSpPr txBox="1"/>
          <p:nvPr/>
        </p:nvSpPr>
        <p:spPr>
          <a:xfrm>
            <a:off x="896112" y="2743200"/>
            <a:ext cx="4806544" cy="155448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創業コンサルの飛び込み営業が来ました。</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その営業マンを捕まえて指導し、「俺が顧問になって教えてあげる」ということで顧問契約になりました。</a:t>
            </a:r>
            <a:endParaRPr lang="en-US" sz="1300" dirty="0"/>
          </a:p>
        </p:txBody>
      </p:sp>
      <p:sp>
        <p:nvSpPr>
          <p:cNvPr id="7" name="Shape 5"/>
          <p:cNvSpPr/>
          <p:nvPr/>
        </p:nvSpPr>
        <p:spPr>
          <a:xfrm>
            <a:off x="6233008" y="1828800"/>
            <a:ext cx="5318608" cy="2743200"/>
          </a:xfrm>
          <a:prstGeom prst="roundRect">
            <a:avLst>
              <a:gd name="adj" fmla="val 2667"/>
            </a:avLst>
          </a:prstGeom>
          <a:solidFill>
            <a:srgbClr val="F2F5FB"/>
          </a:solidFill>
          <a:ln w="12700">
            <a:solidFill>
              <a:srgbClr val="F2F5FB"/>
            </a:solidFill>
            <a:prstDash val="solid"/>
          </a:ln>
        </p:spPr>
      </p:sp>
      <p:sp>
        <p:nvSpPr>
          <p:cNvPr id="8" name="Text 6"/>
          <p:cNvSpPr txBox="1"/>
          <p:nvPr/>
        </p:nvSpPr>
        <p:spPr>
          <a:xfrm>
            <a:off x="6489040" y="208483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四葉不動産</a:t>
            </a:r>
            <a:endParaRPr lang="en-US" sz="1800" dirty="0"/>
          </a:p>
        </p:txBody>
      </p:sp>
      <p:sp>
        <p:nvSpPr>
          <p:cNvPr id="9" name="Text 7"/>
          <p:cNvSpPr txBox="1"/>
          <p:nvPr/>
        </p:nvSpPr>
        <p:spPr>
          <a:xfrm>
            <a:off x="6489040" y="2743200"/>
            <a:ext cx="4806544" cy="155448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カフェBARの物件を探してくれた不動産仲介です。</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営業が下手だったので、営業顧問として仕事の取り方を教え、開業コンサルとして組むことで顧問になりました。</a:t>
            </a:r>
            <a:endParaRPr lang="en-US" sz="1300" dirty="0"/>
          </a:p>
        </p:txBody>
      </p:sp>
      <p:sp>
        <p:nvSpPr>
          <p:cNvPr id="10" name="Text 8"/>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売り込まれた場で、相手の困りごとを見つけ、先に「教える側」に回っています。</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第5部｜民間</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個人的な縁　／　未来への仕込み</a:t>
            </a:r>
            <a:endParaRPr lang="en-US" sz="3000" dirty="0"/>
          </a:p>
        </p:txBody>
      </p:sp>
      <p:sp>
        <p:nvSpPr>
          <p:cNvPr id="4" name="Shape 2"/>
          <p:cNvSpPr/>
          <p:nvPr/>
        </p:nvSpPr>
        <p:spPr>
          <a:xfrm>
            <a:off x="640080" y="1920240"/>
            <a:ext cx="5318608" cy="2926080"/>
          </a:xfrm>
          <a:prstGeom prst="roundRect">
            <a:avLst>
              <a:gd name="adj" fmla="val 2500"/>
            </a:avLst>
          </a:prstGeom>
          <a:solidFill>
            <a:srgbClr val="F2F5FB"/>
          </a:solidFill>
          <a:ln w="12700">
            <a:solidFill>
              <a:srgbClr val="F2F5FB"/>
            </a:solidFill>
            <a:prstDash val="solid"/>
          </a:ln>
        </p:spPr>
      </p:sp>
      <p:sp>
        <p:nvSpPr>
          <p:cNvPr id="5" name="Text 3"/>
          <p:cNvSpPr txBox="1"/>
          <p:nvPr/>
        </p:nvSpPr>
        <p:spPr>
          <a:xfrm>
            <a:off x="896112" y="217627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個人的な縁（1件）</a:t>
            </a:r>
            <a:endParaRPr lang="en-US" sz="1800" dirty="0"/>
          </a:p>
        </p:txBody>
      </p:sp>
      <p:sp>
        <p:nvSpPr>
          <p:cNvPr id="6" name="Text 4"/>
          <p:cNvSpPr txBox="1"/>
          <p:nvPr/>
        </p:nvSpPr>
        <p:spPr>
          <a:xfrm>
            <a:off x="896112" y="2834640"/>
            <a:ext cx="4806544" cy="173736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継承</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息子のチームメイトのご縁から。</a:t>
            </a:r>
            <a:endParaRPr lang="en-US" sz="1300" dirty="0"/>
          </a:p>
        </p:txBody>
      </p:sp>
      <p:sp>
        <p:nvSpPr>
          <p:cNvPr id="7" name="Shape 5"/>
          <p:cNvSpPr/>
          <p:nvPr/>
        </p:nvSpPr>
        <p:spPr>
          <a:xfrm>
            <a:off x="6233008" y="1920240"/>
            <a:ext cx="5318608" cy="2926080"/>
          </a:xfrm>
          <a:prstGeom prst="roundRect">
            <a:avLst>
              <a:gd name="adj" fmla="val 2500"/>
            </a:avLst>
          </a:prstGeom>
          <a:solidFill>
            <a:srgbClr val="F2F5FB"/>
          </a:solidFill>
          <a:ln w="12700">
            <a:solidFill>
              <a:srgbClr val="F2F5FB"/>
            </a:solidFill>
            <a:prstDash val="solid"/>
          </a:ln>
        </p:spPr>
      </p:sp>
      <p:sp>
        <p:nvSpPr>
          <p:cNvPr id="8" name="Text 6"/>
          <p:cNvSpPr txBox="1"/>
          <p:nvPr/>
        </p:nvSpPr>
        <p:spPr>
          <a:xfrm>
            <a:off x="6489040" y="217627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未来への仕込み（2件）</a:t>
            </a:r>
            <a:endParaRPr lang="en-US" sz="1800" dirty="0"/>
          </a:p>
        </p:txBody>
      </p:sp>
      <p:sp>
        <p:nvSpPr>
          <p:cNvPr id="9" name="Text 7"/>
          <p:cNvSpPr txBox="1"/>
          <p:nvPr/>
        </p:nvSpPr>
        <p:spPr>
          <a:xfrm>
            <a:off x="6489040" y="2834640"/>
            <a:ext cx="4806544" cy="173736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ラーメンのセントラルキッチンからの展開 → 売却</a:t>
            </a: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カフェBAR事業</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いまはお金を生みませんが、バイアウトで1000万といった出口を見ています。</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2103120"/>
            <a:ext cx="10911535" cy="1828800"/>
          </a:xfrm>
          <a:prstGeom prst="rect">
            <a:avLst/>
          </a:prstGeom>
          <a:noFill/>
          <a:ln/>
        </p:spPr>
        <p:txBody>
          <a:bodyPr wrap="square" lIns="0" tIns="0" rIns="0" bIns="0" rtlCol="0" anchor="ctr">
            <a:normAutofit/>
          </a:bodyPr>
          <a:lstStyle/>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さて。</a:t>
            </a:r>
            <a:endParaRPr lang="en-US" sz="4000" dirty="0"/>
          </a:p>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いま並べた26件に、</a:t>
            </a:r>
            <a:endParaRPr lang="en-US" sz="4000" dirty="0"/>
          </a:p>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共通していることは何でしょうか。</a:t>
            </a:r>
            <a:endParaRPr lang="en-US" sz="4000" dirty="0"/>
          </a:p>
        </p:txBody>
      </p:sp>
      <p:sp>
        <p:nvSpPr>
          <p:cNvPr id="3" name="Text 1"/>
          <p:cNvSpPr txBox="1"/>
          <p:nvPr/>
        </p:nvSpPr>
        <p:spPr>
          <a:xfrm>
            <a:off x="640080" y="4023360"/>
            <a:ext cx="10911535" cy="640080"/>
          </a:xfrm>
          <a:prstGeom prst="rect">
            <a:avLst/>
          </a:prstGeom>
          <a:noFill/>
          <a:ln/>
        </p:spPr>
        <p:txBody>
          <a:bodyPr wrap="square" lIns="0" tIns="0" rIns="0" bIns="0" rtlCol="0" anchor="ctr">
            <a:normAutofit/>
          </a:bodyPr>
          <a:lstStyle/>
          <a:p>
            <a:pPr algn="ctr" indent="0" marL="0">
              <a:buNone/>
            </a:pPr>
            <a:r>
              <a:rPr lang="en-US" sz="1800" dirty="0">
                <a:solidFill>
                  <a:srgbClr val="CADCFC"/>
                </a:solidFill>
                <a:latin typeface="Meiryo" pitchFamily="34" charset="0"/>
                <a:ea typeface="Meiryo" pitchFamily="34" charset="-122"/>
                <a:cs typeface="Meiryo" pitchFamily="34" charset="-120"/>
              </a:rPr>
              <a:t>少し考えてみてください。何人かに聞きます。</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第5部｜共通点</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私が思う、26件の共通点</a:t>
            </a:r>
            <a:endParaRPr lang="en-US" sz="3000" dirty="0"/>
          </a:p>
        </p:txBody>
      </p:sp>
      <p:sp>
        <p:nvSpPr>
          <p:cNvPr id="4" name="Shape 2"/>
          <p:cNvSpPr/>
          <p:nvPr/>
        </p:nvSpPr>
        <p:spPr>
          <a:xfrm>
            <a:off x="640080" y="1920240"/>
            <a:ext cx="457200" cy="457200"/>
          </a:xfrm>
          <a:prstGeom prst="ellipse">
            <a:avLst/>
          </a:prstGeom>
          <a:solidFill>
            <a:srgbClr val="1E2761"/>
          </a:solidFill>
          <a:ln w="12700">
            <a:solidFill>
              <a:srgbClr val="1E2761"/>
            </a:solidFill>
            <a:prstDash val="solid"/>
          </a:ln>
        </p:spPr>
      </p:sp>
      <p:sp>
        <p:nvSpPr>
          <p:cNvPr id="5" name="Text 3"/>
          <p:cNvSpPr txBox="1"/>
          <p:nvPr/>
        </p:nvSpPr>
        <p:spPr>
          <a:xfrm>
            <a:off x="640080" y="1920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6" name="Text 4"/>
          <p:cNvSpPr txBox="1"/>
          <p:nvPr/>
        </p:nvSpPr>
        <p:spPr>
          <a:xfrm>
            <a:off x="1325880" y="1892808"/>
            <a:ext cx="10134295" cy="365760"/>
          </a:xfrm>
          <a:prstGeom prst="rect">
            <a:avLst/>
          </a:prstGeom>
          <a:noFill/>
          <a:ln/>
        </p:spPr>
        <p:txBody>
          <a:bodyPr wrap="square" lIns="0" tIns="0" rIns="0" bIns="0" rtlCol="0" anchor="ctr">
            <a:normAutofit/>
          </a:bodyPr>
          <a:lstStyle/>
          <a:p>
            <a:pPr indent="0" marL="0">
              <a:buNone/>
            </a:pPr>
            <a:r>
              <a:rPr lang="en-US" sz="1900" b="1" dirty="0">
                <a:solidFill>
                  <a:srgbClr val="222222"/>
                </a:solidFill>
                <a:latin typeface="Meiryo" pitchFamily="34" charset="0"/>
                <a:ea typeface="Meiryo" pitchFamily="34" charset="-122"/>
                <a:cs typeface="Meiryo" pitchFamily="34" charset="-120"/>
              </a:rPr>
              <a:t>公的支援ですら、入口は「人」だった</a:t>
            </a:r>
            <a:endParaRPr lang="en-US" sz="1900" dirty="0"/>
          </a:p>
        </p:txBody>
      </p:sp>
      <p:sp>
        <p:nvSpPr>
          <p:cNvPr id="7" name="Text 5"/>
          <p:cNvSpPr txBox="1"/>
          <p:nvPr/>
        </p:nvSpPr>
        <p:spPr>
          <a:xfrm>
            <a:off x="1325880" y="2249424"/>
            <a:ext cx="10134295" cy="80467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BSDは塾の懇親会での相談から、中小機構は前職の上司から。登録だけで来た仕事のほうが少ないくらいです</a:t>
            </a:r>
            <a:endParaRPr lang="en-US" sz="1400" dirty="0"/>
          </a:p>
        </p:txBody>
      </p:sp>
      <p:sp>
        <p:nvSpPr>
          <p:cNvPr id="8" name="Shape 6"/>
          <p:cNvSpPr/>
          <p:nvPr/>
        </p:nvSpPr>
        <p:spPr>
          <a:xfrm>
            <a:off x="640080" y="3108960"/>
            <a:ext cx="457200" cy="457200"/>
          </a:xfrm>
          <a:prstGeom prst="ellipse">
            <a:avLst/>
          </a:prstGeom>
          <a:solidFill>
            <a:srgbClr val="1E2761"/>
          </a:solidFill>
          <a:ln w="12700">
            <a:solidFill>
              <a:srgbClr val="1E2761"/>
            </a:solidFill>
            <a:prstDash val="solid"/>
          </a:ln>
        </p:spPr>
      </p:sp>
      <p:sp>
        <p:nvSpPr>
          <p:cNvPr id="9" name="Text 7"/>
          <p:cNvSpPr txBox="1"/>
          <p:nvPr/>
        </p:nvSpPr>
        <p:spPr>
          <a:xfrm>
            <a:off x="640080" y="3108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0" name="Text 8"/>
          <p:cNvSpPr txBox="1"/>
          <p:nvPr/>
        </p:nvSpPr>
        <p:spPr>
          <a:xfrm>
            <a:off x="1325880" y="3081528"/>
            <a:ext cx="10134295" cy="365760"/>
          </a:xfrm>
          <a:prstGeom prst="rect">
            <a:avLst/>
          </a:prstGeom>
          <a:noFill/>
          <a:ln/>
        </p:spPr>
        <p:txBody>
          <a:bodyPr wrap="square" lIns="0" tIns="0" rIns="0" bIns="0" rtlCol="0" anchor="ctr">
            <a:normAutofit/>
          </a:bodyPr>
          <a:lstStyle/>
          <a:p>
            <a:pPr indent="0" marL="0">
              <a:buNone/>
            </a:pPr>
            <a:r>
              <a:rPr lang="en-US" sz="1900" b="1" dirty="0">
                <a:solidFill>
                  <a:srgbClr val="222222"/>
                </a:solidFill>
                <a:latin typeface="Meiryo" pitchFamily="34" charset="0"/>
                <a:ea typeface="Meiryo" pitchFamily="34" charset="-122"/>
                <a:cs typeface="Meiryo" pitchFamily="34" charset="-120"/>
              </a:rPr>
              <a:t>やったことは、地味な3つだけ</a:t>
            </a:r>
            <a:endParaRPr lang="en-US" sz="1900" dirty="0"/>
          </a:p>
        </p:txBody>
      </p:sp>
      <p:sp>
        <p:nvSpPr>
          <p:cNvPr id="11" name="Text 9"/>
          <p:cNvSpPr txBox="1"/>
          <p:nvPr/>
        </p:nvSpPr>
        <p:spPr>
          <a:xfrm>
            <a:off x="1325880" y="3438144"/>
            <a:ext cx="10134295" cy="80467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登録する／会いに行く・相談する／引き受けた1件をやり切る。特別な才能は要りませんでした</a:t>
            </a:r>
            <a:endParaRPr lang="en-US" sz="1400" dirty="0"/>
          </a:p>
        </p:txBody>
      </p:sp>
      <p:sp>
        <p:nvSpPr>
          <p:cNvPr id="12" name="Shape 10"/>
          <p:cNvSpPr/>
          <p:nvPr/>
        </p:nvSpPr>
        <p:spPr>
          <a:xfrm>
            <a:off x="640080" y="4297680"/>
            <a:ext cx="457200" cy="457200"/>
          </a:xfrm>
          <a:prstGeom prst="ellipse">
            <a:avLst/>
          </a:prstGeom>
          <a:solidFill>
            <a:srgbClr val="1E2761"/>
          </a:solidFill>
          <a:ln w="12700">
            <a:solidFill>
              <a:srgbClr val="1E2761"/>
            </a:solidFill>
            <a:prstDash val="solid"/>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4" name="Text 12"/>
          <p:cNvSpPr txBox="1"/>
          <p:nvPr/>
        </p:nvSpPr>
        <p:spPr>
          <a:xfrm>
            <a:off x="1325880" y="4270248"/>
            <a:ext cx="10134295" cy="365760"/>
          </a:xfrm>
          <a:prstGeom prst="rect">
            <a:avLst/>
          </a:prstGeom>
          <a:noFill/>
          <a:ln/>
        </p:spPr>
        <p:txBody>
          <a:bodyPr wrap="square" lIns="0" tIns="0" rIns="0" bIns="0" rtlCol="0" anchor="ctr">
            <a:normAutofit/>
          </a:bodyPr>
          <a:lstStyle/>
          <a:p>
            <a:pPr indent="0" marL="0">
              <a:buNone/>
            </a:pPr>
            <a:r>
              <a:rPr lang="en-US" sz="1900" b="1" dirty="0">
                <a:solidFill>
                  <a:srgbClr val="222222"/>
                </a:solidFill>
                <a:latin typeface="Meiryo" pitchFamily="34" charset="0"/>
                <a:ea typeface="Meiryo" pitchFamily="34" charset="-122"/>
                <a:cs typeface="Meiryo" pitchFamily="34" charset="-120"/>
              </a:rPr>
              <a:t>1件が、次を連れてきている</a:t>
            </a:r>
            <a:endParaRPr lang="en-US" sz="1900" dirty="0"/>
          </a:p>
        </p:txBody>
      </p:sp>
      <p:sp>
        <p:nvSpPr>
          <p:cNvPr id="15" name="Text 13"/>
          <p:cNvSpPr txBox="1"/>
          <p:nvPr/>
        </p:nvSpPr>
        <p:spPr>
          <a:xfrm>
            <a:off x="1325880" y="4626864"/>
            <a:ext cx="10134295" cy="80467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BSD東がBSD南を、scalar 1社が2社を、顧問先が7社を連れてきました。仕事が仕事を生んでいます</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2103120"/>
            <a:ext cx="10911535" cy="1828800"/>
          </a:xfrm>
          <a:prstGeom prst="rect">
            <a:avLst/>
          </a:prstGeom>
          <a:noFill/>
          <a:ln/>
        </p:spPr>
        <p:txBody>
          <a:bodyPr wrap="square" lIns="0" tIns="0" rIns="0" bIns="0" rtlCol="0" anchor="ctr">
            <a:normAutofit/>
          </a:bodyPr>
          <a:lstStyle/>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こちらから売り込んで取った仕事は、</a:t>
            </a:r>
            <a:endParaRPr lang="en-US" sz="4000" dirty="0"/>
          </a:p>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ひとつもありません。</a:t>
            </a:r>
            <a:endParaRPr lang="en-US" sz="4000" dirty="0"/>
          </a:p>
        </p:txBody>
      </p:sp>
      <p:sp>
        <p:nvSpPr>
          <p:cNvPr id="3" name="Text 1"/>
          <p:cNvSpPr txBox="1"/>
          <p:nvPr/>
        </p:nvSpPr>
        <p:spPr>
          <a:xfrm>
            <a:off x="640080" y="4023360"/>
            <a:ext cx="10911535" cy="640080"/>
          </a:xfrm>
          <a:prstGeom prst="rect">
            <a:avLst/>
          </a:prstGeom>
          <a:noFill/>
          <a:ln/>
        </p:spPr>
        <p:txBody>
          <a:bodyPr wrap="square" lIns="0" tIns="0" rIns="0" bIns="0" rtlCol="0" anchor="ctr">
            <a:normAutofit/>
          </a:bodyPr>
          <a:lstStyle/>
          <a:p>
            <a:pPr algn="ctr" indent="0" marL="0">
              <a:buNone/>
            </a:pPr>
            <a:r>
              <a:rPr lang="en-US" sz="1800" dirty="0">
                <a:solidFill>
                  <a:srgbClr val="CADCFC"/>
                </a:solidFill>
                <a:latin typeface="Meiryo" pitchFamily="34" charset="0"/>
                <a:ea typeface="Meiryo" pitchFamily="34" charset="-122"/>
                <a:cs typeface="Meiryo" pitchFamily="34" charset="-120"/>
              </a:rPr>
              <a:t>過去の縁5／登録先8／お誘い3／紹介7／逆営業2／個人的な縁1</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640080" y="2286000"/>
            <a:ext cx="1005840" cy="1005840"/>
          </a:xfrm>
          <a:prstGeom prst="ellipse">
            <a:avLst/>
          </a:prstGeom>
          <a:solidFill>
            <a:srgbClr val="C08A2E"/>
          </a:solidFill>
          <a:ln w="12700">
            <a:solidFill>
              <a:srgbClr val="C08A2E"/>
            </a:solidFill>
            <a:prstDash val="solid"/>
          </a:ln>
        </p:spPr>
      </p:sp>
      <p:sp>
        <p:nvSpPr>
          <p:cNvPr id="3" name="Text 1"/>
          <p:cNvSpPr txBox="1"/>
          <p:nvPr/>
        </p:nvSpPr>
        <p:spPr>
          <a:xfrm>
            <a:off x="640080" y="2286000"/>
            <a:ext cx="1005840" cy="1005840"/>
          </a:xfrm>
          <a:prstGeom prst="rect">
            <a:avLst/>
          </a:prstGeom>
          <a:noFill/>
          <a:ln/>
        </p:spPr>
        <p:txBody>
          <a:bodyPr wrap="square" lIns="0" tIns="0" rIns="0" bIns="0" rtlCol="0" anchor="ctr"/>
          <a:lstStyle/>
          <a:p>
            <a:pPr algn="ctr" indent="0" marL="0">
              <a:buNone/>
            </a:pPr>
            <a:r>
              <a:rPr lang="en-US" sz="3400" b="1" dirty="0">
                <a:solidFill>
                  <a:srgbClr val="FFFFFF"/>
                </a:solidFill>
                <a:latin typeface="Meiryo" pitchFamily="34" charset="0"/>
                <a:ea typeface="Meiryo" pitchFamily="34" charset="-122"/>
                <a:cs typeface="Meiryo" pitchFamily="34" charset="-120"/>
              </a:rPr>
              <a:t>6</a:t>
            </a:r>
            <a:endParaRPr lang="en-US" sz="3400" dirty="0"/>
          </a:p>
        </p:txBody>
      </p:sp>
      <p:sp>
        <p:nvSpPr>
          <p:cNvPr id="4" name="Text 2"/>
          <p:cNvSpPr txBox="1"/>
          <p:nvPr/>
        </p:nvSpPr>
        <p:spPr>
          <a:xfrm>
            <a:off x="2011680" y="2240280"/>
            <a:ext cx="9539935" cy="91440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Meiryo" pitchFamily="34" charset="0"/>
                <a:ea typeface="Meiryo" pitchFamily="34" charset="-122"/>
                <a:cs typeface="Meiryo" pitchFamily="34" charset="-120"/>
              </a:rPr>
              <a:t>信用とエコシステム</a:t>
            </a:r>
            <a:endParaRPr lang="en-US" sz="3400" dirty="0"/>
          </a:p>
        </p:txBody>
      </p:sp>
      <p:sp>
        <p:nvSpPr>
          <p:cNvPr id="5" name="Text 3"/>
          <p:cNvSpPr txBox="1"/>
          <p:nvPr/>
        </p:nvSpPr>
        <p:spPr>
          <a:xfrm>
            <a:off x="2011680" y="3246120"/>
            <a:ext cx="9539935" cy="731520"/>
          </a:xfrm>
          <a:prstGeom prst="rect">
            <a:avLst/>
          </a:prstGeom>
          <a:noFill/>
          <a:ln/>
        </p:spPr>
        <p:txBody>
          <a:bodyPr wrap="square" lIns="0" tIns="0" rIns="0" bIns="0" rtlCol="0" anchor="ctr">
            <a:normAutofit/>
          </a:bodyPr>
          <a:lstStyle/>
          <a:p>
            <a:pPr indent="0" marL="0">
              <a:buNone/>
            </a:pPr>
            <a:r>
              <a:rPr lang="en-US" sz="1600" dirty="0">
                <a:solidFill>
                  <a:srgbClr val="CADCFC"/>
                </a:solidFill>
                <a:latin typeface="Meiryo" pitchFamily="34" charset="0"/>
                <a:ea typeface="Meiryo" pitchFamily="34" charset="-122"/>
                <a:cs typeface="Meiryo" pitchFamily="34" charset="-120"/>
              </a:rPr>
              <a:t>15:03-15:23／20分　では、26件は何によって来たのか</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第6部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「営業力」という言葉が、私は大嫌いです</a:t>
            </a:r>
            <a:endParaRPr lang="en-US" sz="3000" dirty="0"/>
          </a:p>
        </p:txBody>
      </p:sp>
      <p:sp>
        <p:nvSpPr>
          <p:cNvPr id="4" name="Shape 2"/>
          <p:cNvSpPr/>
          <p:nvPr/>
        </p:nvSpPr>
        <p:spPr>
          <a:xfrm>
            <a:off x="640080" y="1920240"/>
            <a:ext cx="10911535" cy="1371600"/>
          </a:xfrm>
          <a:prstGeom prst="roundRect">
            <a:avLst>
              <a:gd name="adj" fmla="val 5333"/>
            </a:avLst>
          </a:prstGeom>
          <a:solidFill>
            <a:srgbClr val="F2F5FB"/>
          </a:solidFill>
          <a:ln w="12700">
            <a:solidFill>
              <a:srgbClr val="F2F5FB"/>
            </a:solidFill>
            <a:prstDash val="solid"/>
          </a:ln>
        </p:spPr>
      </p:sp>
      <p:sp>
        <p:nvSpPr>
          <p:cNvPr id="5" name="Text 3"/>
          <p:cNvSpPr txBox="1"/>
          <p:nvPr/>
        </p:nvSpPr>
        <p:spPr>
          <a:xfrm>
            <a:off x="1005840" y="1920240"/>
            <a:ext cx="10180015" cy="1371600"/>
          </a:xfrm>
          <a:prstGeom prst="rect">
            <a:avLst/>
          </a:prstGeom>
          <a:noFill/>
          <a:ln/>
        </p:spPr>
        <p:txBody>
          <a:bodyPr wrap="square" lIns="0" tIns="0" rIns="0" bIns="0" rtlCol="0" anchor="ctr">
            <a:normAutofit/>
          </a:bodyPr>
          <a:lstStyle/>
          <a:p>
            <a:pPr indent="0" marL="0">
              <a:buNone/>
            </a:pPr>
            <a:r>
              <a:rPr lang="en-US" sz="2600" b="1" dirty="0">
                <a:solidFill>
                  <a:srgbClr val="1E2761"/>
                </a:solidFill>
                <a:latin typeface="Meiryo" pitchFamily="34" charset="0"/>
                <a:ea typeface="Meiryo" pitchFamily="34" charset="-122"/>
                <a:cs typeface="Meiryo" pitchFamily="34" charset="-120"/>
              </a:rPr>
              <a:t>「畠中さんは営業力があるからね」</a:t>
            </a:r>
            <a:endParaRPr lang="en-US" sz="2600" dirty="0"/>
          </a:p>
        </p:txBody>
      </p:sp>
      <p:sp>
        <p:nvSpPr>
          <p:cNvPr id="6" name="Text 4"/>
          <p:cNvSpPr txBox="1"/>
          <p:nvPr/>
        </p:nvSpPr>
        <p:spPr>
          <a:xfrm>
            <a:off x="640080" y="3657600"/>
            <a:ext cx="10911535" cy="1097280"/>
          </a:xfrm>
          <a:prstGeom prst="rect">
            <a:avLst/>
          </a:prstGeom>
          <a:noFill/>
          <a:ln/>
        </p:spPr>
        <p:txBody>
          <a:bodyPr wrap="square" lIns="0" tIns="0" rIns="0" bIns="0" rtlCol="0" anchor="ctr"/>
          <a:lstStyle/>
          <a:p>
            <a:pPr indent="0" marL="0">
              <a:lnSpc>
                <a:spcPts val="3000"/>
              </a:lnSpc>
              <a:buNone/>
            </a:pPr>
            <a:r>
              <a:rPr lang="en-US" sz="1800" dirty="0">
                <a:solidFill>
                  <a:srgbClr val="222222"/>
                </a:solidFill>
                <a:latin typeface="Meiryo" pitchFamily="34" charset="0"/>
                <a:ea typeface="Meiryo" pitchFamily="34" charset="-122"/>
                <a:cs typeface="Meiryo" pitchFamily="34" charset="-120"/>
              </a:rPr>
              <a:t>そう言われると、正直「は？」と思います。</a:t>
            </a:r>
            <a:endParaRPr lang="en-US" sz="1800" dirty="0"/>
          </a:p>
          <a:p>
            <a:pPr indent="0" marL="0">
              <a:lnSpc>
                <a:spcPts val="3000"/>
              </a:lnSpc>
              <a:buNone/>
            </a:pPr>
            <a:r>
              <a:rPr lang="en-US" sz="1800" dirty="0">
                <a:solidFill>
                  <a:srgbClr val="222222"/>
                </a:solidFill>
                <a:latin typeface="Meiryo" pitchFamily="34" charset="0"/>
                <a:ea typeface="Meiryo" pitchFamily="34" charset="-122"/>
                <a:cs typeface="Meiryo" pitchFamily="34" charset="-120"/>
              </a:rPr>
              <a:t>26件のうち、売り込んで取ったものはゼロです。では、何で来たのか。</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2103120"/>
            <a:ext cx="10911535" cy="1828800"/>
          </a:xfrm>
          <a:prstGeom prst="rect">
            <a:avLst/>
          </a:prstGeom>
          <a:noFill/>
          <a:ln/>
        </p:spPr>
        <p:txBody>
          <a:bodyPr wrap="square" lIns="0" tIns="0" rIns="0" bIns="0" rtlCol="0" anchor="ctr">
            <a:normAutofit/>
          </a:bodyPr>
          <a:lstStyle/>
          <a:p>
            <a:pPr algn="ctr" indent="0" marL="0">
              <a:lnSpc>
                <a:spcPts val="5200"/>
              </a:lnSpc>
              <a:buNone/>
            </a:pPr>
            <a:r>
              <a:rPr lang="en-US" sz="4000" b="1" dirty="0">
                <a:solidFill>
                  <a:srgbClr val="FFFFFF"/>
                </a:solidFill>
                <a:latin typeface="Meiryo" pitchFamily="34" charset="0"/>
                <a:ea typeface="Meiryo" pitchFamily="34" charset="-122"/>
                <a:cs typeface="Meiryo" pitchFamily="34" charset="-120"/>
              </a:rPr>
              <a:t>信用です。</a:t>
            </a:r>
            <a:endParaRPr lang="en-US" sz="4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第6部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信用残高という考え方</a:t>
            </a:r>
            <a:endParaRPr lang="en-US" sz="3000" dirty="0"/>
          </a:p>
        </p:txBody>
      </p:sp>
      <p:sp>
        <p:nvSpPr>
          <p:cNvPr id="4" name="Text 2"/>
          <p:cNvSpPr txBox="1"/>
          <p:nvPr/>
        </p:nvSpPr>
        <p:spPr>
          <a:xfrm>
            <a:off x="640080" y="1600200"/>
            <a:ext cx="10911535" cy="365760"/>
          </a:xfrm>
          <a:prstGeom prst="rect">
            <a:avLst/>
          </a:prstGeom>
          <a:noFill/>
          <a:ln/>
        </p:spPr>
        <p:txBody>
          <a:bodyPr wrap="square" lIns="0" tIns="0" rIns="0" bIns="0" rtlCol="0" anchor="ctr">
            <a:normAutofit/>
          </a:bodyPr>
          <a:lstStyle/>
          <a:p>
            <a:pPr indent="0" marL="0">
              <a:buNone/>
            </a:pPr>
            <a:r>
              <a:rPr lang="en-US" sz="1600" dirty="0">
                <a:solidFill>
                  <a:srgbClr val="666666"/>
                </a:solidFill>
                <a:latin typeface="Meiryo" pitchFamily="34" charset="0"/>
                <a:ea typeface="Meiryo" pitchFamily="34" charset="-122"/>
                <a:cs typeface="Meiryo" pitchFamily="34" charset="-120"/>
              </a:rPr>
              <a:t>仕事は「取りに行く」ものではなく、貯まった信用の残高から引き出されるものです。</a:t>
            </a:r>
            <a:endParaRPr lang="en-US" sz="1600" dirty="0"/>
          </a:p>
        </p:txBody>
      </p:sp>
      <p:sp>
        <p:nvSpPr>
          <p:cNvPr id="5" name="Shape 3"/>
          <p:cNvSpPr/>
          <p:nvPr/>
        </p:nvSpPr>
        <p:spPr>
          <a:xfrm>
            <a:off x="640080" y="2148840"/>
            <a:ext cx="5318608" cy="2834640"/>
          </a:xfrm>
          <a:prstGeom prst="roundRect">
            <a:avLst>
              <a:gd name="adj" fmla="val 2581"/>
            </a:avLst>
          </a:prstGeom>
          <a:solidFill>
            <a:srgbClr val="F2F5FB"/>
          </a:solidFill>
          <a:ln w="12700">
            <a:solidFill>
              <a:srgbClr val="F2F5FB"/>
            </a:solidFill>
            <a:prstDash val="solid"/>
          </a:ln>
        </p:spPr>
      </p:sp>
      <p:sp>
        <p:nvSpPr>
          <p:cNvPr id="6" name="Text 4"/>
          <p:cNvSpPr txBox="1"/>
          <p:nvPr/>
        </p:nvSpPr>
        <p:spPr>
          <a:xfrm>
            <a:off x="896112" y="240487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残高が増える行為</a:t>
            </a:r>
            <a:endParaRPr lang="en-US" sz="1800" dirty="0"/>
          </a:p>
        </p:txBody>
      </p:sp>
      <p:sp>
        <p:nvSpPr>
          <p:cNvPr id="7" name="Text 5"/>
          <p:cNvSpPr txBox="1"/>
          <p:nvPr/>
        </p:nvSpPr>
        <p:spPr>
          <a:xfrm>
            <a:off x="896112" y="3063240"/>
            <a:ext cx="4806544" cy="1645920"/>
          </a:xfrm>
          <a:prstGeom prst="rect">
            <a:avLst/>
          </a:prstGeom>
          <a:noFill/>
          <a:ln/>
        </p:spPr>
        <p:txBody>
          <a:bodyPr wrap="square" lIns="0" tIns="0" rIns="0" bIns="0" rtlCol="0" anchor="ctr">
            <a:normAutofit/>
          </a:bodyPr>
          <a:lstStyle/>
          <a:p>
            <a:pPr indent="0" marL="0">
              <a:lnSpc>
                <a:spcPts val="1900"/>
              </a:lnSpc>
              <a:buNone/>
            </a:pPr>
            <a:r>
              <a:rPr lang="en-US" sz="1500" dirty="0">
                <a:solidFill>
                  <a:srgbClr val="222222"/>
                </a:solidFill>
                <a:latin typeface="Meiryo" pitchFamily="34" charset="0"/>
                <a:ea typeface="Meiryo" pitchFamily="34" charset="-122"/>
                <a:cs typeface="Meiryo" pitchFamily="34" charset="-120"/>
              </a:rPr>
              <a:t>・約束を守る</a:t>
            </a:r>
            <a:endParaRPr lang="en-US" sz="1500" dirty="0"/>
          </a:p>
          <a:p>
            <a:pPr indent="0" marL="0">
              <a:lnSpc>
                <a:spcPts val="1900"/>
              </a:lnSpc>
              <a:buNone/>
            </a:pPr>
            <a:r>
              <a:rPr lang="en-US" sz="1500" dirty="0">
                <a:solidFill>
                  <a:srgbClr val="222222"/>
                </a:solidFill>
                <a:latin typeface="Meiryo" pitchFamily="34" charset="0"/>
                <a:ea typeface="Meiryo" pitchFamily="34" charset="-122"/>
                <a:cs typeface="Meiryo" pitchFamily="34" charset="-120"/>
              </a:rPr>
              <a:t>・期限より早く出す</a:t>
            </a:r>
            <a:endParaRPr lang="en-US" sz="1500" dirty="0"/>
          </a:p>
          <a:p>
            <a:pPr indent="0" marL="0">
              <a:lnSpc>
                <a:spcPts val="1900"/>
              </a:lnSpc>
              <a:buNone/>
            </a:pPr>
            <a:r>
              <a:rPr lang="en-US" sz="1500" dirty="0">
                <a:solidFill>
                  <a:srgbClr val="222222"/>
                </a:solidFill>
                <a:latin typeface="Meiryo" pitchFamily="34" charset="0"/>
                <a:ea typeface="Meiryo" pitchFamily="34" charset="-122"/>
                <a:cs typeface="Meiryo" pitchFamily="34" charset="-120"/>
              </a:rPr>
              <a:t>・返事が速い</a:t>
            </a:r>
            <a:endParaRPr lang="en-US" sz="1500" dirty="0"/>
          </a:p>
          <a:p>
            <a:pPr indent="0" marL="0">
              <a:lnSpc>
                <a:spcPts val="1900"/>
              </a:lnSpc>
              <a:buNone/>
            </a:pPr>
            <a:r>
              <a:rPr lang="en-US" sz="1500" dirty="0">
                <a:solidFill>
                  <a:srgbClr val="222222"/>
                </a:solidFill>
                <a:latin typeface="Meiryo" pitchFamily="34" charset="0"/>
                <a:ea typeface="Meiryo" pitchFamily="34" charset="-122"/>
                <a:cs typeface="Meiryo" pitchFamily="34" charset="-120"/>
              </a:rPr>
              <a:t>・頼まれごとを一度引き受ける</a:t>
            </a:r>
            <a:endParaRPr lang="en-US" sz="1500" dirty="0"/>
          </a:p>
          <a:p>
            <a:pPr indent="0" marL="0">
              <a:lnSpc>
                <a:spcPts val="1900"/>
              </a:lnSpc>
              <a:buNone/>
            </a:pPr>
            <a:r>
              <a:rPr lang="en-US" sz="1500" dirty="0">
                <a:solidFill>
                  <a:srgbClr val="222222"/>
                </a:solidFill>
                <a:latin typeface="Meiryo" pitchFamily="34" charset="0"/>
                <a:ea typeface="Meiryo" pitchFamily="34" charset="-122"/>
                <a:cs typeface="Meiryo" pitchFamily="34" charset="-120"/>
              </a:rPr>
              <a:t>・相手の成果に貢献する</a:t>
            </a:r>
            <a:endParaRPr lang="en-US" sz="1500" dirty="0"/>
          </a:p>
          <a:p>
            <a:pPr indent="0" marL="0">
              <a:lnSpc>
                <a:spcPts val="1900"/>
              </a:lnSpc>
              <a:buNone/>
            </a:pPr>
            <a:r>
              <a:rPr lang="en-US" sz="1500" dirty="0">
                <a:solidFill>
                  <a:srgbClr val="222222"/>
                </a:solidFill>
                <a:latin typeface="Meiryo" pitchFamily="34" charset="0"/>
                <a:ea typeface="Meiryo" pitchFamily="34" charset="-122"/>
                <a:cs typeface="Meiryo" pitchFamily="34" charset="-120"/>
              </a:rPr>
              <a:t>・会いに行く</a:t>
            </a:r>
            <a:endParaRPr lang="en-US" sz="1500" dirty="0"/>
          </a:p>
        </p:txBody>
      </p:sp>
      <p:sp>
        <p:nvSpPr>
          <p:cNvPr id="8" name="Shape 6"/>
          <p:cNvSpPr/>
          <p:nvPr/>
        </p:nvSpPr>
        <p:spPr>
          <a:xfrm>
            <a:off x="6233008" y="2148840"/>
            <a:ext cx="5318608" cy="2834640"/>
          </a:xfrm>
          <a:prstGeom prst="roundRect">
            <a:avLst>
              <a:gd name="adj" fmla="val 2581"/>
            </a:avLst>
          </a:prstGeom>
          <a:solidFill>
            <a:srgbClr val="F2F5FB"/>
          </a:solidFill>
          <a:ln w="12700">
            <a:solidFill>
              <a:srgbClr val="F2F5FB"/>
            </a:solidFill>
            <a:prstDash val="solid"/>
          </a:ln>
        </p:spPr>
      </p:sp>
      <p:sp>
        <p:nvSpPr>
          <p:cNvPr id="9" name="Text 7"/>
          <p:cNvSpPr txBox="1"/>
          <p:nvPr/>
        </p:nvSpPr>
        <p:spPr>
          <a:xfrm>
            <a:off x="6489040" y="240487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残高が減る行為</a:t>
            </a:r>
            <a:endParaRPr lang="en-US" sz="1800" dirty="0"/>
          </a:p>
        </p:txBody>
      </p:sp>
      <p:sp>
        <p:nvSpPr>
          <p:cNvPr id="10" name="Text 8"/>
          <p:cNvSpPr txBox="1"/>
          <p:nvPr/>
        </p:nvSpPr>
        <p:spPr>
          <a:xfrm>
            <a:off x="6489040" y="3063240"/>
            <a:ext cx="4806544" cy="1645920"/>
          </a:xfrm>
          <a:prstGeom prst="rect">
            <a:avLst/>
          </a:prstGeom>
          <a:noFill/>
          <a:ln/>
        </p:spPr>
        <p:txBody>
          <a:bodyPr wrap="square" lIns="0" tIns="0" rIns="0" bIns="0" rtlCol="0" anchor="ctr">
            <a:normAutofit/>
          </a:bodyPr>
          <a:lstStyle/>
          <a:p>
            <a:pPr indent="0" marL="0">
              <a:lnSpc>
                <a:spcPts val="1900"/>
              </a:lnSpc>
              <a:buNone/>
            </a:pPr>
            <a:r>
              <a:rPr lang="en-US" sz="1500" dirty="0">
                <a:solidFill>
                  <a:srgbClr val="222222"/>
                </a:solidFill>
                <a:latin typeface="Meiryo" pitchFamily="34" charset="0"/>
                <a:ea typeface="Meiryo" pitchFamily="34" charset="-122"/>
                <a:cs typeface="Meiryo" pitchFamily="34" charset="-120"/>
              </a:rPr>
              <a:t>・遅れる</a:t>
            </a:r>
            <a:endParaRPr lang="en-US" sz="1500" dirty="0"/>
          </a:p>
          <a:p>
            <a:pPr indent="0" marL="0">
              <a:lnSpc>
                <a:spcPts val="1900"/>
              </a:lnSpc>
              <a:buNone/>
            </a:pPr>
            <a:r>
              <a:rPr lang="en-US" sz="1500" dirty="0">
                <a:solidFill>
                  <a:srgbClr val="222222"/>
                </a:solidFill>
                <a:latin typeface="Meiryo" pitchFamily="34" charset="0"/>
                <a:ea typeface="Meiryo" pitchFamily="34" charset="-122"/>
                <a:cs typeface="Meiryo" pitchFamily="34" charset="-120"/>
              </a:rPr>
              <a:t>・雑にやる</a:t>
            </a:r>
            <a:endParaRPr lang="en-US" sz="1500" dirty="0"/>
          </a:p>
          <a:p>
            <a:pPr indent="0" marL="0">
              <a:lnSpc>
                <a:spcPts val="1900"/>
              </a:lnSpc>
              <a:buNone/>
            </a:pPr>
            <a:r>
              <a:rPr lang="en-US" sz="1500" dirty="0">
                <a:solidFill>
                  <a:srgbClr val="222222"/>
                </a:solidFill>
                <a:latin typeface="Meiryo" pitchFamily="34" charset="0"/>
                <a:ea typeface="Meiryo" pitchFamily="34" charset="-122"/>
                <a:cs typeface="Meiryo" pitchFamily="34" charset="-120"/>
              </a:rPr>
              <a:t>・断らずに抱えて落とす</a:t>
            </a:r>
            <a:endParaRPr lang="en-US" sz="1500" dirty="0"/>
          </a:p>
          <a:p>
            <a:pPr indent="0" marL="0">
              <a:lnSpc>
                <a:spcPts val="1900"/>
              </a:lnSpc>
              <a:buNone/>
            </a:pPr>
            <a:r>
              <a:rPr lang="en-US" sz="1500" dirty="0">
                <a:solidFill>
                  <a:srgbClr val="222222"/>
                </a:solidFill>
                <a:latin typeface="Meiryo" pitchFamily="34" charset="0"/>
                <a:ea typeface="Meiryo" pitchFamily="34" charset="-122"/>
                <a:cs typeface="Meiryo" pitchFamily="34" charset="-120"/>
              </a:rPr>
              <a:t>・顔を出さなくなる</a:t>
            </a:r>
            <a:endParaRPr lang="en-US" sz="1500" dirty="0"/>
          </a:p>
        </p:txBody>
      </p:sp>
      <p:sp>
        <p:nvSpPr>
          <p:cNvPr id="11" name="Text 9"/>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第2部の4人も、全員が依頼元に対する信用残高が圧倒的に高い状態でした。</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第6部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山口周『人生の経営戦略』の4つの資本</a:t>
            </a:r>
            <a:endParaRPr lang="en-US" sz="3000" dirty="0"/>
          </a:p>
        </p:txBody>
      </p:sp>
      <p:sp>
        <p:nvSpPr>
          <p:cNvPr id="4" name="Shape 2"/>
          <p:cNvSpPr/>
          <p:nvPr/>
        </p:nvSpPr>
        <p:spPr>
          <a:xfrm>
            <a:off x="640080" y="2011680"/>
            <a:ext cx="2377440" cy="1463040"/>
          </a:xfrm>
          <a:prstGeom prst="roundRect">
            <a:avLst>
              <a:gd name="adj" fmla="val 5000"/>
            </a:avLst>
          </a:prstGeom>
          <a:solidFill>
            <a:srgbClr val="F2F5FB"/>
          </a:solidFill>
          <a:ln w="12700">
            <a:solidFill>
              <a:srgbClr val="F2F5FB"/>
            </a:solidFill>
            <a:prstDash val="solid"/>
          </a:ln>
        </p:spPr>
      </p:sp>
      <p:sp>
        <p:nvSpPr>
          <p:cNvPr id="5" name="Text 3"/>
          <p:cNvSpPr txBox="1"/>
          <p:nvPr/>
        </p:nvSpPr>
        <p:spPr>
          <a:xfrm>
            <a:off x="777240" y="2240280"/>
            <a:ext cx="2103120" cy="457200"/>
          </a:xfrm>
          <a:prstGeom prst="rect">
            <a:avLst/>
          </a:prstGeom>
          <a:noFill/>
          <a:ln/>
        </p:spPr>
        <p:txBody>
          <a:bodyPr wrap="square" lIns="0" tIns="0" rIns="0" bIns="0" rtlCol="0" anchor="ctr">
            <a:normAutofit/>
          </a:bodyPr>
          <a:lstStyle/>
          <a:p>
            <a:pPr algn="ctr" indent="0" marL="0">
              <a:buNone/>
            </a:pPr>
            <a:r>
              <a:rPr lang="en-US" sz="2000" b="1" dirty="0">
                <a:solidFill>
                  <a:srgbClr val="1E2761"/>
                </a:solidFill>
                <a:latin typeface="Meiryo" pitchFamily="34" charset="0"/>
                <a:ea typeface="Meiryo" pitchFamily="34" charset="-122"/>
                <a:cs typeface="Meiryo" pitchFamily="34" charset="-120"/>
              </a:rPr>
              <a:t>時間資本</a:t>
            </a:r>
            <a:endParaRPr lang="en-US" sz="2000" dirty="0"/>
          </a:p>
        </p:txBody>
      </p:sp>
      <p:sp>
        <p:nvSpPr>
          <p:cNvPr id="6" name="Text 4"/>
          <p:cNvSpPr txBox="1"/>
          <p:nvPr/>
        </p:nvSpPr>
        <p:spPr>
          <a:xfrm>
            <a:off x="777240" y="2743200"/>
            <a:ext cx="2103120" cy="548640"/>
          </a:xfrm>
          <a:prstGeom prst="rect">
            <a:avLst/>
          </a:prstGeom>
          <a:noFill/>
          <a:ln/>
        </p:spPr>
        <p:txBody>
          <a:bodyPr wrap="square" lIns="0" tIns="0" rIns="0" bIns="0" rtlCol="0" anchor="ctr">
            <a:normAutofit/>
          </a:bodyPr>
          <a:lstStyle/>
          <a:p>
            <a:pPr algn="ctr" indent="0" marL="0">
              <a:buNone/>
            </a:pPr>
            <a:r>
              <a:rPr lang="en-US" sz="1300" dirty="0">
                <a:solidFill>
                  <a:srgbClr val="666666"/>
                </a:solidFill>
                <a:latin typeface="Meiryo" pitchFamily="34" charset="0"/>
                <a:ea typeface="Meiryo" pitchFamily="34" charset="-122"/>
                <a:cs typeface="Meiryo" pitchFamily="34" charset="-120"/>
              </a:rPr>
              <a:t>自分の時間</a:t>
            </a:r>
            <a:endParaRPr lang="en-US" sz="1300" dirty="0"/>
          </a:p>
        </p:txBody>
      </p:sp>
      <p:sp>
        <p:nvSpPr>
          <p:cNvPr id="7" name="Shape 5"/>
          <p:cNvSpPr/>
          <p:nvPr/>
        </p:nvSpPr>
        <p:spPr>
          <a:xfrm>
            <a:off x="3081528" y="2606040"/>
            <a:ext cx="365760" cy="274320"/>
          </a:xfrm>
          <a:prstGeom prst="rightArrow">
            <a:avLst/>
          </a:prstGeom>
          <a:solidFill>
            <a:srgbClr val="C08A2E"/>
          </a:solidFill>
          <a:ln w="12700">
            <a:solidFill>
              <a:srgbClr val="C08A2E"/>
            </a:solidFill>
            <a:prstDash val="solid"/>
          </a:ln>
        </p:spPr>
      </p:sp>
      <p:sp>
        <p:nvSpPr>
          <p:cNvPr id="8" name="Shape 6"/>
          <p:cNvSpPr/>
          <p:nvPr/>
        </p:nvSpPr>
        <p:spPr>
          <a:xfrm>
            <a:off x="3474720" y="2011680"/>
            <a:ext cx="2377440" cy="1463040"/>
          </a:xfrm>
          <a:prstGeom prst="roundRect">
            <a:avLst>
              <a:gd name="adj" fmla="val 5000"/>
            </a:avLst>
          </a:prstGeom>
          <a:solidFill>
            <a:srgbClr val="F2F5FB"/>
          </a:solidFill>
          <a:ln w="12700">
            <a:solidFill>
              <a:srgbClr val="F2F5FB"/>
            </a:solidFill>
            <a:prstDash val="solid"/>
          </a:ln>
        </p:spPr>
      </p:sp>
      <p:sp>
        <p:nvSpPr>
          <p:cNvPr id="9" name="Text 7"/>
          <p:cNvSpPr txBox="1"/>
          <p:nvPr/>
        </p:nvSpPr>
        <p:spPr>
          <a:xfrm>
            <a:off x="3611880" y="2240280"/>
            <a:ext cx="2103120" cy="457200"/>
          </a:xfrm>
          <a:prstGeom prst="rect">
            <a:avLst/>
          </a:prstGeom>
          <a:noFill/>
          <a:ln/>
        </p:spPr>
        <p:txBody>
          <a:bodyPr wrap="square" lIns="0" tIns="0" rIns="0" bIns="0" rtlCol="0" anchor="ctr">
            <a:normAutofit/>
          </a:bodyPr>
          <a:lstStyle/>
          <a:p>
            <a:pPr algn="ctr" indent="0" marL="0">
              <a:buNone/>
            </a:pPr>
            <a:r>
              <a:rPr lang="en-US" sz="2000" b="1" dirty="0">
                <a:solidFill>
                  <a:srgbClr val="1E2761"/>
                </a:solidFill>
                <a:latin typeface="Meiryo" pitchFamily="34" charset="0"/>
                <a:ea typeface="Meiryo" pitchFamily="34" charset="-122"/>
                <a:cs typeface="Meiryo" pitchFamily="34" charset="-120"/>
              </a:rPr>
              <a:t>人的資本</a:t>
            </a:r>
            <a:endParaRPr lang="en-US" sz="2000" dirty="0"/>
          </a:p>
        </p:txBody>
      </p:sp>
      <p:sp>
        <p:nvSpPr>
          <p:cNvPr id="10" name="Text 8"/>
          <p:cNvSpPr txBox="1"/>
          <p:nvPr/>
        </p:nvSpPr>
        <p:spPr>
          <a:xfrm>
            <a:off x="3611880" y="2743200"/>
            <a:ext cx="2103120" cy="548640"/>
          </a:xfrm>
          <a:prstGeom prst="rect">
            <a:avLst/>
          </a:prstGeom>
          <a:noFill/>
          <a:ln/>
        </p:spPr>
        <p:txBody>
          <a:bodyPr wrap="square" lIns="0" tIns="0" rIns="0" bIns="0" rtlCol="0" anchor="ctr">
            <a:normAutofit/>
          </a:bodyPr>
          <a:lstStyle/>
          <a:p>
            <a:pPr algn="ctr" indent="0" marL="0">
              <a:buNone/>
            </a:pPr>
            <a:r>
              <a:rPr lang="en-US" sz="1300" dirty="0">
                <a:solidFill>
                  <a:srgbClr val="666666"/>
                </a:solidFill>
                <a:latin typeface="Meiryo" pitchFamily="34" charset="0"/>
                <a:ea typeface="Meiryo" pitchFamily="34" charset="-122"/>
                <a:cs typeface="Meiryo" pitchFamily="34" charset="-120"/>
              </a:rPr>
              <a:t>知識・経験・スキル</a:t>
            </a:r>
            <a:endParaRPr lang="en-US" sz="1300" dirty="0"/>
          </a:p>
        </p:txBody>
      </p:sp>
      <p:sp>
        <p:nvSpPr>
          <p:cNvPr id="11" name="Shape 9"/>
          <p:cNvSpPr/>
          <p:nvPr/>
        </p:nvSpPr>
        <p:spPr>
          <a:xfrm>
            <a:off x="5916168" y="2606040"/>
            <a:ext cx="365760" cy="274320"/>
          </a:xfrm>
          <a:prstGeom prst="rightArrow">
            <a:avLst/>
          </a:prstGeom>
          <a:solidFill>
            <a:srgbClr val="C08A2E"/>
          </a:solidFill>
          <a:ln w="12700">
            <a:solidFill>
              <a:srgbClr val="C08A2E"/>
            </a:solidFill>
            <a:prstDash val="solid"/>
          </a:ln>
        </p:spPr>
      </p:sp>
      <p:sp>
        <p:nvSpPr>
          <p:cNvPr id="12" name="Shape 10"/>
          <p:cNvSpPr/>
          <p:nvPr/>
        </p:nvSpPr>
        <p:spPr>
          <a:xfrm>
            <a:off x="6309360" y="2011680"/>
            <a:ext cx="2377440" cy="1463040"/>
          </a:xfrm>
          <a:prstGeom prst="roundRect">
            <a:avLst>
              <a:gd name="adj" fmla="val 5000"/>
            </a:avLst>
          </a:prstGeom>
          <a:solidFill>
            <a:srgbClr val="1E2761"/>
          </a:solidFill>
          <a:ln w="12700">
            <a:solidFill>
              <a:srgbClr val="1E2761"/>
            </a:solidFill>
            <a:prstDash val="solid"/>
          </a:ln>
        </p:spPr>
      </p:sp>
      <p:sp>
        <p:nvSpPr>
          <p:cNvPr id="13" name="Text 11"/>
          <p:cNvSpPr txBox="1"/>
          <p:nvPr/>
        </p:nvSpPr>
        <p:spPr>
          <a:xfrm>
            <a:off x="6446520" y="2240280"/>
            <a:ext cx="2103120" cy="457200"/>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Meiryo" pitchFamily="34" charset="0"/>
                <a:ea typeface="Meiryo" pitchFamily="34" charset="-122"/>
                <a:cs typeface="Meiryo" pitchFamily="34" charset="-120"/>
              </a:rPr>
              <a:t>社会資本</a:t>
            </a:r>
            <a:endParaRPr lang="en-US" sz="2000" dirty="0"/>
          </a:p>
        </p:txBody>
      </p:sp>
      <p:sp>
        <p:nvSpPr>
          <p:cNvPr id="14" name="Text 12"/>
          <p:cNvSpPr txBox="1"/>
          <p:nvPr/>
        </p:nvSpPr>
        <p:spPr>
          <a:xfrm>
            <a:off x="6446520" y="2743200"/>
            <a:ext cx="2103120" cy="548640"/>
          </a:xfrm>
          <a:prstGeom prst="rect">
            <a:avLst/>
          </a:prstGeom>
          <a:noFill/>
          <a:ln/>
        </p:spPr>
        <p:txBody>
          <a:bodyPr wrap="square" lIns="0" tIns="0" rIns="0" bIns="0" rtlCol="0" anchor="ctr">
            <a:normAutofit/>
          </a:bodyPr>
          <a:lstStyle/>
          <a:p>
            <a:pPr algn="ctr" indent="0" marL="0">
              <a:buNone/>
            </a:pPr>
            <a:r>
              <a:rPr lang="en-US" sz="1300" dirty="0">
                <a:solidFill>
                  <a:srgbClr val="CADCFC"/>
                </a:solidFill>
                <a:latin typeface="Meiryo" pitchFamily="34" charset="0"/>
                <a:ea typeface="Meiryo" pitchFamily="34" charset="-122"/>
                <a:cs typeface="Meiryo" pitchFamily="34" charset="-120"/>
              </a:rPr>
              <a:t>信用・評判・知名度</a:t>
            </a:r>
            <a:endParaRPr lang="en-US" sz="1300" dirty="0"/>
          </a:p>
        </p:txBody>
      </p:sp>
      <p:sp>
        <p:nvSpPr>
          <p:cNvPr id="15" name="Shape 13"/>
          <p:cNvSpPr/>
          <p:nvPr/>
        </p:nvSpPr>
        <p:spPr>
          <a:xfrm>
            <a:off x="8750808" y="2606040"/>
            <a:ext cx="365760" cy="274320"/>
          </a:xfrm>
          <a:prstGeom prst="rightArrow">
            <a:avLst/>
          </a:prstGeom>
          <a:solidFill>
            <a:srgbClr val="C08A2E"/>
          </a:solidFill>
          <a:ln w="12700">
            <a:solidFill>
              <a:srgbClr val="C08A2E"/>
            </a:solidFill>
            <a:prstDash val="solid"/>
          </a:ln>
        </p:spPr>
      </p:sp>
      <p:sp>
        <p:nvSpPr>
          <p:cNvPr id="16" name="Shape 14"/>
          <p:cNvSpPr/>
          <p:nvPr/>
        </p:nvSpPr>
        <p:spPr>
          <a:xfrm>
            <a:off x="9144000" y="2011680"/>
            <a:ext cx="2377440" cy="1463040"/>
          </a:xfrm>
          <a:prstGeom prst="roundRect">
            <a:avLst>
              <a:gd name="adj" fmla="val 5000"/>
            </a:avLst>
          </a:prstGeom>
          <a:solidFill>
            <a:srgbClr val="F2F5FB"/>
          </a:solidFill>
          <a:ln w="12700">
            <a:solidFill>
              <a:srgbClr val="F2F5FB"/>
            </a:solidFill>
            <a:prstDash val="solid"/>
          </a:ln>
        </p:spPr>
      </p:sp>
      <p:sp>
        <p:nvSpPr>
          <p:cNvPr id="17" name="Text 15"/>
          <p:cNvSpPr txBox="1"/>
          <p:nvPr/>
        </p:nvSpPr>
        <p:spPr>
          <a:xfrm>
            <a:off x="9281160" y="2240280"/>
            <a:ext cx="2103120" cy="457200"/>
          </a:xfrm>
          <a:prstGeom prst="rect">
            <a:avLst/>
          </a:prstGeom>
          <a:noFill/>
          <a:ln/>
        </p:spPr>
        <p:txBody>
          <a:bodyPr wrap="square" lIns="0" tIns="0" rIns="0" bIns="0" rtlCol="0" anchor="ctr">
            <a:normAutofit/>
          </a:bodyPr>
          <a:lstStyle/>
          <a:p>
            <a:pPr algn="ctr" indent="0" marL="0">
              <a:buNone/>
            </a:pPr>
            <a:r>
              <a:rPr lang="en-US" sz="2000" b="1" dirty="0">
                <a:solidFill>
                  <a:srgbClr val="1E2761"/>
                </a:solidFill>
                <a:latin typeface="Meiryo" pitchFamily="34" charset="0"/>
                <a:ea typeface="Meiryo" pitchFamily="34" charset="-122"/>
                <a:cs typeface="Meiryo" pitchFamily="34" charset="-120"/>
              </a:rPr>
              <a:t>金融資本</a:t>
            </a:r>
            <a:endParaRPr lang="en-US" sz="2000" dirty="0"/>
          </a:p>
        </p:txBody>
      </p:sp>
      <p:sp>
        <p:nvSpPr>
          <p:cNvPr id="18" name="Text 16"/>
          <p:cNvSpPr txBox="1"/>
          <p:nvPr/>
        </p:nvSpPr>
        <p:spPr>
          <a:xfrm>
            <a:off x="9281160" y="2743200"/>
            <a:ext cx="2103120" cy="548640"/>
          </a:xfrm>
          <a:prstGeom prst="rect">
            <a:avLst/>
          </a:prstGeom>
          <a:noFill/>
          <a:ln/>
        </p:spPr>
        <p:txBody>
          <a:bodyPr wrap="square" lIns="0" tIns="0" rIns="0" bIns="0" rtlCol="0" anchor="ctr">
            <a:normAutofit/>
          </a:bodyPr>
          <a:lstStyle/>
          <a:p>
            <a:pPr algn="ctr" indent="0" marL="0">
              <a:buNone/>
            </a:pPr>
            <a:r>
              <a:rPr lang="en-US" sz="1300" dirty="0">
                <a:solidFill>
                  <a:srgbClr val="666666"/>
                </a:solidFill>
                <a:latin typeface="Meiryo" pitchFamily="34" charset="0"/>
                <a:ea typeface="Meiryo" pitchFamily="34" charset="-122"/>
                <a:cs typeface="Meiryo" pitchFamily="34" charset="-120"/>
              </a:rPr>
              <a:t>お金</a:t>
            </a:r>
            <a:endParaRPr lang="en-US" sz="1300" dirty="0"/>
          </a:p>
        </p:txBody>
      </p:sp>
      <p:sp>
        <p:nvSpPr>
          <p:cNvPr id="19" name="Text 17"/>
          <p:cNvSpPr txBox="1"/>
          <p:nvPr/>
        </p:nvSpPr>
        <p:spPr>
          <a:xfrm>
            <a:off x="640080" y="3840480"/>
            <a:ext cx="10911535" cy="914400"/>
          </a:xfrm>
          <a:prstGeom prst="rect">
            <a:avLst/>
          </a:prstGeom>
          <a:noFill/>
          <a:ln/>
        </p:spPr>
        <p:txBody>
          <a:bodyPr wrap="square" lIns="0" tIns="0" rIns="0" bIns="0" rtlCol="0" anchor="ctr">
            <a:normAutofit/>
          </a:bodyPr>
          <a:lstStyle/>
          <a:p>
            <a:pPr indent="0" marL="0">
              <a:lnSpc>
                <a:spcPts val="3000"/>
              </a:lnSpc>
              <a:buNone/>
            </a:pPr>
            <a:r>
              <a:rPr lang="en-US" sz="1900" b="1" dirty="0">
                <a:solidFill>
                  <a:srgbClr val="1E2761"/>
                </a:solidFill>
                <a:latin typeface="Meiryo" pitchFamily="34" charset="0"/>
                <a:ea typeface="Meiryo" pitchFamily="34" charset="-122"/>
                <a:cs typeface="Meiryo" pitchFamily="34" charset="-120"/>
              </a:rPr>
              <a:t>金融資本を生むのは、信用・評判・知名度といった「社会資本」であって、</a:t>
            </a:r>
            <a:endParaRPr lang="en-US" sz="1900" dirty="0"/>
          </a:p>
          <a:p>
            <a:pPr indent="0" marL="0">
              <a:lnSpc>
                <a:spcPts val="3000"/>
              </a:lnSpc>
              <a:buNone/>
            </a:pPr>
            <a:r>
              <a:rPr lang="en-US" sz="1900" b="1" dirty="0">
                <a:solidFill>
                  <a:srgbClr val="1E2761"/>
                </a:solidFill>
                <a:latin typeface="Meiryo" pitchFamily="34" charset="0"/>
                <a:ea typeface="Meiryo" pitchFamily="34" charset="-122"/>
                <a:cs typeface="Meiryo" pitchFamily="34" charset="-120"/>
              </a:rPr>
              <a:t>知識・能力・コンピテンシーといった「人的資本」ではない。</a:t>
            </a:r>
            <a:endParaRPr lang="en-US" sz="1900" dirty="0"/>
          </a:p>
        </p:txBody>
      </p:sp>
      <p:sp>
        <p:nvSpPr>
          <p:cNvPr id="20" name="Text 18"/>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「尖っていないとダメ＝人的資本を磨け」は、半分しか当たっていません。</a:t>
            </a:r>
            <a:endParaRPr lang="en-US" sz="15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第6部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単発の仕事と、エコシステム</a:t>
            </a:r>
            <a:endParaRPr lang="en-US" sz="3000" dirty="0"/>
          </a:p>
        </p:txBody>
      </p:sp>
      <p:sp>
        <p:nvSpPr>
          <p:cNvPr id="4" name="Shape 2"/>
          <p:cNvSpPr/>
          <p:nvPr/>
        </p:nvSpPr>
        <p:spPr>
          <a:xfrm>
            <a:off x="3566160" y="1828800"/>
            <a:ext cx="3794760" cy="640080"/>
          </a:xfrm>
          <a:prstGeom prst="roundRect">
            <a:avLst>
              <a:gd name="adj" fmla="val 8571"/>
            </a:avLst>
          </a:prstGeom>
          <a:solidFill>
            <a:srgbClr val="F2F5FB"/>
          </a:solidFill>
          <a:ln w="12700">
            <a:solidFill>
              <a:srgbClr val="F2F5FB"/>
            </a:solidFill>
            <a:prstDash val="solid"/>
          </a:ln>
        </p:spPr>
      </p:sp>
      <p:sp>
        <p:nvSpPr>
          <p:cNvPr id="5" name="Text 3"/>
          <p:cNvSpPr txBox="1"/>
          <p:nvPr/>
        </p:nvSpPr>
        <p:spPr>
          <a:xfrm>
            <a:off x="3566160" y="1828800"/>
            <a:ext cx="3794760" cy="640080"/>
          </a:xfrm>
          <a:prstGeom prst="rect">
            <a:avLst/>
          </a:prstGeom>
          <a:noFill/>
          <a:ln/>
        </p:spPr>
        <p:txBody>
          <a:bodyPr wrap="square" lIns="0" tIns="0" rIns="0" bIns="0" rtlCol="0" anchor="ctr"/>
          <a:lstStyle/>
          <a:p>
            <a:pPr algn="ctr" indent="0" marL="0">
              <a:buNone/>
            </a:pPr>
            <a:r>
              <a:rPr lang="en-US" sz="1800" b="1" dirty="0">
                <a:solidFill>
                  <a:srgbClr val="1E2761"/>
                </a:solidFill>
                <a:latin typeface="Meiryo" pitchFamily="34" charset="0"/>
                <a:ea typeface="Meiryo" pitchFamily="34" charset="-122"/>
                <a:cs typeface="Meiryo" pitchFamily="34" charset="-120"/>
              </a:rPr>
              <a:t>単発の仕事</a:t>
            </a:r>
            <a:endParaRPr lang="en-US" sz="1800" dirty="0"/>
          </a:p>
        </p:txBody>
      </p:sp>
      <p:sp>
        <p:nvSpPr>
          <p:cNvPr id="6" name="Shape 4"/>
          <p:cNvSpPr/>
          <p:nvPr/>
        </p:nvSpPr>
        <p:spPr>
          <a:xfrm>
            <a:off x="7543800" y="1828800"/>
            <a:ext cx="3794760" cy="640080"/>
          </a:xfrm>
          <a:prstGeom prst="roundRect">
            <a:avLst>
              <a:gd name="adj" fmla="val 8571"/>
            </a:avLst>
          </a:prstGeom>
          <a:solidFill>
            <a:srgbClr val="1E2761"/>
          </a:solidFill>
          <a:ln w="12700">
            <a:solidFill>
              <a:srgbClr val="1E2761"/>
            </a:solidFill>
            <a:prstDash val="solid"/>
          </a:ln>
        </p:spPr>
      </p:sp>
      <p:sp>
        <p:nvSpPr>
          <p:cNvPr id="7" name="Text 5"/>
          <p:cNvSpPr txBox="1"/>
          <p:nvPr/>
        </p:nvSpPr>
        <p:spPr>
          <a:xfrm>
            <a:off x="7543800" y="1828800"/>
            <a:ext cx="379476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エコシステム</a:t>
            </a:r>
            <a:endParaRPr lang="en-US" sz="1800" dirty="0"/>
          </a:p>
        </p:txBody>
      </p:sp>
      <p:sp>
        <p:nvSpPr>
          <p:cNvPr id="8" name="Text 6"/>
          <p:cNvSpPr txBox="1"/>
          <p:nvPr/>
        </p:nvSpPr>
        <p:spPr>
          <a:xfrm>
            <a:off x="640080" y="2697480"/>
            <a:ext cx="2743200" cy="640080"/>
          </a:xfrm>
          <a:prstGeom prst="rect">
            <a:avLst/>
          </a:prstGeom>
          <a:noFill/>
          <a:ln/>
        </p:spPr>
        <p:txBody>
          <a:bodyPr wrap="square" lIns="0" tIns="0" rIns="0" bIns="0" rtlCol="0" anchor="ctr">
            <a:normAutofit/>
          </a:bodyPr>
          <a:lstStyle/>
          <a:p>
            <a:pPr algn="l" indent="0" marL="0">
              <a:buNone/>
            </a:pPr>
            <a:r>
              <a:rPr lang="en-US" sz="1600" b="1" dirty="0">
                <a:solidFill>
                  <a:srgbClr val="666666"/>
                </a:solidFill>
                <a:latin typeface="Meiryo" pitchFamily="34" charset="0"/>
                <a:ea typeface="Meiryo" pitchFamily="34" charset="-122"/>
                <a:cs typeface="Meiryo" pitchFamily="34" charset="-120"/>
              </a:rPr>
              <a:t>仕事の来方</a:t>
            </a:r>
            <a:endParaRPr lang="en-US" sz="1600" dirty="0"/>
          </a:p>
        </p:txBody>
      </p:sp>
      <p:sp>
        <p:nvSpPr>
          <p:cNvPr id="9" name="Text 7"/>
          <p:cNvSpPr txBox="1"/>
          <p:nvPr/>
        </p:nvSpPr>
        <p:spPr>
          <a:xfrm>
            <a:off x="3566160" y="2697480"/>
            <a:ext cx="3794760" cy="640080"/>
          </a:xfrm>
          <a:prstGeom prst="rect">
            <a:avLst/>
          </a:prstGeom>
          <a:noFill/>
          <a:ln/>
        </p:spPr>
        <p:txBody>
          <a:bodyPr wrap="square" lIns="0" tIns="0" rIns="0" bIns="0" rtlCol="0" anchor="ctr">
            <a:normAutofit/>
          </a:bodyPr>
          <a:lstStyle/>
          <a:p>
            <a:pPr algn="ctr" indent="0" marL="0">
              <a:buNone/>
            </a:pPr>
            <a:r>
              <a:rPr lang="en-US" sz="1800" dirty="0">
                <a:solidFill>
                  <a:srgbClr val="222222"/>
                </a:solidFill>
                <a:latin typeface="Meiryo" pitchFamily="34" charset="0"/>
                <a:ea typeface="Meiryo" pitchFamily="34" charset="-122"/>
                <a:cs typeface="Meiryo" pitchFamily="34" charset="-120"/>
              </a:rPr>
              <a:t>探す・応募する</a:t>
            </a:r>
            <a:endParaRPr lang="en-US" sz="1800" dirty="0"/>
          </a:p>
        </p:txBody>
      </p:sp>
      <p:sp>
        <p:nvSpPr>
          <p:cNvPr id="10" name="Text 8"/>
          <p:cNvSpPr txBox="1"/>
          <p:nvPr/>
        </p:nvSpPr>
        <p:spPr>
          <a:xfrm>
            <a:off x="7543800" y="2697480"/>
            <a:ext cx="3794760" cy="640080"/>
          </a:xfrm>
          <a:prstGeom prst="rect">
            <a:avLst/>
          </a:prstGeom>
          <a:noFill/>
          <a:ln/>
        </p:spPr>
        <p:txBody>
          <a:bodyPr wrap="square" lIns="0" tIns="0" rIns="0" bIns="0" rtlCol="0" anchor="ctr">
            <a:normAutofit/>
          </a:bodyPr>
          <a:lstStyle/>
          <a:p>
            <a:pPr algn="ctr" indent="0" marL="0">
              <a:buNone/>
            </a:pPr>
            <a:r>
              <a:rPr lang="en-US" sz="1800" b="1" dirty="0">
                <a:solidFill>
                  <a:srgbClr val="1E2761"/>
                </a:solidFill>
                <a:latin typeface="Meiryo" pitchFamily="34" charset="0"/>
                <a:ea typeface="Meiryo" pitchFamily="34" charset="-122"/>
                <a:cs typeface="Meiryo" pitchFamily="34" charset="-120"/>
              </a:rPr>
              <a:t>流れてくる</a:t>
            </a:r>
            <a:endParaRPr lang="en-US" sz="1800" dirty="0"/>
          </a:p>
        </p:txBody>
      </p:sp>
      <p:sp>
        <p:nvSpPr>
          <p:cNvPr id="11" name="Text 9"/>
          <p:cNvSpPr txBox="1"/>
          <p:nvPr/>
        </p:nvSpPr>
        <p:spPr>
          <a:xfrm>
            <a:off x="640080" y="3566160"/>
            <a:ext cx="2743200" cy="640080"/>
          </a:xfrm>
          <a:prstGeom prst="rect">
            <a:avLst/>
          </a:prstGeom>
          <a:noFill/>
          <a:ln/>
        </p:spPr>
        <p:txBody>
          <a:bodyPr wrap="square" lIns="0" tIns="0" rIns="0" bIns="0" rtlCol="0" anchor="ctr">
            <a:normAutofit/>
          </a:bodyPr>
          <a:lstStyle/>
          <a:p>
            <a:pPr algn="l" indent="0" marL="0">
              <a:buNone/>
            </a:pPr>
            <a:r>
              <a:rPr lang="en-US" sz="1600" b="1" dirty="0">
                <a:solidFill>
                  <a:srgbClr val="666666"/>
                </a:solidFill>
                <a:latin typeface="Meiryo" pitchFamily="34" charset="0"/>
                <a:ea typeface="Meiryo" pitchFamily="34" charset="-122"/>
                <a:cs typeface="Meiryo" pitchFamily="34" charset="-120"/>
              </a:rPr>
              <a:t>1件終わったら</a:t>
            </a:r>
            <a:endParaRPr lang="en-US" sz="1600" dirty="0"/>
          </a:p>
        </p:txBody>
      </p:sp>
      <p:sp>
        <p:nvSpPr>
          <p:cNvPr id="12" name="Text 10"/>
          <p:cNvSpPr txBox="1"/>
          <p:nvPr/>
        </p:nvSpPr>
        <p:spPr>
          <a:xfrm>
            <a:off x="3566160" y="3566160"/>
            <a:ext cx="3794760" cy="640080"/>
          </a:xfrm>
          <a:prstGeom prst="rect">
            <a:avLst/>
          </a:prstGeom>
          <a:noFill/>
          <a:ln/>
        </p:spPr>
        <p:txBody>
          <a:bodyPr wrap="square" lIns="0" tIns="0" rIns="0" bIns="0" rtlCol="0" anchor="ctr">
            <a:normAutofit/>
          </a:bodyPr>
          <a:lstStyle/>
          <a:p>
            <a:pPr algn="ctr" indent="0" marL="0">
              <a:buNone/>
            </a:pPr>
            <a:r>
              <a:rPr lang="en-US" sz="1800" dirty="0">
                <a:solidFill>
                  <a:srgbClr val="222222"/>
                </a:solidFill>
                <a:latin typeface="Meiryo" pitchFamily="34" charset="0"/>
                <a:ea typeface="Meiryo" pitchFamily="34" charset="-122"/>
                <a:cs typeface="Meiryo" pitchFamily="34" charset="-120"/>
              </a:rPr>
              <a:t>ゼロに戻る</a:t>
            </a:r>
            <a:endParaRPr lang="en-US" sz="1800" dirty="0"/>
          </a:p>
        </p:txBody>
      </p:sp>
      <p:sp>
        <p:nvSpPr>
          <p:cNvPr id="13" name="Text 11"/>
          <p:cNvSpPr txBox="1"/>
          <p:nvPr/>
        </p:nvSpPr>
        <p:spPr>
          <a:xfrm>
            <a:off x="7543800" y="3566160"/>
            <a:ext cx="3794760" cy="640080"/>
          </a:xfrm>
          <a:prstGeom prst="rect">
            <a:avLst/>
          </a:prstGeom>
          <a:noFill/>
          <a:ln/>
        </p:spPr>
        <p:txBody>
          <a:bodyPr wrap="square" lIns="0" tIns="0" rIns="0" bIns="0" rtlCol="0" anchor="ctr">
            <a:normAutofit/>
          </a:bodyPr>
          <a:lstStyle/>
          <a:p>
            <a:pPr algn="ctr" indent="0" marL="0">
              <a:buNone/>
            </a:pPr>
            <a:r>
              <a:rPr lang="en-US" sz="1800" b="1" dirty="0">
                <a:solidFill>
                  <a:srgbClr val="1E2761"/>
                </a:solidFill>
                <a:latin typeface="Meiryo" pitchFamily="34" charset="0"/>
                <a:ea typeface="Meiryo" pitchFamily="34" charset="-122"/>
                <a:cs typeface="Meiryo" pitchFamily="34" charset="-120"/>
              </a:rPr>
              <a:t>次を連れてくる</a:t>
            </a:r>
            <a:endParaRPr lang="en-US" sz="1800" dirty="0"/>
          </a:p>
        </p:txBody>
      </p:sp>
      <p:sp>
        <p:nvSpPr>
          <p:cNvPr id="14" name="Text 12"/>
          <p:cNvSpPr txBox="1"/>
          <p:nvPr/>
        </p:nvSpPr>
        <p:spPr>
          <a:xfrm>
            <a:off x="640080" y="4434840"/>
            <a:ext cx="2743200" cy="640080"/>
          </a:xfrm>
          <a:prstGeom prst="rect">
            <a:avLst/>
          </a:prstGeom>
          <a:noFill/>
          <a:ln/>
        </p:spPr>
        <p:txBody>
          <a:bodyPr wrap="square" lIns="0" tIns="0" rIns="0" bIns="0" rtlCol="0" anchor="ctr">
            <a:normAutofit/>
          </a:bodyPr>
          <a:lstStyle/>
          <a:p>
            <a:pPr algn="l" indent="0" marL="0">
              <a:buNone/>
            </a:pPr>
            <a:r>
              <a:rPr lang="en-US" sz="1600" b="1" dirty="0">
                <a:solidFill>
                  <a:srgbClr val="666666"/>
                </a:solidFill>
                <a:latin typeface="Meiryo" pitchFamily="34" charset="0"/>
                <a:ea typeface="Meiryo" pitchFamily="34" charset="-122"/>
                <a:cs typeface="Meiryo" pitchFamily="34" charset="-120"/>
              </a:rPr>
              <a:t>増え方</a:t>
            </a:r>
            <a:endParaRPr lang="en-US" sz="1600" dirty="0"/>
          </a:p>
        </p:txBody>
      </p:sp>
      <p:sp>
        <p:nvSpPr>
          <p:cNvPr id="15" name="Text 13"/>
          <p:cNvSpPr txBox="1"/>
          <p:nvPr/>
        </p:nvSpPr>
        <p:spPr>
          <a:xfrm>
            <a:off x="3566160" y="4434840"/>
            <a:ext cx="3794760" cy="640080"/>
          </a:xfrm>
          <a:prstGeom prst="rect">
            <a:avLst/>
          </a:prstGeom>
          <a:noFill/>
          <a:ln/>
        </p:spPr>
        <p:txBody>
          <a:bodyPr wrap="square" lIns="0" tIns="0" rIns="0" bIns="0" rtlCol="0" anchor="ctr">
            <a:normAutofit/>
          </a:bodyPr>
          <a:lstStyle/>
          <a:p>
            <a:pPr algn="ctr" indent="0" marL="0">
              <a:buNone/>
            </a:pPr>
            <a:r>
              <a:rPr lang="en-US" sz="1800" dirty="0">
                <a:solidFill>
                  <a:srgbClr val="222222"/>
                </a:solidFill>
                <a:latin typeface="Meiryo" pitchFamily="34" charset="0"/>
                <a:ea typeface="Meiryo" pitchFamily="34" charset="-122"/>
                <a:cs typeface="Meiryo" pitchFamily="34" charset="-120"/>
              </a:rPr>
              <a:t>足し算</a:t>
            </a:r>
            <a:endParaRPr lang="en-US" sz="1800" dirty="0"/>
          </a:p>
        </p:txBody>
      </p:sp>
      <p:sp>
        <p:nvSpPr>
          <p:cNvPr id="16" name="Text 14"/>
          <p:cNvSpPr txBox="1"/>
          <p:nvPr/>
        </p:nvSpPr>
        <p:spPr>
          <a:xfrm>
            <a:off x="7543800" y="4434840"/>
            <a:ext cx="3794760" cy="640080"/>
          </a:xfrm>
          <a:prstGeom prst="rect">
            <a:avLst/>
          </a:prstGeom>
          <a:noFill/>
          <a:ln/>
        </p:spPr>
        <p:txBody>
          <a:bodyPr wrap="square" lIns="0" tIns="0" rIns="0" bIns="0" rtlCol="0" anchor="ctr">
            <a:normAutofit/>
          </a:bodyPr>
          <a:lstStyle/>
          <a:p>
            <a:pPr algn="ctr" indent="0" marL="0">
              <a:buNone/>
            </a:pPr>
            <a:r>
              <a:rPr lang="en-US" sz="1800" b="1" dirty="0">
                <a:solidFill>
                  <a:srgbClr val="1E2761"/>
                </a:solidFill>
                <a:latin typeface="Meiryo" pitchFamily="34" charset="0"/>
                <a:ea typeface="Meiryo" pitchFamily="34" charset="-122"/>
                <a:cs typeface="Meiryo" pitchFamily="34" charset="-120"/>
              </a:rPr>
              <a:t>かけ算</a:t>
            </a:r>
            <a:endParaRPr lang="en-US" sz="1800" dirty="0"/>
          </a:p>
        </p:txBody>
      </p:sp>
      <p:sp>
        <p:nvSpPr>
          <p:cNvPr id="17" name="Text 15"/>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信用は材料。エコシステムは仕組みです。</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第6部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私のエコシステム</a:t>
            </a:r>
            <a:endParaRPr lang="en-US" sz="3000" dirty="0"/>
          </a:p>
        </p:txBody>
      </p:sp>
      <p:sp>
        <p:nvSpPr>
          <p:cNvPr id="4" name="Shape 2"/>
          <p:cNvSpPr/>
          <p:nvPr/>
        </p:nvSpPr>
        <p:spPr>
          <a:xfrm>
            <a:off x="640080" y="1691640"/>
            <a:ext cx="2377440" cy="777240"/>
          </a:xfrm>
          <a:prstGeom prst="roundRect">
            <a:avLst>
              <a:gd name="adj" fmla="val 7059"/>
            </a:avLst>
          </a:prstGeom>
          <a:solidFill>
            <a:srgbClr val="F2F5FB"/>
          </a:solidFill>
          <a:ln w="12700">
            <a:solidFill>
              <a:srgbClr val="F2F5FB"/>
            </a:solidFill>
            <a:prstDash val="solid"/>
          </a:ln>
        </p:spPr>
      </p:sp>
      <p:sp>
        <p:nvSpPr>
          <p:cNvPr id="5" name="Text 3"/>
          <p:cNvSpPr txBox="1"/>
          <p:nvPr/>
        </p:nvSpPr>
        <p:spPr>
          <a:xfrm>
            <a:off x="749808" y="1691640"/>
            <a:ext cx="2157984" cy="777240"/>
          </a:xfrm>
          <a:prstGeom prst="rect">
            <a:avLst/>
          </a:prstGeom>
          <a:noFill/>
          <a:ln/>
        </p:spPr>
        <p:txBody>
          <a:bodyPr wrap="square" lIns="0" tIns="0" rIns="0" bIns="0" rtlCol="0" anchor="ctr">
            <a:normAutofit/>
          </a:bodyPr>
          <a:lstStyle/>
          <a:p>
            <a:pPr algn="ctr" indent="0" marL="0">
              <a:buNone/>
            </a:pPr>
            <a:r>
              <a:rPr lang="en-US" sz="1400" b="1" dirty="0">
                <a:solidFill>
                  <a:srgbClr val="1E2761"/>
                </a:solidFill>
                <a:latin typeface="Meiryo" pitchFamily="34" charset="0"/>
                <a:ea typeface="Meiryo" pitchFamily="34" charset="-122"/>
                <a:cs typeface="Meiryo" pitchFamily="34" charset="-120"/>
              </a:rPr>
              <a:t>入口①</a:t>
            </a:r>
            <a:endParaRPr lang="en-US" sz="1400" dirty="0"/>
          </a:p>
          <a:p>
            <a:pPr algn="ctr" indent="0" marL="0">
              <a:buNone/>
            </a:pPr>
            <a:r>
              <a:rPr lang="en-US" sz="1400" b="1" dirty="0">
                <a:solidFill>
                  <a:srgbClr val="1E2761"/>
                </a:solidFill>
                <a:latin typeface="Meiryo" pitchFamily="34" charset="0"/>
                <a:ea typeface="Meiryo" pitchFamily="34" charset="-122"/>
                <a:cs typeface="Meiryo" pitchFamily="34" charset="-120"/>
              </a:rPr>
              <a:t>登録しておいた先（8つ）</a:t>
            </a:r>
            <a:endParaRPr lang="en-US" sz="1400" dirty="0"/>
          </a:p>
        </p:txBody>
      </p:sp>
      <p:sp>
        <p:nvSpPr>
          <p:cNvPr id="6" name="Shape 4"/>
          <p:cNvSpPr/>
          <p:nvPr/>
        </p:nvSpPr>
        <p:spPr>
          <a:xfrm>
            <a:off x="3063240" y="1947672"/>
            <a:ext cx="365760" cy="274320"/>
          </a:xfrm>
          <a:prstGeom prst="rightArrow">
            <a:avLst/>
          </a:prstGeom>
          <a:solidFill>
            <a:srgbClr val="C08A2E"/>
          </a:solidFill>
          <a:ln w="12700">
            <a:solidFill>
              <a:srgbClr val="C08A2E"/>
            </a:solidFill>
            <a:prstDash val="solid"/>
          </a:ln>
        </p:spPr>
      </p:sp>
      <p:sp>
        <p:nvSpPr>
          <p:cNvPr id="7" name="Shape 5"/>
          <p:cNvSpPr/>
          <p:nvPr/>
        </p:nvSpPr>
        <p:spPr>
          <a:xfrm>
            <a:off x="3474720" y="1691640"/>
            <a:ext cx="2377440" cy="777240"/>
          </a:xfrm>
          <a:prstGeom prst="roundRect">
            <a:avLst>
              <a:gd name="adj" fmla="val 7059"/>
            </a:avLst>
          </a:prstGeom>
          <a:solidFill>
            <a:srgbClr val="F2F5FB"/>
          </a:solidFill>
          <a:ln w="12700">
            <a:solidFill>
              <a:srgbClr val="F2F5FB"/>
            </a:solidFill>
            <a:prstDash val="solid"/>
          </a:ln>
        </p:spPr>
      </p:sp>
      <p:sp>
        <p:nvSpPr>
          <p:cNvPr id="8" name="Text 6"/>
          <p:cNvSpPr txBox="1"/>
          <p:nvPr/>
        </p:nvSpPr>
        <p:spPr>
          <a:xfrm>
            <a:off x="3584448" y="1691640"/>
            <a:ext cx="2157984" cy="77724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案件が来る</a:t>
            </a:r>
            <a:endParaRPr lang="en-US" sz="1500" dirty="0"/>
          </a:p>
        </p:txBody>
      </p:sp>
      <p:sp>
        <p:nvSpPr>
          <p:cNvPr id="9" name="Shape 7"/>
          <p:cNvSpPr/>
          <p:nvPr/>
        </p:nvSpPr>
        <p:spPr>
          <a:xfrm>
            <a:off x="5897880" y="1947672"/>
            <a:ext cx="365760" cy="274320"/>
          </a:xfrm>
          <a:prstGeom prst="rightArrow">
            <a:avLst/>
          </a:prstGeom>
          <a:solidFill>
            <a:srgbClr val="C08A2E"/>
          </a:solidFill>
          <a:ln w="12700">
            <a:solidFill>
              <a:srgbClr val="C08A2E"/>
            </a:solidFill>
            <a:prstDash val="solid"/>
          </a:ln>
        </p:spPr>
      </p:sp>
      <p:sp>
        <p:nvSpPr>
          <p:cNvPr id="10" name="Shape 8"/>
          <p:cNvSpPr/>
          <p:nvPr/>
        </p:nvSpPr>
        <p:spPr>
          <a:xfrm>
            <a:off x="6309360" y="1691640"/>
            <a:ext cx="2377440" cy="777240"/>
          </a:xfrm>
          <a:prstGeom prst="roundRect">
            <a:avLst>
              <a:gd name="adj" fmla="val 7059"/>
            </a:avLst>
          </a:prstGeom>
          <a:solidFill>
            <a:srgbClr val="F2F5FB"/>
          </a:solidFill>
          <a:ln w="12700">
            <a:solidFill>
              <a:srgbClr val="F2F5FB"/>
            </a:solidFill>
            <a:prstDash val="solid"/>
          </a:ln>
        </p:spPr>
      </p:sp>
      <p:sp>
        <p:nvSpPr>
          <p:cNvPr id="11" name="Text 9"/>
          <p:cNvSpPr txBox="1"/>
          <p:nvPr/>
        </p:nvSpPr>
        <p:spPr>
          <a:xfrm>
            <a:off x="6419088" y="1691640"/>
            <a:ext cx="2157984" cy="777240"/>
          </a:xfrm>
          <a:prstGeom prst="rect">
            <a:avLst/>
          </a:prstGeom>
          <a:noFill/>
          <a:ln/>
        </p:spPr>
        <p:txBody>
          <a:bodyPr wrap="square" lIns="0" tIns="0" rIns="0" bIns="0" rtlCol="0" anchor="ctr">
            <a:normAutofit/>
          </a:bodyPr>
          <a:lstStyle/>
          <a:p>
            <a:pPr algn="ctr" indent="0" marL="0">
              <a:buNone/>
            </a:pPr>
            <a:r>
              <a:rPr lang="en-US" sz="1400" b="1" dirty="0">
                <a:solidFill>
                  <a:srgbClr val="1E2761"/>
                </a:solidFill>
                <a:latin typeface="Meiryo" pitchFamily="34" charset="0"/>
                <a:ea typeface="Meiryo" pitchFamily="34" charset="-122"/>
                <a:cs typeface="Meiryo" pitchFamily="34" charset="-120"/>
              </a:rPr>
              <a:t>期待以上で</a:t>
            </a:r>
            <a:endParaRPr lang="en-US" sz="1400" dirty="0"/>
          </a:p>
          <a:p>
            <a:pPr algn="ctr" indent="0" marL="0">
              <a:buNone/>
            </a:pPr>
            <a:r>
              <a:rPr lang="en-US" sz="1400" b="1" dirty="0">
                <a:solidFill>
                  <a:srgbClr val="1E2761"/>
                </a:solidFill>
                <a:latin typeface="Meiryo" pitchFamily="34" charset="0"/>
                <a:ea typeface="Meiryo" pitchFamily="34" charset="-122"/>
                <a:cs typeface="Meiryo" pitchFamily="34" charset="-120"/>
              </a:rPr>
              <a:t>やり切る</a:t>
            </a:r>
            <a:endParaRPr lang="en-US" sz="1400" dirty="0"/>
          </a:p>
        </p:txBody>
      </p:sp>
      <p:sp>
        <p:nvSpPr>
          <p:cNvPr id="12" name="Shape 10"/>
          <p:cNvSpPr/>
          <p:nvPr/>
        </p:nvSpPr>
        <p:spPr>
          <a:xfrm>
            <a:off x="8732520" y="1947672"/>
            <a:ext cx="365760" cy="274320"/>
          </a:xfrm>
          <a:prstGeom prst="rightArrow">
            <a:avLst/>
          </a:prstGeom>
          <a:solidFill>
            <a:srgbClr val="C08A2E"/>
          </a:solidFill>
          <a:ln w="12700">
            <a:solidFill>
              <a:srgbClr val="C08A2E"/>
            </a:solidFill>
            <a:prstDash val="solid"/>
          </a:ln>
        </p:spPr>
      </p:sp>
      <p:sp>
        <p:nvSpPr>
          <p:cNvPr id="13" name="Shape 11"/>
          <p:cNvSpPr/>
          <p:nvPr/>
        </p:nvSpPr>
        <p:spPr>
          <a:xfrm>
            <a:off x="9144000" y="1691640"/>
            <a:ext cx="2377440" cy="777240"/>
          </a:xfrm>
          <a:prstGeom prst="roundRect">
            <a:avLst>
              <a:gd name="adj" fmla="val 7059"/>
            </a:avLst>
          </a:prstGeom>
          <a:solidFill>
            <a:srgbClr val="CADCFC"/>
          </a:solidFill>
          <a:ln w="12700">
            <a:solidFill>
              <a:srgbClr val="CADCFC"/>
            </a:solidFill>
            <a:prstDash val="solid"/>
          </a:ln>
        </p:spPr>
      </p:sp>
      <p:sp>
        <p:nvSpPr>
          <p:cNvPr id="14" name="Text 12"/>
          <p:cNvSpPr txBox="1"/>
          <p:nvPr/>
        </p:nvSpPr>
        <p:spPr>
          <a:xfrm>
            <a:off x="9253728" y="1691640"/>
            <a:ext cx="2157984" cy="777240"/>
          </a:xfrm>
          <a:prstGeom prst="rect">
            <a:avLst/>
          </a:prstGeom>
          <a:noFill/>
          <a:ln/>
        </p:spPr>
        <p:txBody>
          <a:bodyPr wrap="square" lIns="0" tIns="0" rIns="0" bIns="0" rtlCol="0" anchor="ctr">
            <a:normAutofit/>
          </a:bodyPr>
          <a:lstStyle/>
          <a:p>
            <a:pPr algn="ctr" indent="0" marL="0">
              <a:buNone/>
            </a:pPr>
            <a:r>
              <a:rPr lang="en-US" sz="1400" b="1" dirty="0">
                <a:solidFill>
                  <a:srgbClr val="1E2761"/>
                </a:solidFill>
                <a:latin typeface="Meiryo" pitchFamily="34" charset="0"/>
                <a:ea typeface="Meiryo" pitchFamily="34" charset="-122"/>
                <a:cs typeface="Meiryo" pitchFamily="34" charset="-120"/>
              </a:rPr>
              <a:t>アンドドット</a:t>
            </a:r>
            <a:endParaRPr lang="en-US" sz="1400" dirty="0"/>
          </a:p>
          <a:p>
            <a:pPr algn="ctr" indent="0" marL="0">
              <a:buNone/>
            </a:pPr>
            <a:r>
              <a:rPr lang="en-US" sz="1400" b="1" dirty="0">
                <a:solidFill>
                  <a:srgbClr val="1E2761"/>
                </a:solidFill>
                <a:latin typeface="Meiryo" pitchFamily="34" charset="0"/>
                <a:ea typeface="Meiryo" pitchFamily="34" charset="-122"/>
                <a:cs typeface="Meiryo" pitchFamily="34" charset="-120"/>
              </a:rPr>
              <a:t>（公 → 民へ）</a:t>
            </a:r>
            <a:endParaRPr lang="en-US" sz="1400" dirty="0"/>
          </a:p>
        </p:txBody>
      </p:sp>
      <p:sp>
        <p:nvSpPr>
          <p:cNvPr id="15" name="Shape 13"/>
          <p:cNvSpPr/>
          <p:nvPr/>
        </p:nvSpPr>
        <p:spPr>
          <a:xfrm>
            <a:off x="640080" y="3063240"/>
            <a:ext cx="2377440" cy="777240"/>
          </a:xfrm>
          <a:prstGeom prst="roundRect">
            <a:avLst>
              <a:gd name="adj" fmla="val 7059"/>
            </a:avLst>
          </a:prstGeom>
          <a:solidFill>
            <a:srgbClr val="F2F5FB"/>
          </a:solidFill>
          <a:ln w="12700">
            <a:solidFill>
              <a:srgbClr val="F2F5FB"/>
            </a:solidFill>
            <a:prstDash val="solid"/>
          </a:ln>
        </p:spPr>
      </p:sp>
      <p:sp>
        <p:nvSpPr>
          <p:cNvPr id="16" name="Text 14"/>
          <p:cNvSpPr txBox="1"/>
          <p:nvPr/>
        </p:nvSpPr>
        <p:spPr>
          <a:xfrm>
            <a:off x="749808" y="3063240"/>
            <a:ext cx="2157984" cy="777240"/>
          </a:xfrm>
          <a:prstGeom prst="rect">
            <a:avLst/>
          </a:prstGeom>
          <a:noFill/>
          <a:ln/>
        </p:spPr>
        <p:txBody>
          <a:bodyPr wrap="square" lIns="0" tIns="0" rIns="0" bIns="0" rtlCol="0" anchor="ctr">
            <a:normAutofit/>
          </a:bodyPr>
          <a:lstStyle/>
          <a:p>
            <a:pPr algn="ctr" indent="0" marL="0">
              <a:buNone/>
            </a:pPr>
            <a:r>
              <a:rPr lang="en-US" sz="1400" b="1" dirty="0">
                <a:solidFill>
                  <a:srgbClr val="1E2761"/>
                </a:solidFill>
                <a:latin typeface="Meiryo" pitchFamily="34" charset="0"/>
                <a:ea typeface="Meiryo" pitchFamily="34" charset="-122"/>
                <a:cs typeface="Meiryo" pitchFamily="34" charset="-120"/>
              </a:rPr>
              <a:t>入口②</a:t>
            </a:r>
            <a:endParaRPr lang="en-US" sz="1400" dirty="0"/>
          </a:p>
          <a:p>
            <a:pPr algn="ctr" indent="0" marL="0">
              <a:buNone/>
            </a:pPr>
            <a:r>
              <a:rPr lang="en-US" sz="1400" b="1" dirty="0">
                <a:solidFill>
                  <a:srgbClr val="1E2761"/>
                </a:solidFill>
                <a:latin typeface="Meiryo" pitchFamily="34" charset="0"/>
                <a:ea typeface="Meiryo" pitchFamily="34" charset="-122"/>
                <a:cs typeface="Meiryo" pitchFamily="34" charset="-120"/>
              </a:rPr>
              <a:t>過去の縁（5件）</a:t>
            </a:r>
            <a:endParaRPr lang="en-US" sz="1400" dirty="0"/>
          </a:p>
        </p:txBody>
      </p:sp>
      <p:sp>
        <p:nvSpPr>
          <p:cNvPr id="17" name="Shape 15"/>
          <p:cNvSpPr/>
          <p:nvPr/>
        </p:nvSpPr>
        <p:spPr>
          <a:xfrm>
            <a:off x="3063240" y="3319272"/>
            <a:ext cx="365760" cy="274320"/>
          </a:xfrm>
          <a:prstGeom prst="rightArrow">
            <a:avLst/>
          </a:prstGeom>
          <a:solidFill>
            <a:srgbClr val="C08A2E"/>
          </a:solidFill>
          <a:ln w="12700">
            <a:solidFill>
              <a:srgbClr val="C08A2E"/>
            </a:solidFill>
            <a:prstDash val="solid"/>
          </a:ln>
        </p:spPr>
      </p:sp>
      <p:sp>
        <p:nvSpPr>
          <p:cNvPr id="18" name="Shape 16"/>
          <p:cNvSpPr/>
          <p:nvPr/>
        </p:nvSpPr>
        <p:spPr>
          <a:xfrm>
            <a:off x="3474720" y="3063240"/>
            <a:ext cx="2377440" cy="777240"/>
          </a:xfrm>
          <a:prstGeom prst="roundRect">
            <a:avLst>
              <a:gd name="adj" fmla="val 7059"/>
            </a:avLst>
          </a:prstGeom>
          <a:solidFill>
            <a:srgbClr val="F2F5FB"/>
          </a:solidFill>
          <a:ln w="12700">
            <a:solidFill>
              <a:srgbClr val="F2F5FB"/>
            </a:solidFill>
            <a:prstDash val="solid"/>
          </a:ln>
        </p:spPr>
      </p:sp>
      <p:sp>
        <p:nvSpPr>
          <p:cNvPr id="19" name="Text 17"/>
          <p:cNvSpPr txBox="1"/>
          <p:nvPr/>
        </p:nvSpPr>
        <p:spPr>
          <a:xfrm>
            <a:off x="3584448" y="3063240"/>
            <a:ext cx="2157984" cy="77724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顧問契約</a:t>
            </a:r>
            <a:endParaRPr lang="en-US" sz="1500" dirty="0"/>
          </a:p>
        </p:txBody>
      </p:sp>
      <p:sp>
        <p:nvSpPr>
          <p:cNvPr id="20" name="Shape 18"/>
          <p:cNvSpPr/>
          <p:nvPr/>
        </p:nvSpPr>
        <p:spPr>
          <a:xfrm>
            <a:off x="5897880" y="3319272"/>
            <a:ext cx="365760" cy="274320"/>
          </a:xfrm>
          <a:prstGeom prst="rightArrow">
            <a:avLst/>
          </a:prstGeom>
          <a:solidFill>
            <a:srgbClr val="C08A2E"/>
          </a:solidFill>
          <a:ln w="12700">
            <a:solidFill>
              <a:srgbClr val="C08A2E"/>
            </a:solidFill>
            <a:prstDash val="solid"/>
          </a:ln>
        </p:spPr>
      </p:sp>
      <p:sp>
        <p:nvSpPr>
          <p:cNvPr id="21" name="Shape 19"/>
          <p:cNvSpPr/>
          <p:nvPr/>
        </p:nvSpPr>
        <p:spPr>
          <a:xfrm>
            <a:off x="6309360" y="3063240"/>
            <a:ext cx="2377440" cy="777240"/>
          </a:xfrm>
          <a:prstGeom prst="roundRect">
            <a:avLst>
              <a:gd name="adj" fmla="val 7059"/>
            </a:avLst>
          </a:prstGeom>
          <a:solidFill>
            <a:srgbClr val="1E2761"/>
          </a:solidFill>
          <a:ln w="12700">
            <a:solidFill>
              <a:srgbClr val="1E2761"/>
            </a:solidFill>
            <a:prstDash val="solid"/>
          </a:ln>
        </p:spPr>
      </p:sp>
      <p:sp>
        <p:nvSpPr>
          <p:cNvPr id="22" name="Text 20"/>
          <p:cNvSpPr txBox="1"/>
          <p:nvPr/>
        </p:nvSpPr>
        <p:spPr>
          <a:xfrm>
            <a:off x="6419088" y="3063240"/>
            <a:ext cx="2157984" cy="77724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Meiryo" pitchFamily="34" charset="0"/>
                <a:ea typeface="Meiryo" pitchFamily="34" charset="-122"/>
                <a:cs typeface="Meiryo" pitchFamily="34" charset="-120"/>
              </a:rPr>
              <a:t>期待以上で</a:t>
            </a:r>
            <a:endParaRPr lang="en-US" sz="1400" dirty="0"/>
          </a:p>
          <a:p>
            <a:pPr algn="ctr" indent="0" marL="0">
              <a:buNone/>
            </a:pPr>
            <a:r>
              <a:rPr lang="en-US" sz="1400" b="1" dirty="0">
                <a:solidFill>
                  <a:srgbClr val="FFFFFF"/>
                </a:solidFill>
                <a:latin typeface="Meiryo" pitchFamily="34" charset="0"/>
                <a:ea typeface="Meiryo" pitchFamily="34" charset="-122"/>
                <a:cs typeface="Meiryo" pitchFamily="34" charset="-120"/>
              </a:rPr>
              <a:t>やり切る＝信用</a:t>
            </a:r>
            <a:endParaRPr lang="en-US" sz="1400" dirty="0"/>
          </a:p>
        </p:txBody>
      </p:sp>
      <p:sp>
        <p:nvSpPr>
          <p:cNvPr id="23" name="Shape 21"/>
          <p:cNvSpPr/>
          <p:nvPr/>
        </p:nvSpPr>
        <p:spPr>
          <a:xfrm>
            <a:off x="8732520" y="3319272"/>
            <a:ext cx="365760" cy="274320"/>
          </a:xfrm>
          <a:prstGeom prst="rightArrow">
            <a:avLst/>
          </a:prstGeom>
          <a:solidFill>
            <a:srgbClr val="C08A2E"/>
          </a:solidFill>
          <a:ln w="12700">
            <a:solidFill>
              <a:srgbClr val="C08A2E"/>
            </a:solidFill>
            <a:prstDash val="solid"/>
          </a:ln>
        </p:spPr>
      </p:sp>
      <p:sp>
        <p:nvSpPr>
          <p:cNvPr id="24" name="Shape 22"/>
          <p:cNvSpPr/>
          <p:nvPr/>
        </p:nvSpPr>
        <p:spPr>
          <a:xfrm>
            <a:off x="9144000" y="3063240"/>
            <a:ext cx="2377440" cy="777240"/>
          </a:xfrm>
          <a:prstGeom prst="roundRect">
            <a:avLst>
              <a:gd name="adj" fmla="val 7059"/>
            </a:avLst>
          </a:prstGeom>
          <a:solidFill>
            <a:srgbClr val="1E2761"/>
          </a:solidFill>
          <a:ln w="12700">
            <a:solidFill>
              <a:srgbClr val="1E2761"/>
            </a:solidFill>
            <a:prstDash val="solid"/>
          </a:ln>
        </p:spPr>
      </p:sp>
      <p:sp>
        <p:nvSpPr>
          <p:cNvPr id="25" name="Text 23"/>
          <p:cNvSpPr txBox="1"/>
          <p:nvPr/>
        </p:nvSpPr>
        <p:spPr>
          <a:xfrm>
            <a:off x="9253728" y="3063240"/>
            <a:ext cx="2157984" cy="77724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Meiryo" pitchFamily="34" charset="0"/>
                <a:ea typeface="Meiryo" pitchFamily="34" charset="-122"/>
                <a:cs typeface="Meiryo" pitchFamily="34" charset="-120"/>
              </a:rPr>
              <a:t>顧問先が</a:t>
            </a:r>
            <a:endParaRPr lang="en-US" sz="1400" dirty="0"/>
          </a:p>
          <a:p>
            <a:pPr algn="ctr" indent="0" marL="0">
              <a:buNone/>
            </a:pPr>
            <a:r>
              <a:rPr lang="en-US" sz="1400" b="1" dirty="0">
                <a:solidFill>
                  <a:srgbClr val="FFFFFF"/>
                </a:solidFill>
                <a:latin typeface="Meiryo" pitchFamily="34" charset="0"/>
                <a:ea typeface="Meiryo" pitchFamily="34" charset="-122"/>
                <a:cs typeface="Meiryo" pitchFamily="34" charset="-120"/>
              </a:rPr>
              <a:t>紹介を出す</a:t>
            </a:r>
            <a:endParaRPr lang="en-US" sz="1400" dirty="0"/>
          </a:p>
        </p:txBody>
      </p:sp>
      <p:sp>
        <p:nvSpPr>
          <p:cNvPr id="26" name="Shape 24"/>
          <p:cNvSpPr/>
          <p:nvPr/>
        </p:nvSpPr>
        <p:spPr>
          <a:xfrm>
            <a:off x="3474720" y="4572000"/>
            <a:ext cx="8046720" cy="777240"/>
          </a:xfrm>
          <a:prstGeom prst="roundRect">
            <a:avLst>
              <a:gd name="adj" fmla="val 7059"/>
            </a:avLst>
          </a:prstGeom>
          <a:solidFill>
            <a:srgbClr val="C08A2E"/>
          </a:solidFill>
          <a:ln w="12700">
            <a:solidFill>
              <a:srgbClr val="C08A2E"/>
            </a:solidFill>
            <a:prstDash val="solid"/>
          </a:ln>
        </p:spPr>
      </p:sp>
      <p:sp>
        <p:nvSpPr>
          <p:cNvPr id="27" name="Text 25"/>
          <p:cNvSpPr txBox="1"/>
          <p:nvPr/>
        </p:nvSpPr>
        <p:spPr>
          <a:xfrm>
            <a:off x="3584448" y="4572000"/>
            <a:ext cx="7827264" cy="777240"/>
          </a:xfrm>
          <a:prstGeom prst="rect">
            <a:avLst/>
          </a:prstGeom>
          <a:noFill/>
          <a:ln/>
        </p:spPr>
        <p:txBody>
          <a:bodyPr wrap="square" lIns="0" tIns="0" rIns="0" bIns="0" rtlCol="0" anchor="ctr">
            <a:normAutofit/>
          </a:bodyPr>
          <a:lstStyle/>
          <a:p>
            <a:pPr algn="ctr" indent="0" marL="0">
              <a:buNone/>
            </a:pPr>
            <a:r>
              <a:rPr lang="en-US" sz="1700" b="1" dirty="0">
                <a:solidFill>
                  <a:srgbClr val="FFFFFF"/>
                </a:solidFill>
                <a:latin typeface="Meiryo" pitchFamily="34" charset="0"/>
                <a:ea typeface="Meiryo" pitchFamily="34" charset="-122"/>
                <a:cs typeface="Meiryo" pitchFamily="34" charset="-120"/>
              </a:rPr>
              <a:t>紹介で入った7社が、また紹介元になる</a:t>
            </a:r>
            <a:endParaRPr lang="en-US" sz="1700" dirty="0"/>
          </a:p>
        </p:txBody>
      </p:sp>
      <p:sp>
        <p:nvSpPr>
          <p:cNvPr id="28" name="Shape 26"/>
          <p:cNvSpPr/>
          <p:nvPr/>
        </p:nvSpPr>
        <p:spPr>
          <a:xfrm>
            <a:off x="1645920" y="4754880"/>
            <a:ext cx="1737360" cy="411480"/>
          </a:xfrm>
          <a:prstGeom prst="leftArrow">
            <a:avLst/>
          </a:prstGeom>
          <a:solidFill>
            <a:srgbClr val="C08A2E"/>
          </a:solidFill>
          <a:ln w="12700">
            <a:solidFill>
              <a:srgbClr val="C08A2E"/>
            </a:solidFill>
            <a:prstDash val="solid"/>
          </a:ln>
        </p:spPr>
      </p:sp>
      <p:sp>
        <p:nvSpPr>
          <p:cNvPr id="29" name="Shape 27"/>
          <p:cNvSpPr/>
          <p:nvPr/>
        </p:nvSpPr>
        <p:spPr>
          <a:xfrm>
            <a:off x="1600200" y="3931920"/>
            <a:ext cx="411480" cy="777240"/>
          </a:xfrm>
          <a:prstGeom prst="upArrow">
            <a:avLst/>
          </a:prstGeom>
          <a:solidFill>
            <a:srgbClr val="C08A2E"/>
          </a:solidFill>
          <a:ln w="12700">
            <a:solidFill>
              <a:srgbClr val="C08A2E"/>
            </a:solidFill>
            <a:prstDash val="solid"/>
          </a:ln>
        </p:spPr>
      </p:sp>
      <p:sp>
        <p:nvSpPr>
          <p:cNvPr id="30" name="Text 28"/>
          <p:cNvSpPr txBox="1"/>
          <p:nvPr/>
        </p:nvSpPr>
        <p:spPr>
          <a:xfrm>
            <a:off x="548640" y="4754880"/>
            <a:ext cx="1005840" cy="411480"/>
          </a:xfrm>
          <a:prstGeom prst="rect">
            <a:avLst/>
          </a:prstGeom>
          <a:noFill/>
          <a:ln/>
        </p:spPr>
        <p:txBody>
          <a:bodyPr wrap="square" lIns="0" tIns="0" rIns="0" bIns="0" rtlCol="0" anchor="ctr"/>
          <a:lstStyle/>
          <a:p>
            <a:pPr algn="r" indent="0" marL="0">
              <a:buNone/>
            </a:pPr>
            <a:r>
              <a:rPr lang="en-US" sz="1500" b="1" dirty="0">
                <a:solidFill>
                  <a:srgbClr val="C08A2E"/>
                </a:solidFill>
                <a:latin typeface="Meiryo" pitchFamily="34" charset="0"/>
                <a:ea typeface="Meiryo" pitchFamily="34" charset="-122"/>
                <a:cs typeface="Meiryo" pitchFamily="34" charset="-120"/>
              </a:rPr>
              <a:t>循環</a:t>
            </a:r>
            <a:endParaRPr lang="en-US" sz="1500" dirty="0"/>
          </a:p>
        </p:txBody>
      </p:sp>
      <p:sp>
        <p:nvSpPr>
          <p:cNvPr id="31" name="Text 29"/>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scalar 1社が、池田紙工とOTCコーヒーの2社を連れてきました。これが回っている証拠です。</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第6部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回すために必要なのは、3つだけ</a:t>
            </a:r>
            <a:endParaRPr lang="en-US" sz="3000" dirty="0"/>
          </a:p>
        </p:txBody>
      </p:sp>
      <p:sp>
        <p:nvSpPr>
          <p:cNvPr id="4" name="Shape 2"/>
          <p:cNvSpPr/>
          <p:nvPr/>
        </p:nvSpPr>
        <p:spPr>
          <a:xfrm>
            <a:off x="640080" y="2103120"/>
            <a:ext cx="457200" cy="457200"/>
          </a:xfrm>
          <a:prstGeom prst="ellipse">
            <a:avLst/>
          </a:prstGeom>
          <a:solidFill>
            <a:srgbClr val="1E2761"/>
          </a:solidFill>
          <a:ln w="12700">
            <a:solidFill>
              <a:srgbClr val="1E2761"/>
            </a:solidFill>
            <a:prstDash val="solid"/>
          </a:ln>
        </p:spPr>
      </p:sp>
      <p:sp>
        <p:nvSpPr>
          <p:cNvPr id="5" name="Text 3"/>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6" name="Text 4"/>
          <p:cNvSpPr txBox="1"/>
          <p:nvPr/>
        </p:nvSpPr>
        <p:spPr>
          <a:xfrm>
            <a:off x="1325880" y="2075688"/>
            <a:ext cx="10134295" cy="365760"/>
          </a:xfrm>
          <a:prstGeom prst="rect">
            <a:avLst/>
          </a:prstGeom>
          <a:noFill/>
          <a:ln/>
        </p:spPr>
        <p:txBody>
          <a:bodyPr wrap="square" lIns="0" tIns="0" rIns="0" bIns="0" rtlCol="0" anchor="ctr">
            <a:normAutofit/>
          </a:bodyPr>
          <a:lstStyle/>
          <a:p>
            <a:pPr indent="0" marL="0">
              <a:buNone/>
            </a:pPr>
            <a:r>
              <a:rPr lang="en-US" sz="2200" b="1" dirty="0">
                <a:solidFill>
                  <a:srgbClr val="222222"/>
                </a:solidFill>
                <a:latin typeface="Meiryo" pitchFamily="34" charset="0"/>
                <a:ea typeface="Meiryo" pitchFamily="34" charset="-122"/>
                <a:cs typeface="Meiryo" pitchFamily="34" charset="-120"/>
              </a:rPr>
              <a:t>入口を複数持つ</a:t>
            </a:r>
            <a:endParaRPr lang="en-US" sz="2200" dirty="0"/>
          </a:p>
        </p:txBody>
      </p:sp>
      <p:sp>
        <p:nvSpPr>
          <p:cNvPr id="7" name="Text 5"/>
          <p:cNvSpPr txBox="1"/>
          <p:nvPr/>
        </p:nvSpPr>
        <p:spPr>
          <a:xfrm>
            <a:off x="1325880" y="2432304"/>
            <a:ext cx="10134295" cy="71323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登録先、過去の縁、逆営業。ひとつに依存しない</a:t>
            </a:r>
            <a:endParaRPr lang="en-US" sz="1400" dirty="0"/>
          </a:p>
        </p:txBody>
      </p:sp>
      <p:sp>
        <p:nvSpPr>
          <p:cNvPr id="8" name="Shape 6"/>
          <p:cNvSpPr/>
          <p:nvPr/>
        </p:nvSpPr>
        <p:spPr>
          <a:xfrm>
            <a:off x="640080" y="3200400"/>
            <a:ext cx="457200" cy="457200"/>
          </a:xfrm>
          <a:prstGeom prst="ellipse">
            <a:avLst/>
          </a:prstGeom>
          <a:solidFill>
            <a:srgbClr val="1E2761"/>
          </a:solidFill>
          <a:ln w="12700">
            <a:solidFill>
              <a:srgbClr val="1E2761"/>
            </a:solidFill>
            <a:prstDash val="solid"/>
          </a:ln>
        </p:spPr>
      </p:sp>
      <p:sp>
        <p:nvSpPr>
          <p:cNvPr id="9" name="Text 7"/>
          <p:cNvSpPr txBox="1"/>
          <p:nvPr/>
        </p:nvSpPr>
        <p:spPr>
          <a:xfrm>
            <a:off x="640080" y="3200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0" name="Text 8"/>
          <p:cNvSpPr txBox="1"/>
          <p:nvPr/>
        </p:nvSpPr>
        <p:spPr>
          <a:xfrm>
            <a:off x="1325880" y="3172968"/>
            <a:ext cx="10134295" cy="365760"/>
          </a:xfrm>
          <a:prstGeom prst="rect">
            <a:avLst/>
          </a:prstGeom>
          <a:noFill/>
          <a:ln/>
        </p:spPr>
        <p:txBody>
          <a:bodyPr wrap="square" lIns="0" tIns="0" rIns="0" bIns="0" rtlCol="0" anchor="ctr">
            <a:normAutofit/>
          </a:bodyPr>
          <a:lstStyle/>
          <a:p>
            <a:pPr indent="0" marL="0">
              <a:buNone/>
            </a:pPr>
            <a:r>
              <a:rPr lang="en-US" sz="2200" b="1" dirty="0">
                <a:solidFill>
                  <a:srgbClr val="222222"/>
                </a:solidFill>
                <a:latin typeface="Meiryo" pitchFamily="34" charset="0"/>
                <a:ea typeface="Meiryo" pitchFamily="34" charset="-122"/>
                <a:cs typeface="Meiryo" pitchFamily="34" charset="-120"/>
              </a:rPr>
              <a:t>1件を期待以上でやり切る</a:t>
            </a:r>
            <a:endParaRPr lang="en-US" sz="2200" dirty="0"/>
          </a:p>
        </p:txBody>
      </p:sp>
      <p:sp>
        <p:nvSpPr>
          <p:cNvPr id="11" name="Text 9"/>
          <p:cNvSpPr txBox="1"/>
          <p:nvPr/>
        </p:nvSpPr>
        <p:spPr>
          <a:xfrm>
            <a:off x="1325880" y="3529584"/>
            <a:ext cx="10134295" cy="71323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ここでしか信用は貯まりません</a:t>
            </a:r>
            <a:endParaRPr lang="en-US" sz="1400" dirty="0"/>
          </a:p>
        </p:txBody>
      </p:sp>
      <p:sp>
        <p:nvSpPr>
          <p:cNvPr id="12" name="Shape 10"/>
          <p:cNvSpPr/>
          <p:nvPr/>
        </p:nvSpPr>
        <p:spPr>
          <a:xfrm>
            <a:off x="640080" y="4297680"/>
            <a:ext cx="457200" cy="457200"/>
          </a:xfrm>
          <a:prstGeom prst="ellipse">
            <a:avLst/>
          </a:prstGeom>
          <a:solidFill>
            <a:srgbClr val="1E2761"/>
          </a:solidFill>
          <a:ln w="12700">
            <a:solidFill>
              <a:srgbClr val="1E2761"/>
            </a:solidFill>
            <a:prstDash val="solid"/>
          </a:ln>
        </p:spPr>
      </p:sp>
      <p:sp>
        <p:nvSpPr>
          <p:cNvPr id="13" name="Text 11"/>
          <p:cNvSpPr txBox="1"/>
          <p:nvPr/>
        </p:nvSpPr>
        <p:spPr>
          <a:xfrm>
            <a:off x="640080" y="4297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4" name="Text 12"/>
          <p:cNvSpPr txBox="1"/>
          <p:nvPr/>
        </p:nvSpPr>
        <p:spPr>
          <a:xfrm>
            <a:off x="1325880" y="4270248"/>
            <a:ext cx="10134295" cy="365760"/>
          </a:xfrm>
          <a:prstGeom prst="rect">
            <a:avLst/>
          </a:prstGeom>
          <a:noFill/>
          <a:ln/>
        </p:spPr>
        <p:txBody>
          <a:bodyPr wrap="square" lIns="0" tIns="0" rIns="0" bIns="0" rtlCol="0" anchor="ctr">
            <a:normAutofit/>
          </a:bodyPr>
          <a:lstStyle/>
          <a:p>
            <a:pPr indent="0" marL="0">
              <a:buNone/>
            </a:pPr>
            <a:r>
              <a:rPr lang="en-US" sz="2200" b="1" dirty="0">
                <a:solidFill>
                  <a:srgbClr val="222222"/>
                </a:solidFill>
                <a:latin typeface="Meiryo" pitchFamily="34" charset="0"/>
                <a:ea typeface="Meiryo" pitchFamily="34" charset="-122"/>
                <a:cs typeface="Meiryo" pitchFamily="34" charset="-120"/>
              </a:rPr>
              <a:t>紹介してくれた人に、結果を返す</a:t>
            </a:r>
            <a:endParaRPr lang="en-US" sz="2200" dirty="0"/>
          </a:p>
        </p:txBody>
      </p:sp>
      <p:sp>
        <p:nvSpPr>
          <p:cNvPr id="15" name="Text 13"/>
          <p:cNvSpPr txBox="1"/>
          <p:nvPr/>
        </p:nvSpPr>
        <p:spPr>
          <a:xfrm>
            <a:off x="1325880" y="4626864"/>
            <a:ext cx="10134295" cy="713232"/>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返さないと、循環は1回で止まります</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第6部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再現の5ステップ</a:t>
            </a:r>
            <a:endParaRPr lang="en-US" sz="3000" dirty="0"/>
          </a:p>
        </p:txBody>
      </p:sp>
      <p:sp>
        <p:nvSpPr>
          <p:cNvPr id="4" name="Text 2"/>
          <p:cNvSpPr txBox="1"/>
          <p:nvPr/>
        </p:nvSpPr>
        <p:spPr>
          <a:xfrm>
            <a:off x="640080" y="1554480"/>
            <a:ext cx="10911535" cy="365760"/>
          </a:xfrm>
          <a:prstGeom prst="rect">
            <a:avLst/>
          </a:prstGeom>
          <a:noFill/>
          <a:ln/>
        </p:spPr>
        <p:txBody>
          <a:bodyPr wrap="square" lIns="0" tIns="0" rIns="0" bIns="0" rtlCol="0" anchor="ctr"/>
          <a:lstStyle/>
          <a:p>
            <a:pPr indent="0" marL="0">
              <a:buNone/>
            </a:pPr>
            <a:r>
              <a:rPr lang="en-US" sz="1500" dirty="0">
                <a:solidFill>
                  <a:srgbClr val="666666"/>
                </a:solidFill>
                <a:latin typeface="Meiryo" pitchFamily="34" charset="0"/>
                <a:ea typeface="Meiryo" pitchFamily="34" charset="-122"/>
                <a:cs typeface="Meiryo" pitchFamily="34" charset="-120"/>
              </a:rPr>
              <a:t>私が2年でやったことを、誰でも辿れる順番にすると、この5つです。</a:t>
            </a:r>
            <a:endParaRPr lang="en-US" sz="1500" dirty="0"/>
          </a:p>
        </p:txBody>
      </p:sp>
      <p:sp>
        <p:nvSpPr>
          <p:cNvPr id="5" name="Shape 3"/>
          <p:cNvSpPr/>
          <p:nvPr/>
        </p:nvSpPr>
        <p:spPr>
          <a:xfrm>
            <a:off x="640080" y="2057400"/>
            <a:ext cx="457200" cy="457200"/>
          </a:xfrm>
          <a:prstGeom prst="ellipse">
            <a:avLst/>
          </a:prstGeom>
          <a:solidFill>
            <a:srgbClr val="1E2761"/>
          </a:solidFill>
          <a:ln w="12700">
            <a:solidFill>
              <a:srgbClr val="1E2761"/>
            </a:solidFill>
            <a:prstDash val="solid"/>
          </a:ln>
        </p:spPr>
      </p:sp>
      <p:sp>
        <p:nvSpPr>
          <p:cNvPr id="6" name="Text 4"/>
          <p:cNvSpPr txBox="1"/>
          <p:nvPr/>
        </p:nvSpPr>
        <p:spPr>
          <a:xfrm>
            <a:off x="640080" y="2057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7" name="Text 5"/>
          <p:cNvSpPr txBox="1"/>
          <p:nvPr/>
        </p:nvSpPr>
        <p:spPr>
          <a:xfrm>
            <a:off x="1325880" y="2029968"/>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信用の棚卸し</a:t>
            </a:r>
            <a:endParaRPr lang="en-US" sz="1800" dirty="0"/>
          </a:p>
        </p:txBody>
      </p:sp>
      <p:sp>
        <p:nvSpPr>
          <p:cNvPr id="8" name="Text 6"/>
          <p:cNvSpPr txBox="1"/>
          <p:nvPr/>
        </p:nvSpPr>
        <p:spPr>
          <a:xfrm>
            <a:off x="1325880" y="2386584"/>
            <a:ext cx="10134295" cy="411480"/>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すでに持っている縁を、全部書き出す（＝過去の縁5件）</a:t>
            </a:r>
            <a:endParaRPr lang="en-US" sz="1400" dirty="0"/>
          </a:p>
        </p:txBody>
      </p:sp>
      <p:sp>
        <p:nvSpPr>
          <p:cNvPr id="9" name="Shape 7"/>
          <p:cNvSpPr/>
          <p:nvPr/>
        </p:nvSpPr>
        <p:spPr>
          <a:xfrm>
            <a:off x="640080" y="2852928"/>
            <a:ext cx="457200" cy="457200"/>
          </a:xfrm>
          <a:prstGeom prst="ellipse">
            <a:avLst/>
          </a:prstGeom>
          <a:solidFill>
            <a:srgbClr val="1E2761"/>
          </a:solidFill>
          <a:ln w="12700">
            <a:solidFill>
              <a:srgbClr val="1E2761"/>
            </a:solidFill>
            <a:prstDash val="solid"/>
          </a:ln>
        </p:spPr>
      </p:sp>
      <p:sp>
        <p:nvSpPr>
          <p:cNvPr id="10" name="Text 8"/>
          <p:cNvSpPr txBox="1"/>
          <p:nvPr/>
        </p:nvSpPr>
        <p:spPr>
          <a:xfrm>
            <a:off x="640080" y="285292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1" name="Text 9"/>
          <p:cNvSpPr txBox="1"/>
          <p:nvPr/>
        </p:nvSpPr>
        <p:spPr>
          <a:xfrm>
            <a:off x="1325880" y="2825496"/>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入口に登録する</a:t>
            </a:r>
            <a:endParaRPr lang="en-US" sz="1800" dirty="0"/>
          </a:p>
        </p:txBody>
      </p:sp>
      <p:sp>
        <p:nvSpPr>
          <p:cNvPr id="12" name="Text 10"/>
          <p:cNvSpPr txBox="1"/>
          <p:nvPr/>
        </p:nvSpPr>
        <p:spPr>
          <a:xfrm>
            <a:off x="1325880" y="3182112"/>
            <a:ext cx="10134295" cy="411480"/>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支部のキャリアデータベース、公的機関の専門家（＝登録先8件）</a:t>
            </a:r>
            <a:endParaRPr lang="en-US" sz="1400" dirty="0"/>
          </a:p>
        </p:txBody>
      </p:sp>
      <p:sp>
        <p:nvSpPr>
          <p:cNvPr id="13" name="Shape 11"/>
          <p:cNvSpPr/>
          <p:nvPr/>
        </p:nvSpPr>
        <p:spPr>
          <a:xfrm>
            <a:off x="640080" y="3648456"/>
            <a:ext cx="457200" cy="457200"/>
          </a:xfrm>
          <a:prstGeom prst="ellipse">
            <a:avLst/>
          </a:prstGeom>
          <a:solidFill>
            <a:srgbClr val="1E2761"/>
          </a:solidFill>
          <a:ln w="12700">
            <a:solidFill>
              <a:srgbClr val="1E2761"/>
            </a:solidFill>
            <a:prstDash val="solid"/>
          </a:ln>
        </p:spPr>
      </p:sp>
      <p:sp>
        <p:nvSpPr>
          <p:cNvPr id="14" name="Text 12"/>
          <p:cNvSpPr txBox="1"/>
          <p:nvPr/>
        </p:nvSpPr>
        <p:spPr>
          <a:xfrm>
            <a:off x="640080" y="364845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5" name="Text 13"/>
          <p:cNvSpPr txBox="1"/>
          <p:nvPr/>
        </p:nvSpPr>
        <p:spPr>
          <a:xfrm>
            <a:off x="1325880" y="3621024"/>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来た仕事を、期待以上でやり切る</a:t>
            </a:r>
            <a:endParaRPr lang="en-US" sz="1800" dirty="0"/>
          </a:p>
        </p:txBody>
      </p:sp>
      <p:sp>
        <p:nvSpPr>
          <p:cNvPr id="16" name="Text 14"/>
          <p:cNvSpPr txBox="1"/>
          <p:nvPr/>
        </p:nvSpPr>
        <p:spPr>
          <a:xfrm>
            <a:off x="1325880" y="3977640"/>
            <a:ext cx="10134295" cy="411480"/>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残高を増やす。ここが2〜3年。4人の育ち方と同じ</a:t>
            </a:r>
            <a:endParaRPr lang="en-US" sz="1400" dirty="0"/>
          </a:p>
        </p:txBody>
      </p:sp>
      <p:sp>
        <p:nvSpPr>
          <p:cNvPr id="17" name="Shape 15"/>
          <p:cNvSpPr/>
          <p:nvPr/>
        </p:nvSpPr>
        <p:spPr>
          <a:xfrm>
            <a:off x="640080" y="4443984"/>
            <a:ext cx="457200" cy="457200"/>
          </a:xfrm>
          <a:prstGeom prst="ellipse">
            <a:avLst/>
          </a:prstGeom>
          <a:solidFill>
            <a:srgbClr val="1E2761"/>
          </a:solidFill>
          <a:ln w="12700">
            <a:solidFill>
              <a:srgbClr val="1E2761"/>
            </a:solidFill>
            <a:prstDash val="solid"/>
          </a:ln>
        </p:spPr>
      </p:sp>
      <p:sp>
        <p:nvSpPr>
          <p:cNvPr id="18" name="Text 16"/>
          <p:cNvSpPr txBox="1"/>
          <p:nvPr/>
        </p:nvSpPr>
        <p:spPr>
          <a:xfrm>
            <a:off x="640080" y="444398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19" name="Text 17"/>
          <p:cNvSpPr txBox="1"/>
          <p:nvPr/>
        </p:nvSpPr>
        <p:spPr>
          <a:xfrm>
            <a:off x="1325880" y="4416552"/>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紹介が出る状態にする</a:t>
            </a:r>
            <a:endParaRPr lang="en-US" sz="1800" dirty="0"/>
          </a:p>
        </p:txBody>
      </p:sp>
      <p:sp>
        <p:nvSpPr>
          <p:cNvPr id="20" name="Text 18"/>
          <p:cNvSpPr txBox="1"/>
          <p:nvPr/>
        </p:nvSpPr>
        <p:spPr>
          <a:xfrm>
            <a:off x="1325880" y="4773168"/>
            <a:ext cx="10134295" cy="411480"/>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エコシステム化（＝紹介7件）</a:t>
            </a:r>
            <a:endParaRPr lang="en-US" sz="1400" dirty="0"/>
          </a:p>
        </p:txBody>
      </p:sp>
      <p:sp>
        <p:nvSpPr>
          <p:cNvPr id="21" name="Shape 19"/>
          <p:cNvSpPr/>
          <p:nvPr/>
        </p:nvSpPr>
        <p:spPr>
          <a:xfrm>
            <a:off x="640080" y="5239512"/>
            <a:ext cx="457200" cy="457200"/>
          </a:xfrm>
          <a:prstGeom prst="ellipse">
            <a:avLst/>
          </a:prstGeom>
          <a:solidFill>
            <a:srgbClr val="1E2761"/>
          </a:solidFill>
          <a:ln w="12700">
            <a:solidFill>
              <a:srgbClr val="1E2761"/>
            </a:solidFill>
            <a:prstDash val="solid"/>
          </a:ln>
        </p:spPr>
      </p:sp>
      <p:sp>
        <p:nvSpPr>
          <p:cNvPr id="22" name="Text 20"/>
          <p:cNvSpPr txBox="1"/>
          <p:nvPr/>
        </p:nvSpPr>
        <p:spPr>
          <a:xfrm>
            <a:off x="640080" y="5239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5</a:t>
            </a:r>
            <a:endParaRPr lang="en-US" sz="1600" dirty="0"/>
          </a:p>
        </p:txBody>
      </p:sp>
      <p:sp>
        <p:nvSpPr>
          <p:cNvPr id="23" name="Text 21"/>
          <p:cNvSpPr txBox="1"/>
          <p:nvPr/>
        </p:nvSpPr>
        <p:spPr>
          <a:xfrm>
            <a:off x="1325880" y="5212080"/>
            <a:ext cx="10134295" cy="365760"/>
          </a:xfrm>
          <a:prstGeom prst="rect">
            <a:avLst/>
          </a:prstGeom>
          <a:noFill/>
          <a:ln/>
        </p:spPr>
        <p:txBody>
          <a:bodyPr wrap="square" lIns="0" tIns="0" rIns="0" bIns="0" rtlCol="0" anchor="ctr">
            <a:normAutofit/>
          </a:bodyPr>
          <a:lstStyle/>
          <a:p>
            <a:pPr indent="0" marL="0">
              <a:buNone/>
            </a:pPr>
            <a:r>
              <a:rPr lang="en-US" sz="1800" b="1" dirty="0">
                <a:solidFill>
                  <a:srgbClr val="222222"/>
                </a:solidFill>
                <a:latin typeface="Meiryo" pitchFamily="34" charset="0"/>
                <a:ea typeface="Meiryo" pitchFamily="34" charset="-122"/>
                <a:cs typeface="Meiryo" pitchFamily="34" charset="-120"/>
              </a:rPr>
              <a:t>やらない仕事を決める</a:t>
            </a:r>
            <a:endParaRPr lang="en-US" sz="1800" dirty="0"/>
          </a:p>
        </p:txBody>
      </p:sp>
      <p:sp>
        <p:nvSpPr>
          <p:cNvPr id="24" name="Text 22"/>
          <p:cNvSpPr txBox="1"/>
          <p:nvPr/>
        </p:nvSpPr>
        <p:spPr>
          <a:xfrm>
            <a:off x="1325880" y="5568696"/>
            <a:ext cx="10134295" cy="411480"/>
          </a:xfrm>
          <a:prstGeom prst="rect">
            <a:avLst/>
          </a:prstGeom>
          <a:noFill/>
          <a:ln/>
        </p:spPr>
        <p:txBody>
          <a:bodyPr wrap="square" lIns="0" tIns="0" rIns="0" bIns="0" rtlCol="0" anchor="ctr">
            <a:normAutofit/>
          </a:bodyPr>
          <a:lstStyle/>
          <a:p>
            <a:pPr indent="0" marL="0">
              <a:lnSpc>
                <a:spcPts val="1900"/>
              </a:lnSpc>
              <a:buNone/>
            </a:pPr>
            <a:r>
              <a:rPr lang="en-US" sz="1400" dirty="0">
                <a:solidFill>
                  <a:srgbClr val="666666"/>
                </a:solidFill>
                <a:latin typeface="Meiryo" pitchFamily="34" charset="0"/>
                <a:ea typeface="Meiryo" pitchFamily="34" charset="-122"/>
                <a:cs typeface="Meiryo" pitchFamily="34" charset="-120"/>
              </a:rPr>
              <a:t>残高を減らす仕事を切る</a:t>
            </a:r>
            <a:endParaRPr lang="en-US" sz="1400" dirty="0"/>
          </a:p>
        </p:txBody>
      </p:sp>
      <p:sp>
        <p:nvSpPr>
          <p:cNvPr id="25" name="Text 23"/>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今日できるのは1と2。3で差がつき、4は勝手に回りだします。</a:t>
            </a:r>
            <a:endParaRPr lang="en-US" sz="15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640080" y="2286000"/>
            <a:ext cx="1005840" cy="1005840"/>
          </a:xfrm>
          <a:prstGeom prst="ellipse">
            <a:avLst/>
          </a:prstGeom>
          <a:solidFill>
            <a:srgbClr val="C08A2E"/>
          </a:solidFill>
          <a:ln w="12700">
            <a:solidFill>
              <a:srgbClr val="C08A2E"/>
            </a:solidFill>
            <a:prstDash val="solid"/>
          </a:ln>
        </p:spPr>
      </p:sp>
      <p:sp>
        <p:nvSpPr>
          <p:cNvPr id="3" name="Text 1"/>
          <p:cNvSpPr txBox="1"/>
          <p:nvPr/>
        </p:nvSpPr>
        <p:spPr>
          <a:xfrm>
            <a:off x="640080" y="2286000"/>
            <a:ext cx="1005840" cy="1005840"/>
          </a:xfrm>
          <a:prstGeom prst="rect">
            <a:avLst/>
          </a:prstGeom>
          <a:noFill/>
          <a:ln/>
        </p:spPr>
        <p:txBody>
          <a:bodyPr wrap="square" lIns="0" tIns="0" rIns="0" bIns="0" rtlCol="0" anchor="ctr"/>
          <a:lstStyle/>
          <a:p>
            <a:pPr algn="ctr" indent="0" marL="0">
              <a:buNone/>
            </a:pPr>
            <a:r>
              <a:rPr lang="en-US" sz="3400" b="1" dirty="0">
                <a:solidFill>
                  <a:srgbClr val="FFFFFF"/>
                </a:solidFill>
                <a:latin typeface="Meiryo" pitchFamily="34" charset="0"/>
                <a:ea typeface="Meiryo" pitchFamily="34" charset="-122"/>
                <a:cs typeface="Meiryo" pitchFamily="34" charset="-120"/>
              </a:rPr>
              <a:t>7</a:t>
            </a:r>
            <a:endParaRPr lang="en-US" sz="3400" dirty="0"/>
          </a:p>
        </p:txBody>
      </p:sp>
      <p:sp>
        <p:nvSpPr>
          <p:cNvPr id="4" name="Text 2"/>
          <p:cNvSpPr txBox="1"/>
          <p:nvPr/>
        </p:nvSpPr>
        <p:spPr>
          <a:xfrm>
            <a:off x="2011680" y="2240280"/>
            <a:ext cx="9539935" cy="91440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Meiryo" pitchFamily="34" charset="0"/>
                <a:ea typeface="Meiryo" pitchFamily="34" charset="-122"/>
                <a:cs typeface="Meiryo" pitchFamily="34" charset="-120"/>
              </a:rPr>
              <a:t>やらない仕事を決める</a:t>
            </a:r>
            <a:endParaRPr lang="en-US" sz="3400" dirty="0"/>
          </a:p>
        </p:txBody>
      </p:sp>
      <p:sp>
        <p:nvSpPr>
          <p:cNvPr id="5" name="Text 3"/>
          <p:cNvSpPr txBox="1"/>
          <p:nvPr/>
        </p:nvSpPr>
        <p:spPr>
          <a:xfrm>
            <a:off x="2011680" y="3246120"/>
            <a:ext cx="9539935" cy="731520"/>
          </a:xfrm>
          <a:prstGeom prst="rect">
            <a:avLst/>
          </a:prstGeom>
          <a:noFill/>
          <a:ln/>
        </p:spPr>
        <p:txBody>
          <a:bodyPr wrap="square" lIns="0" tIns="0" rIns="0" bIns="0" rtlCol="0" anchor="ctr">
            <a:normAutofit/>
          </a:bodyPr>
          <a:lstStyle/>
          <a:p>
            <a:pPr indent="0" marL="0">
              <a:buNone/>
            </a:pPr>
            <a:r>
              <a:rPr lang="en-US" sz="1600" dirty="0">
                <a:solidFill>
                  <a:srgbClr val="CADCFC"/>
                </a:solidFill>
                <a:latin typeface="Meiryo" pitchFamily="34" charset="0"/>
                <a:ea typeface="Meiryo" pitchFamily="34" charset="-122"/>
                <a:cs typeface="Meiryo" pitchFamily="34" charset="-120"/>
              </a:rPr>
              <a:t>15:23-15:31／8分　私の失敗談から</a:t>
            </a:r>
            <a:endParaRPr lang="en-US" sz="16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第7部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失敗談：Webの仕事で疲弊しました</a:t>
            </a:r>
            <a:endParaRPr lang="en-US" sz="3000" dirty="0"/>
          </a:p>
        </p:txBody>
      </p:sp>
      <p:sp>
        <p:nvSpPr>
          <p:cNvPr id="4" name="Shape 2"/>
          <p:cNvSpPr/>
          <p:nvPr/>
        </p:nvSpPr>
        <p:spPr>
          <a:xfrm>
            <a:off x="640080" y="2103120"/>
            <a:ext cx="457200" cy="457200"/>
          </a:xfrm>
          <a:prstGeom prst="ellipse">
            <a:avLst/>
          </a:prstGeom>
          <a:solidFill>
            <a:srgbClr val="1E2761"/>
          </a:solidFill>
          <a:ln w="12700">
            <a:solidFill>
              <a:srgbClr val="1E2761"/>
            </a:solidFill>
            <a:prstDash val="solid"/>
          </a:ln>
        </p:spPr>
      </p:sp>
      <p:sp>
        <p:nvSpPr>
          <p:cNvPr id="5" name="Text 3"/>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6" name="Text 4"/>
          <p:cNvSpPr txBox="1"/>
          <p:nvPr/>
        </p:nvSpPr>
        <p:spPr>
          <a:xfrm>
            <a:off x="1325880" y="2075688"/>
            <a:ext cx="10134295" cy="365760"/>
          </a:xfrm>
          <a:prstGeom prst="rect">
            <a:avLst/>
          </a:prstGeom>
          <a:noFill/>
          <a:ln/>
        </p:spPr>
        <p:txBody>
          <a:bodyPr wrap="square" lIns="0" tIns="0" rIns="0" bIns="0" rtlCol="0" anchor="ctr">
            <a:normAutofit/>
          </a:bodyPr>
          <a:lstStyle/>
          <a:p>
            <a:pPr indent="0" marL="0">
              <a:buNone/>
            </a:pPr>
            <a:r>
              <a:rPr lang="en-US" sz="2100" b="1" dirty="0">
                <a:solidFill>
                  <a:srgbClr val="222222"/>
                </a:solidFill>
                <a:latin typeface="Meiryo" pitchFamily="34" charset="0"/>
                <a:ea typeface="Meiryo" pitchFamily="34" charset="-122"/>
                <a:cs typeface="Meiryo" pitchFamily="34" charset="-120"/>
              </a:rPr>
              <a:t>1年目、easy で Web 作成をしたことから、Webの仕事を受けた</a:t>
            </a:r>
            <a:endParaRPr lang="en-US" sz="2100" dirty="0"/>
          </a:p>
        </p:txBody>
      </p:sp>
      <p:sp>
        <p:nvSpPr>
          <p:cNvPr id="7" name="Shape 5"/>
          <p:cNvSpPr/>
          <p:nvPr/>
        </p:nvSpPr>
        <p:spPr>
          <a:xfrm>
            <a:off x="640080" y="3154680"/>
            <a:ext cx="457200" cy="457200"/>
          </a:xfrm>
          <a:prstGeom prst="ellipse">
            <a:avLst/>
          </a:prstGeom>
          <a:solidFill>
            <a:srgbClr val="1E2761"/>
          </a:solidFill>
          <a:ln w="12700">
            <a:solidFill>
              <a:srgbClr val="1E2761"/>
            </a:solidFill>
            <a:prstDash val="solid"/>
          </a:ln>
        </p:spPr>
      </p:sp>
      <p:sp>
        <p:nvSpPr>
          <p:cNvPr id="8" name="Text 6"/>
          <p:cNvSpPr txBox="1"/>
          <p:nvPr/>
        </p:nvSpPr>
        <p:spPr>
          <a:xfrm>
            <a:off x="640080" y="3154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9" name="Text 7"/>
          <p:cNvSpPr txBox="1"/>
          <p:nvPr/>
        </p:nvSpPr>
        <p:spPr>
          <a:xfrm>
            <a:off x="1325880" y="3127248"/>
            <a:ext cx="10134295" cy="365760"/>
          </a:xfrm>
          <a:prstGeom prst="rect">
            <a:avLst/>
          </a:prstGeom>
          <a:noFill/>
          <a:ln/>
        </p:spPr>
        <p:txBody>
          <a:bodyPr wrap="square" lIns="0" tIns="0" rIns="0" bIns="0" rtlCol="0" anchor="ctr">
            <a:normAutofit/>
          </a:bodyPr>
          <a:lstStyle/>
          <a:p>
            <a:pPr indent="0" marL="0">
              <a:buNone/>
            </a:pPr>
            <a:r>
              <a:rPr lang="en-US" sz="2100" b="1" dirty="0">
                <a:solidFill>
                  <a:srgbClr val="222222"/>
                </a:solidFill>
                <a:latin typeface="Meiryo" pitchFamily="34" charset="0"/>
                <a:ea typeface="Meiryo" pitchFamily="34" charset="-122"/>
                <a:cs typeface="Meiryo" pitchFamily="34" charset="-120"/>
              </a:rPr>
              <a:t>期待値が高くて、疲弊した</a:t>
            </a:r>
            <a:endParaRPr lang="en-US" sz="2100" dirty="0"/>
          </a:p>
        </p:txBody>
      </p:sp>
      <p:sp>
        <p:nvSpPr>
          <p:cNvPr id="10" name="Shape 8"/>
          <p:cNvSpPr/>
          <p:nvPr/>
        </p:nvSpPr>
        <p:spPr>
          <a:xfrm>
            <a:off x="640080" y="4206240"/>
            <a:ext cx="457200" cy="457200"/>
          </a:xfrm>
          <a:prstGeom prst="ellipse">
            <a:avLst/>
          </a:prstGeom>
          <a:solidFill>
            <a:srgbClr val="1E2761"/>
          </a:solidFill>
          <a:ln w="12700">
            <a:solidFill>
              <a:srgbClr val="1E2761"/>
            </a:solidFill>
            <a:prstDash val="solid"/>
          </a:ln>
        </p:spPr>
      </p:sp>
      <p:sp>
        <p:nvSpPr>
          <p:cNvPr id="11" name="Text 9"/>
          <p:cNvSpPr txBox="1"/>
          <p:nvPr/>
        </p:nvSpPr>
        <p:spPr>
          <a:xfrm>
            <a:off x="640080" y="4206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2" name="Text 10"/>
          <p:cNvSpPr txBox="1"/>
          <p:nvPr/>
        </p:nvSpPr>
        <p:spPr>
          <a:xfrm>
            <a:off x="1325880" y="4178808"/>
            <a:ext cx="10134295" cy="365760"/>
          </a:xfrm>
          <a:prstGeom prst="rect">
            <a:avLst/>
          </a:prstGeom>
          <a:noFill/>
          <a:ln/>
        </p:spPr>
        <p:txBody>
          <a:bodyPr wrap="square" lIns="0" tIns="0" rIns="0" bIns="0" rtlCol="0" anchor="ctr">
            <a:normAutofit/>
          </a:bodyPr>
          <a:lstStyle/>
          <a:p>
            <a:pPr indent="0" marL="0">
              <a:buNone/>
            </a:pPr>
            <a:r>
              <a:rPr lang="en-US" sz="2100" b="1" dirty="0">
                <a:solidFill>
                  <a:srgbClr val="222222"/>
                </a:solidFill>
                <a:latin typeface="Meiryo" pitchFamily="34" charset="0"/>
                <a:ea typeface="Meiryo" pitchFamily="34" charset="-122"/>
                <a:cs typeface="Meiryo" pitchFamily="34" charset="-120"/>
              </a:rPr>
              <a:t>1年後、Webは基本的に受けないと決めた</a:t>
            </a:r>
            <a:endParaRPr lang="en-US" sz="2100" dirty="0"/>
          </a:p>
        </p:txBody>
      </p:sp>
      <p:sp>
        <p:nvSpPr>
          <p:cNvPr id="13" name="Text 11"/>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いまは、やらない仕事を決めることがコンサルとして重要だと思っています。</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第7部</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やる仕事ではなく、やらない仕事を決める</a:t>
            </a:r>
            <a:endParaRPr lang="en-US" sz="3000" dirty="0"/>
          </a:p>
        </p:txBody>
      </p:sp>
      <p:sp>
        <p:nvSpPr>
          <p:cNvPr id="4" name="Shape 2"/>
          <p:cNvSpPr/>
          <p:nvPr/>
        </p:nvSpPr>
        <p:spPr>
          <a:xfrm>
            <a:off x="640080" y="1828800"/>
            <a:ext cx="5181448" cy="685800"/>
          </a:xfrm>
          <a:prstGeom prst="roundRect">
            <a:avLst>
              <a:gd name="adj" fmla="val 8000"/>
            </a:avLst>
          </a:prstGeom>
          <a:solidFill>
            <a:srgbClr val="F2F5FB"/>
          </a:solidFill>
          <a:ln w="12700">
            <a:solidFill>
              <a:srgbClr val="F2F5FB"/>
            </a:solidFill>
            <a:prstDash val="solid"/>
          </a:ln>
        </p:spPr>
      </p:sp>
      <p:sp>
        <p:nvSpPr>
          <p:cNvPr id="5" name="Text 3"/>
          <p:cNvSpPr txBox="1"/>
          <p:nvPr/>
        </p:nvSpPr>
        <p:spPr>
          <a:xfrm>
            <a:off x="868680" y="1828800"/>
            <a:ext cx="4724248" cy="68580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自分の価値を高める仕事だけをする</a:t>
            </a:r>
            <a:endParaRPr lang="en-US" sz="1600" dirty="0"/>
          </a:p>
        </p:txBody>
      </p:sp>
      <p:sp>
        <p:nvSpPr>
          <p:cNvPr id="6" name="Shape 4"/>
          <p:cNvSpPr/>
          <p:nvPr/>
        </p:nvSpPr>
        <p:spPr>
          <a:xfrm>
            <a:off x="640080" y="2697480"/>
            <a:ext cx="5181448" cy="685800"/>
          </a:xfrm>
          <a:prstGeom prst="roundRect">
            <a:avLst>
              <a:gd name="adj" fmla="val 8000"/>
            </a:avLst>
          </a:prstGeom>
          <a:solidFill>
            <a:srgbClr val="F2F5FB"/>
          </a:solidFill>
          <a:ln w="12700">
            <a:solidFill>
              <a:srgbClr val="F2F5FB"/>
            </a:solidFill>
            <a:prstDash val="solid"/>
          </a:ln>
        </p:spPr>
      </p:sp>
      <p:sp>
        <p:nvSpPr>
          <p:cNvPr id="7" name="Text 5"/>
          <p:cNvSpPr txBox="1"/>
          <p:nvPr/>
        </p:nvSpPr>
        <p:spPr>
          <a:xfrm>
            <a:off x="868680" y="2697480"/>
            <a:ext cx="4724248" cy="68580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いつでも仕事を切れる状態にする</a:t>
            </a:r>
            <a:endParaRPr lang="en-US" sz="1600" dirty="0"/>
          </a:p>
        </p:txBody>
      </p:sp>
      <p:sp>
        <p:nvSpPr>
          <p:cNvPr id="8" name="Shape 6"/>
          <p:cNvSpPr/>
          <p:nvPr/>
        </p:nvSpPr>
        <p:spPr>
          <a:xfrm>
            <a:off x="640080" y="3566160"/>
            <a:ext cx="5181448" cy="685800"/>
          </a:xfrm>
          <a:prstGeom prst="roundRect">
            <a:avLst>
              <a:gd name="adj" fmla="val 8000"/>
            </a:avLst>
          </a:prstGeom>
          <a:solidFill>
            <a:srgbClr val="F2F5FB"/>
          </a:solidFill>
          <a:ln w="12700">
            <a:solidFill>
              <a:srgbClr val="F2F5FB"/>
            </a:solidFill>
            <a:prstDash val="solid"/>
          </a:ln>
        </p:spPr>
      </p:sp>
      <p:sp>
        <p:nvSpPr>
          <p:cNvPr id="9" name="Text 7"/>
          <p:cNvSpPr txBox="1"/>
          <p:nvPr/>
        </p:nvSpPr>
        <p:spPr>
          <a:xfrm>
            <a:off x="868680" y="3566160"/>
            <a:ext cx="4724248" cy="68580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一つの顧問先に依存しない</a:t>
            </a:r>
            <a:endParaRPr lang="en-US" sz="1600" dirty="0"/>
          </a:p>
        </p:txBody>
      </p:sp>
      <p:sp>
        <p:nvSpPr>
          <p:cNvPr id="10" name="Shape 8"/>
          <p:cNvSpPr/>
          <p:nvPr/>
        </p:nvSpPr>
        <p:spPr>
          <a:xfrm>
            <a:off x="640080" y="4434840"/>
            <a:ext cx="5181448" cy="685800"/>
          </a:xfrm>
          <a:prstGeom prst="roundRect">
            <a:avLst>
              <a:gd name="adj" fmla="val 8000"/>
            </a:avLst>
          </a:prstGeom>
          <a:solidFill>
            <a:srgbClr val="F2F5FB"/>
          </a:solidFill>
          <a:ln w="12700">
            <a:solidFill>
              <a:srgbClr val="F2F5FB"/>
            </a:solidFill>
            <a:prstDash val="solid"/>
          </a:ln>
        </p:spPr>
      </p:sp>
      <p:sp>
        <p:nvSpPr>
          <p:cNvPr id="11" name="Text 9"/>
          <p:cNvSpPr txBox="1"/>
          <p:nvPr/>
        </p:nvSpPr>
        <p:spPr>
          <a:xfrm>
            <a:off x="868680" y="4434840"/>
            <a:ext cx="4724248" cy="68580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自分の生き方を決める</a:t>
            </a:r>
            <a:endParaRPr lang="en-US" sz="1600" dirty="0"/>
          </a:p>
        </p:txBody>
      </p:sp>
      <p:sp>
        <p:nvSpPr>
          <p:cNvPr id="12" name="Shape 10"/>
          <p:cNvSpPr/>
          <p:nvPr/>
        </p:nvSpPr>
        <p:spPr>
          <a:xfrm>
            <a:off x="6233008" y="1828800"/>
            <a:ext cx="5181448" cy="685800"/>
          </a:xfrm>
          <a:prstGeom prst="roundRect">
            <a:avLst>
              <a:gd name="adj" fmla="val 8000"/>
            </a:avLst>
          </a:prstGeom>
          <a:solidFill>
            <a:srgbClr val="F2F5FB"/>
          </a:solidFill>
          <a:ln w="12700">
            <a:solidFill>
              <a:srgbClr val="F2F5FB"/>
            </a:solidFill>
            <a:prstDash val="solid"/>
          </a:ln>
        </p:spPr>
      </p:sp>
      <p:sp>
        <p:nvSpPr>
          <p:cNvPr id="13" name="Text 11"/>
          <p:cNvSpPr txBox="1"/>
          <p:nvPr/>
        </p:nvSpPr>
        <p:spPr>
          <a:xfrm>
            <a:off x="6461608" y="1828800"/>
            <a:ext cx="4724248" cy="68580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自分にしかできないをつくる</a:t>
            </a:r>
            <a:endParaRPr lang="en-US" sz="1600" dirty="0"/>
          </a:p>
        </p:txBody>
      </p:sp>
      <p:sp>
        <p:nvSpPr>
          <p:cNvPr id="14" name="Shape 12"/>
          <p:cNvSpPr/>
          <p:nvPr/>
        </p:nvSpPr>
        <p:spPr>
          <a:xfrm>
            <a:off x="6233008" y="2697480"/>
            <a:ext cx="5181448" cy="685800"/>
          </a:xfrm>
          <a:prstGeom prst="roundRect">
            <a:avLst>
              <a:gd name="adj" fmla="val 8000"/>
            </a:avLst>
          </a:prstGeom>
          <a:solidFill>
            <a:srgbClr val="F2F5FB"/>
          </a:solidFill>
          <a:ln w="12700">
            <a:solidFill>
              <a:srgbClr val="F2F5FB"/>
            </a:solidFill>
            <a:prstDash val="solid"/>
          </a:ln>
        </p:spPr>
      </p:sp>
      <p:sp>
        <p:nvSpPr>
          <p:cNvPr id="15" name="Text 13"/>
          <p:cNvSpPr txBox="1"/>
          <p:nvPr/>
        </p:nvSpPr>
        <p:spPr>
          <a:xfrm>
            <a:off x="6461608" y="2697480"/>
            <a:ext cx="4724248" cy="685800"/>
          </a:xfrm>
          <a:prstGeom prst="rect">
            <a:avLst/>
          </a:prstGeom>
          <a:noFill/>
          <a:ln/>
        </p:spPr>
        <p:txBody>
          <a:bodyPr wrap="square" lIns="0" tIns="0" rIns="0" bIns="0" rtlCol="0" anchor="ctr">
            <a:normAutofit/>
          </a:bodyPr>
          <a:lstStyle/>
          <a:p>
            <a:pPr indent="0" marL="0">
              <a:buNone/>
            </a:pPr>
            <a:r>
              <a:rPr lang="en-US" sz="1600" b="1" dirty="0">
                <a:solidFill>
                  <a:srgbClr val="222222"/>
                </a:solidFill>
                <a:latin typeface="Meiryo" pitchFamily="34" charset="0"/>
                <a:ea typeface="Meiryo" pitchFamily="34" charset="-122"/>
                <a:cs typeface="Meiryo" pitchFamily="34" charset="-120"/>
              </a:rPr>
              <a:t>トップコンサルを目指さない</a:t>
            </a:r>
            <a:endParaRPr lang="en-US" sz="1600" dirty="0"/>
          </a:p>
        </p:txBody>
      </p:sp>
      <p:sp>
        <p:nvSpPr>
          <p:cNvPr id="16" name="Shape 14"/>
          <p:cNvSpPr/>
          <p:nvPr/>
        </p:nvSpPr>
        <p:spPr>
          <a:xfrm>
            <a:off x="6233008" y="3566160"/>
            <a:ext cx="5181448" cy="685800"/>
          </a:xfrm>
          <a:prstGeom prst="roundRect">
            <a:avLst>
              <a:gd name="adj" fmla="val 8000"/>
            </a:avLst>
          </a:prstGeom>
          <a:solidFill>
            <a:srgbClr val="1E2761"/>
          </a:solidFill>
          <a:ln w="12700">
            <a:solidFill>
              <a:srgbClr val="1E2761"/>
            </a:solidFill>
            <a:prstDash val="solid"/>
          </a:ln>
        </p:spPr>
      </p:sp>
      <p:sp>
        <p:nvSpPr>
          <p:cNvPr id="17" name="Text 15"/>
          <p:cNvSpPr txBox="1"/>
          <p:nvPr/>
        </p:nvSpPr>
        <p:spPr>
          <a:xfrm>
            <a:off x="6461608" y="3566160"/>
            <a:ext cx="4724248" cy="685800"/>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Meiryo" pitchFamily="34" charset="0"/>
                <a:ea typeface="Meiryo" pitchFamily="34" charset="-122"/>
                <a:cs typeface="Meiryo" pitchFamily="34" charset="-120"/>
              </a:rPr>
              <a:t>自分が幸せになる仕事を選ぶ</a:t>
            </a:r>
            <a:endParaRPr lang="en-US" sz="1600" dirty="0"/>
          </a:p>
        </p:txBody>
      </p:sp>
      <p:sp>
        <p:nvSpPr>
          <p:cNvPr id="18" name="Shape 16"/>
          <p:cNvSpPr/>
          <p:nvPr/>
        </p:nvSpPr>
        <p:spPr>
          <a:xfrm>
            <a:off x="6233008" y="4434840"/>
            <a:ext cx="5181448" cy="685800"/>
          </a:xfrm>
          <a:prstGeom prst="roundRect">
            <a:avLst>
              <a:gd name="adj" fmla="val 8000"/>
            </a:avLst>
          </a:prstGeom>
          <a:solidFill>
            <a:srgbClr val="1E2761"/>
          </a:solidFill>
          <a:ln w="12700">
            <a:solidFill>
              <a:srgbClr val="1E2761"/>
            </a:solidFill>
            <a:prstDash val="solid"/>
          </a:ln>
        </p:spPr>
      </p:sp>
      <p:sp>
        <p:nvSpPr>
          <p:cNvPr id="19" name="Text 17"/>
          <p:cNvSpPr txBox="1"/>
          <p:nvPr/>
        </p:nvSpPr>
        <p:spPr>
          <a:xfrm>
            <a:off x="6461608" y="4434840"/>
            <a:ext cx="4724248" cy="685800"/>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Meiryo" pitchFamily="34" charset="0"/>
                <a:ea typeface="Meiryo" pitchFamily="34" charset="-122"/>
                <a:cs typeface="Meiryo" pitchFamily="34" charset="-120"/>
              </a:rPr>
              <a:t>自分が幸せなら、周りも幸せになる</a:t>
            </a:r>
            <a:endParaRPr lang="en-US" sz="1600" dirty="0"/>
          </a:p>
        </p:txBody>
      </p:sp>
      <p:sp>
        <p:nvSpPr>
          <p:cNvPr id="20" name="Text 18"/>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成功の定義②「自分の人生を自分でコントロールしている実感」は、ここから来ます。</a:t>
            </a:r>
            <a:endParaRPr lang="en-US" sz="15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640080" y="2286000"/>
            <a:ext cx="1005840" cy="1005840"/>
          </a:xfrm>
          <a:prstGeom prst="ellipse">
            <a:avLst/>
          </a:prstGeom>
          <a:solidFill>
            <a:srgbClr val="C08A2E"/>
          </a:solidFill>
          <a:ln w="12700">
            <a:solidFill>
              <a:srgbClr val="C08A2E"/>
            </a:solidFill>
            <a:prstDash val="solid"/>
          </a:ln>
        </p:spPr>
      </p:sp>
      <p:sp>
        <p:nvSpPr>
          <p:cNvPr id="3" name="Text 1"/>
          <p:cNvSpPr txBox="1"/>
          <p:nvPr/>
        </p:nvSpPr>
        <p:spPr>
          <a:xfrm>
            <a:off x="640080" y="2286000"/>
            <a:ext cx="1005840" cy="1005840"/>
          </a:xfrm>
          <a:prstGeom prst="rect">
            <a:avLst/>
          </a:prstGeom>
          <a:noFill/>
          <a:ln/>
        </p:spPr>
        <p:txBody>
          <a:bodyPr wrap="square" lIns="0" tIns="0" rIns="0" bIns="0" rtlCol="0" anchor="ctr"/>
          <a:lstStyle/>
          <a:p>
            <a:pPr algn="ctr" indent="0" marL="0">
              <a:buNone/>
            </a:pPr>
            <a:r>
              <a:rPr lang="en-US" sz="3400" b="1" dirty="0">
                <a:solidFill>
                  <a:srgbClr val="FFFFFF"/>
                </a:solidFill>
                <a:latin typeface="Meiryo" pitchFamily="34" charset="0"/>
                <a:ea typeface="Meiryo" pitchFamily="34" charset="-122"/>
                <a:cs typeface="Meiryo" pitchFamily="34" charset="-120"/>
              </a:rPr>
              <a:t>8</a:t>
            </a:r>
            <a:endParaRPr lang="en-US" sz="3400" dirty="0"/>
          </a:p>
        </p:txBody>
      </p:sp>
      <p:sp>
        <p:nvSpPr>
          <p:cNvPr id="4" name="Text 2"/>
          <p:cNvSpPr txBox="1"/>
          <p:nvPr/>
        </p:nvSpPr>
        <p:spPr>
          <a:xfrm>
            <a:off x="2011680" y="2240280"/>
            <a:ext cx="9539935" cy="91440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Meiryo" pitchFamily="34" charset="0"/>
                <a:ea typeface="Meiryo" pitchFamily="34" charset="-122"/>
                <a:cs typeface="Meiryo" pitchFamily="34" charset="-120"/>
              </a:rPr>
              <a:t>個人ワーク：自分のエコシステムを設計する</a:t>
            </a:r>
            <a:endParaRPr lang="en-US" sz="3400" dirty="0"/>
          </a:p>
        </p:txBody>
      </p:sp>
      <p:sp>
        <p:nvSpPr>
          <p:cNvPr id="5" name="Text 3"/>
          <p:cNvSpPr txBox="1"/>
          <p:nvPr/>
        </p:nvSpPr>
        <p:spPr>
          <a:xfrm>
            <a:off x="2011680" y="3246120"/>
            <a:ext cx="9539935" cy="731520"/>
          </a:xfrm>
          <a:prstGeom prst="rect">
            <a:avLst/>
          </a:prstGeom>
          <a:noFill/>
          <a:ln/>
        </p:spPr>
        <p:txBody>
          <a:bodyPr wrap="square" lIns="0" tIns="0" rIns="0" bIns="0" rtlCol="0" anchor="ctr">
            <a:normAutofit/>
          </a:bodyPr>
          <a:lstStyle/>
          <a:p>
            <a:pPr indent="0" marL="0">
              <a:buNone/>
            </a:pPr>
            <a:r>
              <a:rPr lang="en-US" sz="1600" dirty="0">
                <a:solidFill>
                  <a:srgbClr val="CADCFC"/>
                </a:solidFill>
                <a:latin typeface="Meiryo" pitchFamily="34" charset="0"/>
                <a:ea typeface="Meiryo" pitchFamily="34" charset="-122"/>
                <a:cs typeface="Meiryo" pitchFamily="34" charset="-120"/>
              </a:rPr>
              <a:t>15:31-15:55／24分　1本だけ、循環を描いて帰ってください</a:t>
            </a:r>
            <a:endParaRPr lang="en-US" sz="16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個人ワーク</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ワークの流れ</a:t>
            </a:r>
            <a:endParaRPr lang="en-US" sz="3000" dirty="0"/>
          </a:p>
        </p:txBody>
      </p:sp>
      <p:sp>
        <p:nvSpPr>
          <p:cNvPr id="4" name="Shape 2"/>
          <p:cNvSpPr/>
          <p:nvPr/>
        </p:nvSpPr>
        <p:spPr>
          <a:xfrm>
            <a:off x="640080" y="1920240"/>
            <a:ext cx="3454298" cy="3200400"/>
          </a:xfrm>
          <a:prstGeom prst="roundRect">
            <a:avLst>
              <a:gd name="adj" fmla="val 2286"/>
            </a:avLst>
          </a:prstGeom>
          <a:solidFill>
            <a:srgbClr val="F2F5FB"/>
          </a:solidFill>
          <a:ln w="12700">
            <a:solidFill>
              <a:srgbClr val="F2F5FB"/>
            </a:solidFill>
            <a:prstDash val="solid"/>
          </a:ln>
        </p:spPr>
      </p:sp>
      <p:sp>
        <p:nvSpPr>
          <p:cNvPr id="5" name="Text 3"/>
          <p:cNvSpPr txBox="1"/>
          <p:nvPr/>
        </p:nvSpPr>
        <p:spPr>
          <a:xfrm>
            <a:off x="896112" y="2176272"/>
            <a:ext cx="294223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ステップ1（10分）</a:t>
            </a:r>
            <a:endParaRPr lang="en-US" sz="1800" dirty="0"/>
          </a:p>
          <a:p>
            <a:pPr indent="0" marL="0">
              <a:buNone/>
            </a:pPr>
            <a:r>
              <a:rPr lang="en-US" sz="1800" b="1" dirty="0">
                <a:solidFill>
                  <a:srgbClr val="1E2761"/>
                </a:solidFill>
                <a:latin typeface="Meiryo" pitchFamily="34" charset="0"/>
                <a:ea typeface="Meiryo" pitchFamily="34" charset="-122"/>
                <a:cs typeface="Meiryo" pitchFamily="34" charset="-120"/>
              </a:rPr>
              <a:t>人脈マップを埋める</a:t>
            </a:r>
            <a:endParaRPr lang="en-US" sz="1800" dirty="0"/>
          </a:p>
        </p:txBody>
      </p:sp>
      <p:sp>
        <p:nvSpPr>
          <p:cNvPr id="6" name="Text 4"/>
          <p:cNvSpPr txBox="1"/>
          <p:nvPr/>
        </p:nvSpPr>
        <p:spPr>
          <a:xfrm>
            <a:off x="896112" y="2834640"/>
            <a:ext cx="2942234" cy="201168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私の26件と同じ6つの枠に、自分の名前で書き込みます。</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Aの「過去の縁」は、全員が書けます。</a:t>
            </a:r>
            <a:endParaRPr lang="en-US" sz="1300" dirty="0"/>
          </a:p>
        </p:txBody>
      </p:sp>
      <p:sp>
        <p:nvSpPr>
          <p:cNvPr id="7" name="Shape 5"/>
          <p:cNvSpPr/>
          <p:nvPr/>
        </p:nvSpPr>
        <p:spPr>
          <a:xfrm>
            <a:off x="4368698" y="1920240"/>
            <a:ext cx="3454298" cy="3200400"/>
          </a:xfrm>
          <a:prstGeom prst="roundRect">
            <a:avLst>
              <a:gd name="adj" fmla="val 2286"/>
            </a:avLst>
          </a:prstGeom>
          <a:solidFill>
            <a:srgbClr val="F2F5FB"/>
          </a:solidFill>
          <a:ln w="12700">
            <a:solidFill>
              <a:srgbClr val="F2F5FB"/>
            </a:solidFill>
            <a:prstDash val="solid"/>
          </a:ln>
        </p:spPr>
      </p:sp>
      <p:sp>
        <p:nvSpPr>
          <p:cNvPr id="8" name="Text 6"/>
          <p:cNvSpPr txBox="1"/>
          <p:nvPr/>
        </p:nvSpPr>
        <p:spPr>
          <a:xfrm>
            <a:off x="4624730" y="2176272"/>
            <a:ext cx="294223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ステップ2（9分）</a:t>
            </a:r>
            <a:endParaRPr lang="en-US" sz="1800" dirty="0"/>
          </a:p>
          <a:p>
            <a:pPr indent="0" marL="0">
              <a:buNone/>
            </a:pPr>
            <a:r>
              <a:rPr lang="en-US" sz="1800" b="1" dirty="0">
                <a:solidFill>
                  <a:srgbClr val="1E2761"/>
                </a:solidFill>
                <a:latin typeface="Meiryo" pitchFamily="34" charset="0"/>
                <a:ea typeface="Meiryo" pitchFamily="34" charset="-122"/>
                <a:cs typeface="Meiryo" pitchFamily="34" charset="-120"/>
              </a:rPr>
              <a:t>循環を1本描く</a:t>
            </a:r>
            <a:endParaRPr lang="en-US" sz="1800" dirty="0"/>
          </a:p>
        </p:txBody>
      </p:sp>
      <p:sp>
        <p:nvSpPr>
          <p:cNvPr id="9" name="Text 7"/>
          <p:cNvSpPr txBox="1"/>
          <p:nvPr/>
        </p:nvSpPr>
        <p:spPr>
          <a:xfrm>
            <a:off x="4624730" y="2834640"/>
            <a:ext cx="2942234" cy="201168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Aから1人だけ選び、矢印を描きます。</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1本回れば、あとは同じことの繰り返しです。</a:t>
            </a:r>
            <a:endParaRPr lang="en-US" sz="1300" dirty="0"/>
          </a:p>
        </p:txBody>
      </p:sp>
      <p:sp>
        <p:nvSpPr>
          <p:cNvPr id="10" name="Shape 8"/>
          <p:cNvSpPr/>
          <p:nvPr/>
        </p:nvSpPr>
        <p:spPr>
          <a:xfrm>
            <a:off x="8097317" y="1920240"/>
            <a:ext cx="3454298" cy="3200400"/>
          </a:xfrm>
          <a:prstGeom prst="roundRect">
            <a:avLst>
              <a:gd name="adj" fmla="val 2286"/>
            </a:avLst>
          </a:prstGeom>
          <a:solidFill>
            <a:srgbClr val="F2F5FB"/>
          </a:solidFill>
          <a:ln w="12700">
            <a:solidFill>
              <a:srgbClr val="F2F5FB"/>
            </a:solidFill>
            <a:prstDash val="solid"/>
          </a:ln>
        </p:spPr>
      </p:sp>
      <p:sp>
        <p:nvSpPr>
          <p:cNvPr id="11" name="Text 9"/>
          <p:cNvSpPr txBox="1"/>
          <p:nvPr/>
        </p:nvSpPr>
        <p:spPr>
          <a:xfrm>
            <a:off x="8353349" y="2176272"/>
            <a:ext cx="294223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ステップ3（5分）</a:t>
            </a:r>
            <a:endParaRPr lang="en-US" sz="1800" dirty="0"/>
          </a:p>
          <a:p>
            <a:pPr indent="0" marL="0">
              <a:buNone/>
            </a:pPr>
            <a:r>
              <a:rPr lang="en-US" sz="1800" b="1" dirty="0">
                <a:solidFill>
                  <a:srgbClr val="1E2761"/>
                </a:solidFill>
                <a:latin typeface="Meiryo" pitchFamily="34" charset="0"/>
                <a:ea typeface="Meiryo" pitchFamily="34" charset="-122"/>
                <a:cs typeface="Meiryo" pitchFamily="34" charset="-120"/>
              </a:rPr>
              <a:t>今日やる1つを決める</a:t>
            </a:r>
            <a:endParaRPr lang="en-US" sz="1800" dirty="0"/>
          </a:p>
        </p:txBody>
      </p:sp>
      <p:sp>
        <p:nvSpPr>
          <p:cNvPr id="12" name="Text 10"/>
          <p:cNvSpPr txBox="1"/>
          <p:nvPr/>
        </p:nvSpPr>
        <p:spPr>
          <a:xfrm>
            <a:off x="8353349" y="2834640"/>
            <a:ext cx="2942234" cy="201168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登録先をその場で1つ申し込む。</a:t>
            </a: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または、描いた相手にその場で連絡する。</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行動を完了させて帰ってください。</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個人ワーク</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ステップ1：人脈マップ（10分）</a:t>
            </a:r>
            <a:endParaRPr lang="en-US" sz="3000" dirty="0"/>
          </a:p>
        </p:txBody>
      </p:sp>
      <p:sp>
        <p:nvSpPr>
          <p:cNvPr id="4" name="Shape 2"/>
          <p:cNvSpPr/>
          <p:nvPr/>
        </p:nvSpPr>
        <p:spPr>
          <a:xfrm>
            <a:off x="640080" y="1783080"/>
            <a:ext cx="3545738" cy="1691640"/>
          </a:xfrm>
          <a:prstGeom prst="roundRect">
            <a:avLst>
              <a:gd name="adj" fmla="val 4324"/>
            </a:avLst>
          </a:prstGeom>
          <a:solidFill>
            <a:srgbClr val="1E2761"/>
          </a:solidFill>
          <a:ln w="12700">
            <a:solidFill>
              <a:srgbClr val="1E2761"/>
            </a:solidFill>
            <a:prstDash val="solid"/>
          </a:ln>
        </p:spPr>
      </p:sp>
      <p:sp>
        <p:nvSpPr>
          <p:cNvPr id="5" name="Text 3"/>
          <p:cNvSpPr txBox="1"/>
          <p:nvPr/>
        </p:nvSpPr>
        <p:spPr>
          <a:xfrm>
            <a:off x="868680" y="1965960"/>
            <a:ext cx="3088538" cy="411480"/>
          </a:xfrm>
          <a:prstGeom prst="rect">
            <a:avLst/>
          </a:prstGeom>
          <a:noFill/>
          <a:ln/>
        </p:spPr>
        <p:txBody>
          <a:bodyPr wrap="square" lIns="0" tIns="0" rIns="0" bIns="0" rtlCol="0" anchor="ctr">
            <a:normAutofit/>
          </a:bodyPr>
          <a:lstStyle/>
          <a:p>
            <a:pPr indent="0" marL="0">
              <a:buNone/>
            </a:pPr>
            <a:r>
              <a:rPr lang="en-US" sz="1700" b="1" dirty="0">
                <a:solidFill>
                  <a:srgbClr val="FFFFFF"/>
                </a:solidFill>
                <a:latin typeface="Meiryo" pitchFamily="34" charset="0"/>
                <a:ea typeface="Meiryo" pitchFamily="34" charset="-122"/>
                <a:cs typeface="Meiryo" pitchFamily="34" charset="-120"/>
              </a:rPr>
              <a:t>A 過去の縁</a:t>
            </a:r>
            <a:endParaRPr lang="en-US" sz="1700" dirty="0"/>
          </a:p>
        </p:txBody>
      </p:sp>
      <p:sp>
        <p:nvSpPr>
          <p:cNvPr id="6" name="Text 4"/>
          <p:cNvSpPr txBox="1"/>
          <p:nvPr/>
        </p:nvSpPr>
        <p:spPr>
          <a:xfrm>
            <a:off x="868680" y="2423160"/>
            <a:ext cx="3088538" cy="914400"/>
          </a:xfrm>
          <a:prstGeom prst="rect">
            <a:avLst/>
          </a:prstGeom>
          <a:noFill/>
          <a:ln/>
        </p:spPr>
        <p:txBody>
          <a:bodyPr wrap="square" lIns="0" tIns="0" rIns="0" bIns="0" rtlCol="0" anchor="ctr">
            <a:normAutofit/>
          </a:bodyPr>
          <a:lstStyle/>
          <a:p>
            <a:pPr indent="0" marL="0">
              <a:lnSpc>
                <a:spcPts val="1800"/>
              </a:lnSpc>
              <a:buNone/>
            </a:pPr>
            <a:r>
              <a:rPr lang="en-US" sz="1300" dirty="0">
                <a:solidFill>
                  <a:srgbClr val="CADCFC"/>
                </a:solidFill>
                <a:latin typeface="Meiryo" pitchFamily="34" charset="0"/>
                <a:ea typeface="Meiryo" pitchFamily="34" charset="-122"/>
                <a:cs typeface="Meiryo" pitchFamily="34" charset="-120"/>
              </a:rPr>
              <a:t>前職の同僚・取引先、顧客、地元、家族、友人。思いつく限り名前で書く</a:t>
            </a:r>
            <a:endParaRPr lang="en-US" sz="1300" dirty="0"/>
          </a:p>
        </p:txBody>
      </p:sp>
      <p:sp>
        <p:nvSpPr>
          <p:cNvPr id="7" name="Shape 5"/>
          <p:cNvSpPr/>
          <p:nvPr/>
        </p:nvSpPr>
        <p:spPr>
          <a:xfrm>
            <a:off x="4322978" y="1783080"/>
            <a:ext cx="3545738" cy="1691640"/>
          </a:xfrm>
          <a:prstGeom prst="roundRect">
            <a:avLst>
              <a:gd name="adj" fmla="val 4324"/>
            </a:avLst>
          </a:prstGeom>
          <a:solidFill>
            <a:srgbClr val="F2F5FB"/>
          </a:solidFill>
          <a:ln w="12700">
            <a:solidFill>
              <a:srgbClr val="F2F5FB"/>
            </a:solidFill>
            <a:prstDash val="solid"/>
          </a:ln>
        </p:spPr>
      </p:sp>
      <p:sp>
        <p:nvSpPr>
          <p:cNvPr id="8" name="Text 6"/>
          <p:cNvSpPr txBox="1"/>
          <p:nvPr/>
        </p:nvSpPr>
        <p:spPr>
          <a:xfrm>
            <a:off x="4551578" y="1965960"/>
            <a:ext cx="3088538" cy="411480"/>
          </a:xfrm>
          <a:prstGeom prst="rect">
            <a:avLst/>
          </a:prstGeom>
          <a:noFill/>
          <a:ln/>
        </p:spPr>
        <p:txBody>
          <a:bodyPr wrap="square" lIns="0" tIns="0" rIns="0" bIns="0" rtlCol="0" anchor="ctr">
            <a:normAutofit/>
          </a:bodyPr>
          <a:lstStyle/>
          <a:p>
            <a:pPr indent="0" marL="0">
              <a:buNone/>
            </a:pPr>
            <a:r>
              <a:rPr lang="en-US" sz="1700" b="1" dirty="0">
                <a:solidFill>
                  <a:srgbClr val="1E2761"/>
                </a:solidFill>
                <a:latin typeface="Meiryo" pitchFamily="34" charset="0"/>
                <a:ea typeface="Meiryo" pitchFamily="34" charset="-122"/>
                <a:cs typeface="Meiryo" pitchFamily="34" charset="-120"/>
              </a:rPr>
              <a:t>B 登録できる先</a:t>
            </a:r>
            <a:endParaRPr lang="en-US" sz="1700" dirty="0"/>
          </a:p>
        </p:txBody>
      </p:sp>
      <p:sp>
        <p:nvSpPr>
          <p:cNvPr id="9" name="Text 7"/>
          <p:cNvSpPr txBox="1"/>
          <p:nvPr/>
        </p:nvSpPr>
        <p:spPr>
          <a:xfrm>
            <a:off x="4551578" y="2423160"/>
            <a:ext cx="3088538" cy="914400"/>
          </a:xfrm>
          <a:prstGeom prst="rect">
            <a:avLst/>
          </a:prstGeom>
          <a:noFill/>
          <a:ln/>
        </p:spPr>
        <p:txBody>
          <a:bodyPr wrap="square" lIns="0" tIns="0" rIns="0" bIns="0" rtlCol="0" anchor="ctr">
            <a:normAutofit/>
          </a:bodyPr>
          <a:lstStyle/>
          <a:p>
            <a:pPr indent="0" marL="0">
              <a:lnSpc>
                <a:spcPts val="1800"/>
              </a:lnSpc>
              <a:buNone/>
            </a:pPr>
            <a:r>
              <a:rPr lang="en-US" sz="1300" dirty="0">
                <a:solidFill>
                  <a:srgbClr val="666666"/>
                </a:solidFill>
                <a:latin typeface="Meiryo" pitchFamily="34" charset="0"/>
                <a:ea typeface="Meiryo" pitchFamily="34" charset="-122"/>
                <a:cs typeface="Meiryo" pitchFamily="34" charset="-120"/>
              </a:rPr>
              <a:t>支部のキャリアデータベース、中小機構、信用保証協会、公社、商工会議所</a:t>
            </a:r>
            <a:endParaRPr lang="en-US" sz="1300" dirty="0"/>
          </a:p>
        </p:txBody>
      </p:sp>
      <p:sp>
        <p:nvSpPr>
          <p:cNvPr id="10" name="Shape 8"/>
          <p:cNvSpPr/>
          <p:nvPr/>
        </p:nvSpPr>
        <p:spPr>
          <a:xfrm>
            <a:off x="8005877" y="1783080"/>
            <a:ext cx="3545738" cy="1691640"/>
          </a:xfrm>
          <a:prstGeom prst="roundRect">
            <a:avLst>
              <a:gd name="adj" fmla="val 4324"/>
            </a:avLst>
          </a:prstGeom>
          <a:solidFill>
            <a:srgbClr val="F2F5FB"/>
          </a:solidFill>
          <a:ln w="12700">
            <a:solidFill>
              <a:srgbClr val="F2F5FB"/>
            </a:solidFill>
            <a:prstDash val="solid"/>
          </a:ln>
        </p:spPr>
      </p:sp>
      <p:sp>
        <p:nvSpPr>
          <p:cNvPr id="11" name="Text 9"/>
          <p:cNvSpPr txBox="1"/>
          <p:nvPr/>
        </p:nvSpPr>
        <p:spPr>
          <a:xfrm>
            <a:off x="8234477" y="1965960"/>
            <a:ext cx="3088538" cy="411480"/>
          </a:xfrm>
          <a:prstGeom prst="rect">
            <a:avLst/>
          </a:prstGeom>
          <a:noFill/>
          <a:ln/>
        </p:spPr>
        <p:txBody>
          <a:bodyPr wrap="square" lIns="0" tIns="0" rIns="0" bIns="0" rtlCol="0" anchor="ctr">
            <a:normAutofit/>
          </a:bodyPr>
          <a:lstStyle/>
          <a:p>
            <a:pPr indent="0" marL="0">
              <a:buNone/>
            </a:pPr>
            <a:r>
              <a:rPr lang="en-US" sz="1700" b="1" dirty="0">
                <a:solidFill>
                  <a:srgbClr val="1E2761"/>
                </a:solidFill>
                <a:latin typeface="Meiryo" pitchFamily="34" charset="0"/>
                <a:ea typeface="Meiryo" pitchFamily="34" charset="-122"/>
                <a:cs typeface="Meiryo" pitchFamily="34" charset="-120"/>
              </a:rPr>
              <a:t>C お誘いをくれそうな人</a:t>
            </a:r>
            <a:endParaRPr lang="en-US" sz="1700" dirty="0"/>
          </a:p>
        </p:txBody>
      </p:sp>
      <p:sp>
        <p:nvSpPr>
          <p:cNvPr id="12" name="Text 10"/>
          <p:cNvSpPr txBox="1"/>
          <p:nvPr/>
        </p:nvSpPr>
        <p:spPr>
          <a:xfrm>
            <a:off x="8234477" y="2423160"/>
            <a:ext cx="3088538" cy="914400"/>
          </a:xfrm>
          <a:prstGeom prst="rect">
            <a:avLst/>
          </a:prstGeom>
          <a:noFill/>
          <a:ln/>
        </p:spPr>
        <p:txBody>
          <a:bodyPr wrap="square" lIns="0" tIns="0" rIns="0" bIns="0" rtlCol="0" anchor="ctr">
            <a:normAutofit/>
          </a:bodyPr>
          <a:lstStyle/>
          <a:p>
            <a:pPr indent="0" marL="0">
              <a:lnSpc>
                <a:spcPts val="1800"/>
              </a:lnSpc>
              <a:buNone/>
            </a:pPr>
            <a:r>
              <a:rPr lang="en-US" sz="1300" dirty="0">
                <a:solidFill>
                  <a:srgbClr val="666666"/>
                </a:solidFill>
                <a:latin typeface="Meiryo" pitchFamily="34" charset="0"/>
                <a:ea typeface="Meiryo" pitchFamily="34" charset="-122"/>
                <a:cs typeface="Meiryo" pitchFamily="34" charset="-120"/>
              </a:rPr>
              <a:t>支部の先輩、同期、研究会</a:t>
            </a:r>
            <a:endParaRPr lang="en-US" sz="1300" dirty="0"/>
          </a:p>
        </p:txBody>
      </p:sp>
      <p:sp>
        <p:nvSpPr>
          <p:cNvPr id="13" name="Shape 11"/>
          <p:cNvSpPr/>
          <p:nvPr/>
        </p:nvSpPr>
        <p:spPr>
          <a:xfrm>
            <a:off x="640080" y="3657600"/>
            <a:ext cx="3545738" cy="1691640"/>
          </a:xfrm>
          <a:prstGeom prst="roundRect">
            <a:avLst>
              <a:gd name="adj" fmla="val 4324"/>
            </a:avLst>
          </a:prstGeom>
          <a:solidFill>
            <a:srgbClr val="F2F5FB"/>
          </a:solidFill>
          <a:ln w="12700">
            <a:solidFill>
              <a:srgbClr val="F2F5FB"/>
            </a:solidFill>
            <a:prstDash val="solid"/>
          </a:ln>
        </p:spPr>
      </p:sp>
      <p:sp>
        <p:nvSpPr>
          <p:cNvPr id="14" name="Text 12"/>
          <p:cNvSpPr txBox="1"/>
          <p:nvPr/>
        </p:nvSpPr>
        <p:spPr>
          <a:xfrm>
            <a:off x="868680" y="3840480"/>
            <a:ext cx="3088538" cy="411480"/>
          </a:xfrm>
          <a:prstGeom prst="rect">
            <a:avLst/>
          </a:prstGeom>
          <a:noFill/>
          <a:ln/>
        </p:spPr>
        <p:txBody>
          <a:bodyPr wrap="square" lIns="0" tIns="0" rIns="0" bIns="0" rtlCol="0" anchor="ctr">
            <a:normAutofit/>
          </a:bodyPr>
          <a:lstStyle/>
          <a:p>
            <a:pPr indent="0" marL="0">
              <a:buNone/>
            </a:pPr>
            <a:r>
              <a:rPr lang="en-US" sz="1700" b="1" dirty="0">
                <a:solidFill>
                  <a:srgbClr val="1E2761"/>
                </a:solidFill>
                <a:latin typeface="Meiryo" pitchFamily="34" charset="0"/>
                <a:ea typeface="Meiryo" pitchFamily="34" charset="-122"/>
                <a:cs typeface="Meiryo" pitchFamily="34" charset="-120"/>
              </a:rPr>
              <a:t>D 紹介を生みそうな人</a:t>
            </a:r>
            <a:endParaRPr lang="en-US" sz="1700" dirty="0"/>
          </a:p>
        </p:txBody>
      </p:sp>
      <p:sp>
        <p:nvSpPr>
          <p:cNvPr id="15" name="Text 13"/>
          <p:cNvSpPr txBox="1"/>
          <p:nvPr/>
        </p:nvSpPr>
        <p:spPr>
          <a:xfrm>
            <a:off x="868680" y="4297680"/>
            <a:ext cx="3088538" cy="914400"/>
          </a:xfrm>
          <a:prstGeom prst="rect">
            <a:avLst/>
          </a:prstGeom>
          <a:noFill/>
          <a:ln/>
        </p:spPr>
        <p:txBody>
          <a:bodyPr wrap="square" lIns="0" tIns="0" rIns="0" bIns="0" rtlCol="0" anchor="ctr">
            <a:normAutofit/>
          </a:bodyPr>
          <a:lstStyle/>
          <a:p>
            <a:pPr indent="0" marL="0">
              <a:lnSpc>
                <a:spcPts val="1800"/>
              </a:lnSpc>
              <a:buNone/>
            </a:pPr>
            <a:r>
              <a:rPr lang="en-US" sz="1300" dirty="0">
                <a:solidFill>
                  <a:srgbClr val="666666"/>
                </a:solidFill>
                <a:latin typeface="Meiryo" pitchFamily="34" charset="0"/>
                <a:ea typeface="Meiryo" pitchFamily="34" charset="-122"/>
                <a:cs typeface="Meiryo" pitchFamily="34" charset="-120"/>
              </a:rPr>
              <a:t>Aのうち、人を紹介してくれそうな人に◎</a:t>
            </a:r>
            <a:endParaRPr lang="en-US" sz="1300" dirty="0"/>
          </a:p>
        </p:txBody>
      </p:sp>
      <p:sp>
        <p:nvSpPr>
          <p:cNvPr id="16" name="Shape 14"/>
          <p:cNvSpPr/>
          <p:nvPr/>
        </p:nvSpPr>
        <p:spPr>
          <a:xfrm>
            <a:off x="4322978" y="3657600"/>
            <a:ext cx="3545738" cy="1691640"/>
          </a:xfrm>
          <a:prstGeom prst="roundRect">
            <a:avLst>
              <a:gd name="adj" fmla="val 4324"/>
            </a:avLst>
          </a:prstGeom>
          <a:solidFill>
            <a:srgbClr val="F2F5FB"/>
          </a:solidFill>
          <a:ln w="12700">
            <a:solidFill>
              <a:srgbClr val="F2F5FB"/>
            </a:solidFill>
            <a:prstDash val="solid"/>
          </a:ln>
        </p:spPr>
      </p:sp>
      <p:sp>
        <p:nvSpPr>
          <p:cNvPr id="17" name="Text 15"/>
          <p:cNvSpPr txBox="1"/>
          <p:nvPr/>
        </p:nvSpPr>
        <p:spPr>
          <a:xfrm>
            <a:off x="4551578" y="3840480"/>
            <a:ext cx="3088538" cy="411480"/>
          </a:xfrm>
          <a:prstGeom prst="rect">
            <a:avLst/>
          </a:prstGeom>
          <a:noFill/>
          <a:ln/>
        </p:spPr>
        <p:txBody>
          <a:bodyPr wrap="square" lIns="0" tIns="0" rIns="0" bIns="0" rtlCol="0" anchor="ctr">
            <a:normAutofit/>
          </a:bodyPr>
          <a:lstStyle/>
          <a:p>
            <a:pPr indent="0" marL="0">
              <a:buNone/>
            </a:pPr>
            <a:r>
              <a:rPr lang="en-US" sz="1700" b="1" dirty="0">
                <a:solidFill>
                  <a:srgbClr val="1E2761"/>
                </a:solidFill>
                <a:latin typeface="Meiryo" pitchFamily="34" charset="0"/>
                <a:ea typeface="Meiryo" pitchFamily="34" charset="-122"/>
                <a:cs typeface="Meiryo" pitchFamily="34" charset="-120"/>
              </a:rPr>
              <a:t>E 逆営業できる相手</a:t>
            </a:r>
            <a:endParaRPr lang="en-US" sz="1700" dirty="0"/>
          </a:p>
        </p:txBody>
      </p:sp>
      <p:sp>
        <p:nvSpPr>
          <p:cNvPr id="18" name="Text 16"/>
          <p:cNvSpPr txBox="1"/>
          <p:nvPr/>
        </p:nvSpPr>
        <p:spPr>
          <a:xfrm>
            <a:off x="4551578" y="4297680"/>
            <a:ext cx="3088538" cy="914400"/>
          </a:xfrm>
          <a:prstGeom prst="rect">
            <a:avLst/>
          </a:prstGeom>
          <a:noFill/>
          <a:ln/>
        </p:spPr>
        <p:txBody>
          <a:bodyPr wrap="square" lIns="0" tIns="0" rIns="0" bIns="0" rtlCol="0" anchor="ctr">
            <a:normAutofit/>
          </a:bodyPr>
          <a:lstStyle/>
          <a:p>
            <a:pPr indent="0" marL="0">
              <a:lnSpc>
                <a:spcPts val="1800"/>
              </a:lnSpc>
              <a:buNone/>
            </a:pPr>
            <a:r>
              <a:rPr lang="en-US" sz="1300" dirty="0">
                <a:solidFill>
                  <a:srgbClr val="666666"/>
                </a:solidFill>
                <a:latin typeface="Meiryo" pitchFamily="34" charset="0"/>
                <a:ea typeface="Meiryo" pitchFamily="34" charset="-122"/>
                <a:cs typeface="Meiryo" pitchFamily="34" charset="-120"/>
              </a:rPr>
              <a:t>いま自分に営業してきている人（保険・不動産・システムなど）</a:t>
            </a:r>
            <a:endParaRPr lang="en-US" sz="1300" dirty="0"/>
          </a:p>
        </p:txBody>
      </p:sp>
      <p:sp>
        <p:nvSpPr>
          <p:cNvPr id="19" name="Shape 17"/>
          <p:cNvSpPr/>
          <p:nvPr/>
        </p:nvSpPr>
        <p:spPr>
          <a:xfrm>
            <a:off x="8005877" y="3657600"/>
            <a:ext cx="3545738" cy="1691640"/>
          </a:xfrm>
          <a:prstGeom prst="roundRect">
            <a:avLst>
              <a:gd name="adj" fmla="val 4324"/>
            </a:avLst>
          </a:prstGeom>
          <a:solidFill>
            <a:srgbClr val="F2F5FB"/>
          </a:solidFill>
          <a:ln w="12700">
            <a:solidFill>
              <a:srgbClr val="F2F5FB"/>
            </a:solidFill>
            <a:prstDash val="solid"/>
          </a:ln>
        </p:spPr>
      </p:sp>
      <p:sp>
        <p:nvSpPr>
          <p:cNvPr id="20" name="Text 18"/>
          <p:cNvSpPr txBox="1"/>
          <p:nvPr/>
        </p:nvSpPr>
        <p:spPr>
          <a:xfrm>
            <a:off x="8234477" y="3840480"/>
            <a:ext cx="3088538" cy="411480"/>
          </a:xfrm>
          <a:prstGeom prst="rect">
            <a:avLst/>
          </a:prstGeom>
          <a:noFill/>
          <a:ln/>
        </p:spPr>
        <p:txBody>
          <a:bodyPr wrap="square" lIns="0" tIns="0" rIns="0" bIns="0" rtlCol="0" anchor="ctr">
            <a:normAutofit/>
          </a:bodyPr>
          <a:lstStyle/>
          <a:p>
            <a:pPr indent="0" marL="0">
              <a:buNone/>
            </a:pPr>
            <a:r>
              <a:rPr lang="en-US" sz="1700" b="1" dirty="0">
                <a:solidFill>
                  <a:srgbClr val="1E2761"/>
                </a:solidFill>
                <a:latin typeface="Meiryo" pitchFamily="34" charset="0"/>
                <a:ea typeface="Meiryo" pitchFamily="34" charset="-122"/>
                <a:cs typeface="Meiryo" pitchFamily="34" charset="-120"/>
              </a:rPr>
              <a:t>F 個人的な縁</a:t>
            </a:r>
            <a:endParaRPr lang="en-US" sz="1700" dirty="0"/>
          </a:p>
        </p:txBody>
      </p:sp>
      <p:sp>
        <p:nvSpPr>
          <p:cNvPr id="21" name="Text 19"/>
          <p:cNvSpPr txBox="1"/>
          <p:nvPr/>
        </p:nvSpPr>
        <p:spPr>
          <a:xfrm>
            <a:off x="8234477" y="4297680"/>
            <a:ext cx="3088538" cy="914400"/>
          </a:xfrm>
          <a:prstGeom prst="rect">
            <a:avLst/>
          </a:prstGeom>
          <a:noFill/>
          <a:ln/>
        </p:spPr>
        <p:txBody>
          <a:bodyPr wrap="square" lIns="0" tIns="0" rIns="0" bIns="0" rtlCol="0" anchor="ctr">
            <a:normAutofit/>
          </a:bodyPr>
          <a:lstStyle/>
          <a:p>
            <a:pPr indent="0" marL="0">
              <a:lnSpc>
                <a:spcPts val="1800"/>
              </a:lnSpc>
              <a:buNone/>
            </a:pPr>
            <a:r>
              <a:rPr lang="en-US" sz="1300" dirty="0">
                <a:solidFill>
                  <a:srgbClr val="666666"/>
                </a:solidFill>
                <a:latin typeface="Meiryo" pitchFamily="34" charset="0"/>
                <a:ea typeface="Meiryo" pitchFamily="34" charset="-122"/>
                <a:cs typeface="Meiryo" pitchFamily="34" charset="-120"/>
              </a:rPr>
              <a:t>趣味、子どもの縁、地域</a:t>
            </a:r>
            <a:endParaRPr lang="en-US" sz="1300" dirty="0"/>
          </a:p>
        </p:txBody>
      </p:sp>
      <p:sp>
        <p:nvSpPr>
          <p:cNvPr id="22" name="Text 20"/>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「まだ何も持っていない」と思っている人ほど、Aが埋まります。</a:t>
            </a:r>
            <a:endParaRPr lang="en-US" sz="15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個人ワーク</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ステップ2：循環を1本描く（9分）</a:t>
            </a:r>
            <a:endParaRPr lang="en-US" sz="3000" dirty="0"/>
          </a:p>
        </p:txBody>
      </p:sp>
      <p:sp>
        <p:nvSpPr>
          <p:cNvPr id="4" name="Shape 2"/>
          <p:cNvSpPr/>
          <p:nvPr/>
        </p:nvSpPr>
        <p:spPr>
          <a:xfrm>
            <a:off x="640080" y="1920240"/>
            <a:ext cx="2468880" cy="914400"/>
          </a:xfrm>
          <a:prstGeom prst="roundRect">
            <a:avLst>
              <a:gd name="adj" fmla="val 6000"/>
            </a:avLst>
          </a:prstGeom>
          <a:solidFill>
            <a:srgbClr val="F2F5FB"/>
          </a:solidFill>
          <a:ln w="12700">
            <a:solidFill>
              <a:srgbClr val="F2F5FB"/>
            </a:solidFill>
            <a:prstDash val="solid"/>
          </a:ln>
        </p:spPr>
      </p:sp>
      <p:sp>
        <p:nvSpPr>
          <p:cNvPr id="5" name="Text 3"/>
          <p:cNvSpPr txBox="1"/>
          <p:nvPr/>
        </p:nvSpPr>
        <p:spPr>
          <a:xfrm>
            <a:off x="749808" y="1920240"/>
            <a:ext cx="2249424" cy="91440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［誰から］</a:t>
            </a:r>
            <a:endParaRPr lang="en-US" sz="1500" dirty="0"/>
          </a:p>
        </p:txBody>
      </p:sp>
      <p:sp>
        <p:nvSpPr>
          <p:cNvPr id="6" name="Shape 4"/>
          <p:cNvSpPr/>
          <p:nvPr/>
        </p:nvSpPr>
        <p:spPr>
          <a:xfrm>
            <a:off x="3127248" y="2267712"/>
            <a:ext cx="274320" cy="228600"/>
          </a:xfrm>
          <a:prstGeom prst="rightArrow">
            <a:avLst/>
          </a:prstGeom>
          <a:solidFill>
            <a:srgbClr val="C08A2E"/>
          </a:solidFill>
          <a:ln w="12700">
            <a:solidFill>
              <a:srgbClr val="C08A2E"/>
            </a:solidFill>
            <a:prstDash val="solid"/>
          </a:ln>
        </p:spPr>
      </p:sp>
      <p:sp>
        <p:nvSpPr>
          <p:cNvPr id="7" name="Shape 5"/>
          <p:cNvSpPr/>
          <p:nvPr/>
        </p:nvSpPr>
        <p:spPr>
          <a:xfrm>
            <a:off x="3383280" y="1920240"/>
            <a:ext cx="2468880" cy="914400"/>
          </a:xfrm>
          <a:prstGeom prst="roundRect">
            <a:avLst>
              <a:gd name="adj" fmla="val 6000"/>
            </a:avLst>
          </a:prstGeom>
          <a:solidFill>
            <a:srgbClr val="F2F5FB"/>
          </a:solidFill>
          <a:ln w="12700">
            <a:solidFill>
              <a:srgbClr val="F2F5FB"/>
            </a:solidFill>
            <a:prstDash val="solid"/>
          </a:ln>
        </p:spPr>
      </p:sp>
      <p:sp>
        <p:nvSpPr>
          <p:cNvPr id="8" name="Text 6"/>
          <p:cNvSpPr txBox="1"/>
          <p:nvPr/>
        </p:nvSpPr>
        <p:spPr>
          <a:xfrm>
            <a:off x="3493008" y="1920240"/>
            <a:ext cx="2249424" cy="91440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［どんな仕事］</a:t>
            </a:r>
            <a:endParaRPr lang="en-US" sz="1500" dirty="0"/>
          </a:p>
        </p:txBody>
      </p:sp>
      <p:sp>
        <p:nvSpPr>
          <p:cNvPr id="9" name="Shape 7"/>
          <p:cNvSpPr/>
          <p:nvPr/>
        </p:nvSpPr>
        <p:spPr>
          <a:xfrm>
            <a:off x="5870448" y="2267712"/>
            <a:ext cx="274320" cy="228600"/>
          </a:xfrm>
          <a:prstGeom prst="rightArrow">
            <a:avLst/>
          </a:prstGeom>
          <a:solidFill>
            <a:srgbClr val="C08A2E"/>
          </a:solidFill>
          <a:ln w="12700">
            <a:solidFill>
              <a:srgbClr val="C08A2E"/>
            </a:solidFill>
            <a:prstDash val="solid"/>
          </a:ln>
        </p:spPr>
      </p:sp>
      <p:sp>
        <p:nvSpPr>
          <p:cNvPr id="10" name="Shape 8"/>
          <p:cNvSpPr/>
          <p:nvPr/>
        </p:nvSpPr>
        <p:spPr>
          <a:xfrm>
            <a:off x="6126480" y="1920240"/>
            <a:ext cx="2468880" cy="914400"/>
          </a:xfrm>
          <a:prstGeom prst="roundRect">
            <a:avLst>
              <a:gd name="adj" fmla="val 6000"/>
            </a:avLst>
          </a:prstGeom>
          <a:solidFill>
            <a:srgbClr val="F2F5FB"/>
          </a:solidFill>
          <a:ln w="12700">
            <a:solidFill>
              <a:srgbClr val="F2F5FB"/>
            </a:solidFill>
            <a:prstDash val="solid"/>
          </a:ln>
        </p:spPr>
      </p:sp>
      <p:sp>
        <p:nvSpPr>
          <p:cNvPr id="11" name="Text 9"/>
          <p:cNvSpPr txBox="1"/>
          <p:nvPr/>
        </p:nvSpPr>
        <p:spPr>
          <a:xfrm>
            <a:off x="6236208" y="1920240"/>
            <a:ext cx="2249424" cy="91440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［期待以上に</a:t>
            </a:r>
            <a:endParaRPr lang="en-US" sz="1500" dirty="0"/>
          </a:p>
          <a:p>
            <a:pPr algn="ctr" indent="0" marL="0">
              <a:buNone/>
            </a:pPr>
            <a:r>
              <a:rPr lang="en-US" sz="1500" b="1" dirty="0">
                <a:solidFill>
                  <a:srgbClr val="1E2761"/>
                </a:solidFill>
                <a:latin typeface="Meiryo" pitchFamily="34" charset="0"/>
                <a:ea typeface="Meiryo" pitchFamily="34" charset="-122"/>
                <a:cs typeface="Meiryo" pitchFamily="34" charset="-120"/>
              </a:rPr>
              <a:t>何をするか］</a:t>
            </a:r>
            <a:endParaRPr lang="en-US" sz="1500" dirty="0"/>
          </a:p>
        </p:txBody>
      </p:sp>
      <p:sp>
        <p:nvSpPr>
          <p:cNvPr id="12" name="Shape 10"/>
          <p:cNvSpPr/>
          <p:nvPr/>
        </p:nvSpPr>
        <p:spPr>
          <a:xfrm>
            <a:off x="8613648" y="2267712"/>
            <a:ext cx="274320" cy="228600"/>
          </a:xfrm>
          <a:prstGeom prst="rightArrow">
            <a:avLst/>
          </a:prstGeom>
          <a:solidFill>
            <a:srgbClr val="C08A2E"/>
          </a:solidFill>
          <a:ln w="12700">
            <a:solidFill>
              <a:srgbClr val="C08A2E"/>
            </a:solidFill>
            <a:prstDash val="solid"/>
          </a:ln>
        </p:spPr>
      </p:sp>
      <p:sp>
        <p:nvSpPr>
          <p:cNvPr id="13" name="Shape 11"/>
          <p:cNvSpPr/>
          <p:nvPr/>
        </p:nvSpPr>
        <p:spPr>
          <a:xfrm>
            <a:off x="8869680" y="1920240"/>
            <a:ext cx="2468880" cy="914400"/>
          </a:xfrm>
          <a:prstGeom prst="roundRect">
            <a:avLst>
              <a:gd name="adj" fmla="val 6000"/>
            </a:avLst>
          </a:prstGeom>
          <a:solidFill>
            <a:srgbClr val="F2F5FB"/>
          </a:solidFill>
          <a:ln w="12700">
            <a:solidFill>
              <a:srgbClr val="F2F5FB"/>
            </a:solidFill>
            <a:prstDash val="solid"/>
          </a:ln>
        </p:spPr>
      </p:sp>
      <p:sp>
        <p:nvSpPr>
          <p:cNvPr id="14" name="Text 12"/>
          <p:cNvSpPr txBox="1"/>
          <p:nvPr/>
        </p:nvSpPr>
        <p:spPr>
          <a:xfrm>
            <a:off x="8979408" y="1920240"/>
            <a:ext cx="2249424" cy="91440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［誰に紹介して</a:t>
            </a:r>
            <a:endParaRPr lang="en-US" sz="1500" dirty="0"/>
          </a:p>
          <a:p>
            <a:pPr algn="ctr" indent="0" marL="0">
              <a:buNone/>
            </a:pPr>
            <a:r>
              <a:rPr lang="en-US" sz="1500" b="1" dirty="0">
                <a:solidFill>
                  <a:srgbClr val="1E2761"/>
                </a:solidFill>
                <a:latin typeface="Meiryo" pitchFamily="34" charset="0"/>
                <a:ea typeface="Meiryo" pitchFamily="34" charset="-122"/>
                <a:cs typeface="Meiryo" pitchFamily="34" charset="-120"/>
              </a:rPr>
              <a:t>もらえそうか］</a:t>
            </a:r>
            <a:endParaRPr lang="en-US" sz="1500" dirty="0"/>
          </a:p>
        </p:txBody>
      </p:sp>
      <p:sp>
        <p:nvSpPr>
          <p:cNvPr id="15" name="Text 13"/>
          <p:cNvSpPr txBox="1"/>
          <p:nvPr/>
        </p:nvSpPr>
        <p:spPr>
          <a:xfrm>
            <a:off x="640080" y="3154680"/>
            <a:ext cx="10911535" cy="320040"/>
          </a:xfrm>
          <a:prstGeom prst="rect">
            <a:avLst/>
          </a:prstGeom>
          <a:noFill/>
          <a:ln/>
        </p:spPr>
        <p:txBody>
          <a:bodyPr wrap="square" lIns="0" tIns="0" rIns="0" bIns="0" rtlCol="0" anchor="ctr"/>
          <a:lstStyle/>
          <a:p>
            <a:pPr indent="0" marL="0">
              <a:buNone/>
            </a:pPr>
            <a:r>
              <a:rPr lang="en-US" sz="1400" b="1" dirty="0">
                <a:solidFill>
                  <a:srgbClr val="C08A2E"/>
                </a:solidFill>
                <a:latin typeface="Meiryo" pitchFamily="34" charset="0"/>
                <a:ea typeface="Meiryo" pitchFamily="34" charset="-122"/>
                <a:cs typeface="Meiryo" pitchFamily="34" charset="-120"/>
              </a:rPr>
              <a:t>私の例</a:t>
            </a:r>
            <a:endParaRPr lang="en-US" sz="1400" dirty="0"/>
          </a:p>
        </p:txBody>
      </p:sp>
      <p:sp>
        <p:nvSpPr>
          <p:cNvPr id="16" name="Shape 14"/>
          <p:cNvSpPr/>
          <p:nvPr/>
        </p:nvSpPr>
        <p:spPr>
          <a:xfrm>
            <a:off x="640080" y="3474720"/>
            <a:ext cx="2468880" cy="914400"/>
          </a:xfrm>
          <a:prstGeom prst="roundRect">
            <a:avLst>
              <a:gd name="adj" fmla="val 6000"/>
            </a:avLst>
          </a:prstGeom>
          <a:solidFill>
            <a:srgbClr val="CADCFC"/>
          </a:solidFill>
          <a:ln w="12700">
            <a:solidFill>
              <a:srgbClr val="CADCFC"/>
            </a:solidFill>
            <a:prstDash val="solid"/>
          </a:ln>
        </p:spPr>
      </p:sp>
      <p:sp>
        <p:nvSpPr>
          <p:cNvPr id="17" name="Text 15"/>
          <p:cNvSpPr txBox="1"/>
          <p:nvPr/>
        </p:nvSpPr>
        <p:spPr>
          <a:xfrm>
            <a:off x="749808" y="3474720"/>
            <a:ext cx="2249424" cy="91440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scalar</a:t>
            </a:r>
            <a:endParaRPr lang="en-US" sz="1500" dirty="0"/>
          </a:p>
        </p:txBody>
      </p:sp>
      <p:sp>
        <p:nvSpPr>
          <p:cNvPr id="18" name="Shape 16"/>
          <p:cNvSpPr/>
          <p:nvPr/>
        </p:nvSpPr>
        <p:spPr>
          <a:xfrm>
            <a:off x="3127248" y="3822192"/>
            <a:ext cx="274320" cy="228600"/>
          </a:xfrm>
          <a:prstGeom prst="rightArrow">
            <a:avLst/>
          </a:prstGeom>
          <a:solidFill>
            <a:srgbClr val="C08A2E"/>
          </a:solidFill>
          <a:ln w="12700">
            <a:solidFill>
              <a:srgbClr val="C08A2E"/>
            </a:solidFill>
            <a:prstDash val="solid"/>
          </a:ln>
        </p:spPr>
      </p:sp>
      <p:sp>
        <p:nvSpPr>
          <p:cNvPr id="19" name="Shape 17"/>
          <p:cNvSpPr/>
          <p:nvPr/>
        </p:nvSpPr>
        <p:spPr>
          <a:xfrm>
            <a:off x="3383280" y="3474720"/>
            <a:ext cx="2468880" cy="914400"/>
          </a:xfrm>
          <a:prstGeom prst="roundRect">
            <a:avLst>
              <a:gd name="adj" fmla="val 6000"/>
            </a:avLst>
          </a:prstGeom>
          <a:solidFill>
            <a:srgbClr val="CADCFC"/>
          </a:solidFill>
          <a:ln w="12700">
            <a:solidFill>
              <a:srgbClr val="CADCFC"/>
            </a:solidFill>
            <a:prstDash val="solid"/>
          </a:ln>
        </p:spPr>
      </p:sp>
      <p:sp>
        <p:nvSpPr>
          <p:cNvPr id="20" name="Text 18"/>
          <p:cNvSpPr txBox="1"/>
          <p:nvPr/>
        </p:nvSpPr>
        <p:spPr>
          <a:xfrm>
            <a:off x="3493008" y="3474720"/>
            <a:ext cx="2249424" cy="91440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顧問契約</a:t>
            </a:r>
            <a:endParaRPr lang="en-US" sz="1500" dirty="0"/>
          </a:p>
        </p:txBody>
      </p:sp>
      <p:sp>
        <p:nvSpPr>
          <p:cNvPr id="21" name="Shape 19"/>
          <p:cNvSpPr/>
          <p:nvPr/>
        </p:nvSpPr>
        <p:spPr>
          <a:xfrm>
            <a:off x="5870448" y="3822192"/>
            <a:ext cx="274320" cy="228600"/>
          </a:xfrm>
          <a:prstGeom prst="rightArrow">
            <a:avLst/>
          </a:prstGeom>
          <a:solidFill>
            <a:srgbClr val="C08A2E"/>
          </a:solidFill>
          <a:ln w="12700">
            <a:solidFill>
              <a:srgbClr val="C08A2E"/>
            </a:solidFill>
            <a:prstDash val="solid"/>
          </a:ln>
        </p:spPr>
      </p:sp>
      <p:sp>
        <p:nvSpPr>
          <p:cNvPr id="22" name="Shape 20"/>
          <p:cNvSpPr/>
          <p:nvPr/>
        </p:nvSpPr>
        <p:spPr>
          <a:xfrm>
            <a:off x="6126480" y="3474720"/>
            <a:ext cx="2468880" cy="914400"/>
          </a:xfrm>
          <a:prstGeom prst="roundRect">
            <a:avLst>
              <a:gd name="adj" fmla="val 6000"/>
            </a:avLst>
          </a:prstGeom>
          <a:solidFill>
            <a:srgbClr val="CADCFC"/>
          </a:solidFill>
          <a:ln w="12700">
            <a:solidFill>
              <a:srgbClr val="CADCFC"/>
            </a:solidFill>
            <a:prstDash val="solid"/>
          </a:ln>
        </p:spPr>
      </p:sp>
      <p:sp>
        <p:nvSpPr>
          <p:cNvPr id="23" name="Text 21"/>
          <p:cNvSpPr txBox="1"/>
          <p:nvPr/>
        </p:nvSpPr>
        <p:spPr>
          <a:xfrm>
            <a:off x="6236208" y="3474720"/>
            <a:ext cx="2249424" cy="914400"/>
          </a:xfrm>
          <a:prstGeom prst="rect">
            <a:avLst/>
          </a:prstGeom>
          <a:noFill/>
          <a:ln/>
        </p:spPr>
        <p:txBody>
          <a:bodyPr wrap="square" lIns="0" tIns="0" rIns="0" bIns="0" rtlCol="0" anchor="ctr">
            <a:normAutofit/>
          </a:bodyPr>
          <a:lstStyle/>
          <a:p>
            <a:pPr algn="ctr" indent="0" marL="0">
              <a:buNone/>
            </a:pPr>
            <a:r>
              <a:rPr lang="en-US" sz="1500" b="1" dirty="0">
                <a:solidFill>
                  <a:srgbClr val="1E2761"/>
                </a:solidFill>
                <a:latin typeface="Meiryo" pitchFamily="34" charset="0"/>
                <a:ea typeface="Meiryo" pitchFamily="34" charset="-122"/>
                <a:cs typeface="Meiryo" pitchFamily="34" charset="-120"/>
              </a:rPr>
              <a:t>経営会議に毎月入り、</a:t>
            </a:r>
            <a:endParaRPr lang="en-US" sz="1500" dirty="0"/>
          </a:p>
          <a:p>
            <a:pPr algn="ctr" indent="0" marL="0">
              <a:buNone/>
            </a:pPr>
            <a:r>
              <a:rPr lang="en-US" sz="1500" b="1" dirty="0">
                <a:solidFill>
                  <a:srgbClr val="1E2761"/>
                </a:solidFill>
                <a:latin typeface="Meiryo" pitchFamily="34" charset="0"/>
                <a:ea typeface="Meiryo" pitchFamily="34" charset="-122"/>
                <a:cs typeface="Meiryo" pitchFamily="34" charset="-120"/>
              </a:rPr>
              <a:t>決めきるまで付き合う</a:t>
            </a:r>
            <a:endParaRPr lang="en-US" sz="1500" dirty="0"/>
          </a:p>
        </p:txBody>
      </p:sp>
      <p:sp>
        <p:nvSpPr>
          <p:cNvPr id="24" name="Shape 22"/>
          <p:cNvSpPr/>
          <p:nvPr/>
        </p:nvSpPr>
        <p:spPr>
          <a:xfrm>
            <a:off x="8613648" y="3822192"/>
            <a:ext cx="274320" cy="228600"/>
          </a:xfrm>
          <a:prstGeom prst="rightArrow">
            <a:avLst/>
          </a:prstGeom>
          <a:solidFill>
            <a:srgbClr val="C08A2E"/>
          </a:solidFill>
          <a:ln w="12700">
            <a:solidFill>
              <a:srgbClr val="C08A2E"/>
            </a:solidFill>
            <a:prstDash val="solid"/>
          </a:ln>
        </p:spPr>
      </p:sp>
      <p:sp>
        <p:nvSpPr>
          <p:cNvPr id="25" name="Shape 23"/>
          <p:cNvSpPr/>
          <p:nvPr/>
        </p:nvSpPr>
        <p:spPr>
          <a:xfrm>
            <a:off x="8869680" y="3474720"/>
            <a:ext cx="2468880" cy="914400"/>
          </a:xfrm>
          <a:prstGeom prst="roundRect">
            <a:avLst>
              <a:gd name="adj" fmla="val 6000"/>
            </a:avLst>
          </a:prstGeom>
          <a:solidFill>
            <a:srgbClr val="1E2761"/>
          </a:solidFill>
          <a:ln w="12700">
            <a:solidFill>
              <a:srgbClr val="1E2761"/>
            </a:solidFill>
            <a:prstDash val="solid"/>
          </a:ln>
        </p:spPr>
      </p:sp>
      <p:sp>
        <p:nvSpPr>
          <p:cNvPr id="26" name="Text 24"/>
          <p:cNvSpPr txBox="1"/>
          <p:nvPr/>
        </p:nvSpPr>
        <p:spPr>
          <a:xfrm>
            <a:off x="8979408" y="3474720"/>
            <a:ext cx="2249424" cy="91440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Meiryo" pitchFamily="34" charset="0"/>
                <a:ea typeface="Meiryo" pitchFamily="34" charset="-122"/>
                <a:cs typeface="Meiryo" pitchFamily="34" charset="-120"/>
              </a:rPr>
              <a:t>池田紙工・OTCコーヒー</a:t>
            </a:r>
            <a:endParaRPr lang="en-US" sz="1500" dirty="0"/>
          </a:p>
          <a:p>
            <a:pPr algn="ctr" indent="0" marL="0">
              <a:buNone/>
            </a:pPr>
            <a:r>
              <a:rPr lang="en-US" sz="1500" b="1" dirty="0">
                <a:solidFill>
                  <a:srgbClr val="FFFFFF"/>
                </a:solidFill>
                <a:latin typeface="Meiryo" pitchFamily="34" charset="0"/>
                <a:ea typeface="Meiryo" pitchFamily="34" charset="-122"/>
                <a:cs typeface="Meiryo" pitchFamily="34" charset="-120"/>
              </a:rPr>
              <a:t>の2社を紹介</a:t>
            </a:r>
            <a:endParaRPr lang="en-US" sz="1500" dirty="0"/>
          </a:p>
        </p:txBody>
      </p:sp>
      <p:sp>
        <p:nvSpPr>
          <p:cNvPr id="27" name="Text 25"/>
          <p:cNvSpPr txBox="1"/>
          <p:nvPr/>
        </p:nvSpPr>
        <p:spPr>
          <a:xfrm>
            <a:off x="640080" y="4754880"/>
            <a:ext cx="10911535" cy="548640"/>
          </a:xfrm>
          <a:prstGeom prst="rect">
            <a:avLst/>
          </a:prstGeom>
          <a:noFill/>
          <a:ln/>
        </p:spPr>
        <p:txBody>
          <a:bodyPr wrap="square" lIns="0" tIns="0" rIns="0" bIns="0" rtlCol="0" anchor="ctr">
            <a:normAutofit/>
          </a:bodyPr>
          <a:lstStyle/>
          <a:p>
            <a:pPr indent="0" marL="0">
              <a:buNone/>
            </a:pPr>
            <a:r>
              <a:rPr lang="en-US" sz="1700" b="1" dirty="0">
                <a:solidFill>
                  <a:srgbClr val="1E2761"/>
                </a:solidFill>
                <a:latin typeface="Meiryo" pitchFamily="34" charset="0"/>
                <a:ea typeface="Meiryo" pitchFamily="34" charset="-122"/>
                <a:cs typeface="Meiryo" pitchFamily="34" charset="-120"/>
              </a:rPr>
              <a:t>最後に「紹介してくれた人に、どう結果を返すか」を1行足してください。返さないと循環は止まります。</a:t>
            </a:r>
            <a:endParaRPr lang="en-US" sz="1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911535" cy="320040"/>
          </a:xfrm>
          <a:prstGeom prst="rect">
            <a:avLst/>
          </a:prstGeom>
          <a:noFill/>
          <a:ln/>
        </p:spPr>
        <p:txBody>
          <a:bodyPr wrap="square" lIns="0" tIns="0" rIns="0" bIns="0" rtlCol="0" anchor="ctr"/>
          <a:lstStyle/>
          <a:p>
            <a:pPr indent="0" marL="0">
              <a:buNone/>
            </a:pPr>
            <a:r>
              <a:rPr lang="en-US" sz="1300" b="1" spc="100" kern="0" dirty="0">
                <a:solidFill>
                  <a:srgbClr val="C08A2E"/>
                </a:solidFill>
                <a:latin typeface="Meiryo" pitchFamily="34" charset="0"/>
                <a:ea typeface="Meiryo" pitchFamily="34" charset="-122"/>
                <a:cs typeface="Meiryo" pitchFamily="34" charset="-120"/>
              </a:rPr>
              <a:t>個人ワーク</a:t>
            </a:r>
            <a:endParaRPr lang="en-US" sz="1300" dirty="0"/>
          </a:p>
        </p:txBody>
      </p:sp>
      <p:sp>
        <p:nvSpPr>
          <p:cNvPr id="3" name="Text 1"/>
          <p:cNvSpPr txBox="1"/>
          <p:nvPr/>
        </p:nvSpPr>
        <p:spPr>
          <a:xfrm>
            <a:off x="640080" y="777240"/>
            <a:ext cx="10911535" cy="685800"/>
          </a:xfrm>
          <a:prstGeom prst="rect">
            <a:avLst/>
          </a:prstGeom>
          <a:noFill/>
          <a:ln/>
        </p:spPr>
        <p:txBody>
          <a:bodyPr wrap="square" lIns="0" tIns="0" rIns="0" bIns="0" rtlCol="0" anchor="ctr">
            <a:normAutofit/>
          </a:bodyPr>
          <a:lstStyle/>
          <a:p>
            <a:pPr indent="0" marL="0">
              <a:buNone/>
            </a:pPr>
            <a:r>
              <a:rPr lang="en-US" sz="3000" b="1" dirty="0">
                <a:solidFill>
                  <a:srgbClr val="1E2761"/>
                </a:solidFill>
                <a:latin typeface="Meiryo" pitchFamily="34" charset="0"/>
                <a:ea typeface="Meiryo" pitchFamily="34" charset="-122"/>
                <a:cs typeface="Meiryo" pitchFamily="34" charset="-120"/>
              </a:rPr>
              <a:t>ステップ3：今日やる1つを決める（5分）</a:t>
            </a:r>
            <a:endParaRPr lang="en-US" sz="3000" dirty="0"/>
          </a:p>
        </p:txBody>
      </p:sp>
      <p:sp>
        <p:nvSpPr>
          <p:cNvPr id="4" name="Shape 2"/>
          <p:cNvSpPr/>
          <p:nvPr/>
        </p:nvSpPr>
        <p:spPr>
          <a:xfrm>
            <a:off x="640080" y="2011680"/>
            <a:ext cx="5318608" cy="2743200"/>
          </a:xfrm>
          <a:prstGeom prst="roundRect">
            <a:avLst>
              <a:gd name="adj" fmla="val 2667"/>
            </a:avLst>
          </a:prstGeom>
          <a:solidFill>
            <a:srgbClr val="F2F5FB"/>
          </a:solidFill>
          <a:ln w="12700">
            <a:solidFill>
              <a:srgbClr val="F2F5FB"/>
            </a:solidFill>
            <a:prstDash val="solid"/>
          </a:ln>
        </p:spPr>
      </p:sp>
      <p:sp>
        <p:nvSpPr>
          <p:cNvPr id="5" name="Text 3"/>
          <p:cNvSpPr txBox="1"/>
          <p:nvPr/>
        </p:nvSpPr>
        <p:spPr>
          <a:xfrm>
            <a:off x="896112" y="226771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その場で登録する</a:t>
            </a:r>
            <a:endParaRPr lang="en-US" sz="1800" dirty="0"/>
          </a:p>
        </p:txBody>
      </p:sp>
      <p:sp>
        <p:nvSpPr>
          <p:cNvPr id="6" name="Text 4"/>
          <p:cNvSpPr txBox="1"/>
          <p:nvPr/>
        </p:nvSpPr>
        <p:spPr>
          <a:xfrm>
            <a:off x="896112" y="2926080"/>
            <a:ext cx="4806544" cy="155448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城北支部のキャリアデータベース</a:t>
            </a: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中小機構／信用保証協会／公社の専門家登録</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スマホを出して、いま1つ申し込んでください。</a:t>
            </a:r>
            <a:endParaRPr lang="en-US" sz="1300" dirty="0"/>
          </a:p>
        </p:txBody>
      </p:sp>
      <p:sp>
        <p:nvSpPr>
          <p:cNvPr id="7" name="Shape 5"/>
          <p:cNvSpPr/>
          <p:nvPr/>
        </p:nvSpPr>
        <p:spPr>
          <a:xfrm>
            <a:off x="6233008" y="2011680"/>
            <a:ext cx="5318608" cy="2743200"/>
          </a:xfrm>
          <a:prstGeom prst="roundRect">
            <a:avLst>
              <a:gd name="adj" fmla="val 2667"/>
            </a:avLst>
          </a:prstGeom>
          <a:solidFill>
            <a:srgbClr val="F2F5FB"/>
          </a:solidFill>
          <a:ln w="12700">
            <a:solidFill>
              <a:srgbClr val="F2F5FB"/>
            </a:solidFill>
            <a:prstDash val="solid"/>
          </a:ln>
        </p:spPr>
      </p:sp>
      <p:sp>
        <p:nvSpPr>
          <p:cNvPr id="8" name="Text 6"/>
          <p:cNvSpPr txBox="1"/>
          <p:nvPr/>
        </p:nvSpPr>
        <p:spPr>
          <a:xfrm>
            <a:off x="6489040" y="2267712"/>
            <a:ext cx="4806544" cy="640080"/>
          </a:xfrm>
          <a:prstGeom prst="rect">
            <a:avLst/>
          </a:prstGeom>
          <a:noFill/>
          <a:ln/>
        </p:spPr>
        <p:txBody>
          <a:bodyPr wrap="square" lIns="0" tIns="0" rIns="0" bIns="0" rtlCol="0" anchor="ctr">
            <a:normAutofit/>
          </a:bodyPr>
          <a:lstStyle/>
          <a:p>
            <a:pPr indent="0" marL="0">
              <a:buNone/>
            </a:pPr>
            <a:r>
              <a:rPr lang="en-US" sz="1800" b="1" dirty="0">
                <a:solidFill>
                  <a:srgbClr val="1E2761"/>
                </a:solidFill>
                <a:latin typeface="Meiryo" pitchFamily="34" charset="0"/>
                <a:ea typeface="Meiryo" pitchFamily="34" charset="-122"/>
                <a:cs typeface="Meiryo" pitchFamily="34" charset="-120"/>
              </a:rPr>
              <a:t>その場で連絡する</a:t>
            </a:r>
            <a:endParaRPr lang="en-US" sz="1800" dirty="0"/>
          </a:p>
        </p:txBody>
      </p:sp>
      <p:sp>
        <p:nvSpPr>
          <p:cNvPr id="9" name="Text 7"/>
          <p:cNvSpPr txBox="1"/>
          <p:nvPr/>
        </p:nvSpPr>
        <p:spPr>
          <a:xfrm>
            <a:off x="6489040" y="2926080"/>
            <a:ext cx="4806544" cy="1554480"/>
          </a:xfrm>
          <a:prstGeom prst="rect">
            <a:avLst/>
          </a:prstGeom>
          <a:noFill/>
          <a:ln/>
        </p:spPr>
        <p:txBody>
          <a:bodyPr wrap="square" lIns="0" tIns="0" rIns="0" bIns="0" rtlCol="0" anchor="ctr">
            <a:normAutofit/>
          </a:bodyPr>
          <a:lstStyle/>
          <a:p>
            <a:pPr indent="0" marL="0">
              <a:lnSpc>
                <a:spcPts val="1900"/>
              </a:lnSpc>
              <a:buNone/>
            </a:pPr>
            <a:r>
              <a:rPr lang="en-US" sz="1300" dirty="0">
                <a:solidFill>
                  <a:srgbClr val="222222"/>
                </a:solidFill>
                <a:latin typeface="Meiryo" pitchFamily="34" charset="0"/>
                <a:ea typeface="Meiryo" pitchFamily="34" charset="-122"/>
                <a:cs typeface="Meiryo" pitchFamily="34" charset="-120"/>
              </a:rPr>
              <a:t>ステップ2で書いた相手に、いまメッセージを送ってください。</a:t>
            </a:r>
            <a:endParaRPr lang="en-US" sz="1300" dirty="0"/>
          </a:p>
          <a:p>
            <a:pPr indent="0" marL="0">
              <a:lnSpc>
                <a:spcPts val="1900"/>
              </a:lnSpc>
              <a:buNone/>
            </a:pPr>
            <a:endParaRPr lang="en-US" sz="1300" dirty="0"/>
          </a:p>
          <a:p>
            <a:pPr indent="0" marL="0">
              <a:lnSpc>
                <a:spcPts val="1900"/>
              </a:lnSpc>
              <a:buNone/>
            </a:pPr>
            <a:r>
              <a:rPr lang="en-US" sz="1300" dirty="0">
                <a:solidFill>
                  <a:srgbClr val="222222"/>
                </a:solidFill>
                <a:latin typeface="Meiryo" pitchFamily="34" charset="0"/>
                <a:ea typeface="Meiryo" pitchFamily="34" charset="-122"/>
                <a:cs typeface="Meiryo" pitchFamily="34" charset="-120"/>
              </a:rPr>
              <a:t>「久しぶりに一度お話しできませんか」で十分です。</a:t>
            </a:r>
            <a:endParaRPr lang="en-US" sz="1300" dirty="0"/>
          </a:p>
        </p:txBody>
      </p:sp>
      <p:sp>
        <p:nvSpPr>
          <p:cNvPr id="10" name="Text 8"/>
          <p:cNvSpPr txBox="1"/>
          <p:nvPr/>
        </p:nvSpPr>
        <p:spPr>
          <a:xfrm>
            <a:off x="640080" y="5806440"/>
            <a:ext cx="10911535" cy="548640"/>
          </a:xfrm>
          <a:prstGeom prst="rect">
            <a:avLst/>
          </a:prstGeom>
          <a:noFill/>
          <a:ln/>
        </p:spPr>
        <p:txBody>
          <a:bodyPr wrap="square" lIns="0" tIns="0" rIns="0" bIns="0" rtlCol="0" anchor="ctr">
            <a:normAutofit/>
          </a:bodyPr>
          <a:lstStyle/>
          <a:p>
            <a:pPr indent="0" marL="0">
              <a:buNone/>
            </a:pPr>
            <a:r>
              <a:rPr lang="en-US" sz="1500" b="1" dirty="0">
                <a:solidFill>
                  <a:srgbClr val="C08A2E"/>
                </a:solidFill>
                <a:latin typeface="Meiryo" pitchFamily="34" charset="0"/>
                <a:ea typeface="Meiryo" pitchFamily="34" charset="-122"/>
                <a:cs typeface="Meiryo" pitchFamily="34" charset="-120"/>
              </a:rPr>
              <a:t>行動をひとつ完了させて帰る。それが今日の成果です。</a:t>
            </a:r>
            <a:endParaRPr lang="en-US" sz="15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822960"/>
            <a:ext cx="10911535" cy="548640"/>
          </a:xfrm>
          <a:prstGeom prst="rect">
            <a:avLst/>
          </a:prstGeom>
          <a:noFill/>
          <a:ln/>
        </p:spPr>
        <p:txBody>
          <a:bodyPr wrap="square" lIns="0" tIns="0" rIns="0" bIns="0" rtlCol="0" anchor="ctr"/>
          <a:lstStyle/>
          <a:p>
            <a:pPr indent="0" marL="0">
              <a:buNone/>
            </a:pPr>
            <a:r>
              <a:rPr lang="en-US" sz="2600" b="1" dirty="0">
                <a:solidFill>
                  <a:srgbClr val="C08A2E"/>
                </a:solidFill>
                <a:latin typeface="Meiryo" pitchFamily="34" charset="0"/>
                <a:ea typeface="Meiryo" pitchFamily="34" charset="-122"/>
                <a:cs typeface="Meiryo" pitchFamily="34" charset="-120"/>
              </a:rPr>
              <a:t>まとめ</a:t>
            </a:r>
            <a:endParaRPr lang="en-US" sz="2600" dirty="0"/>
          </a:p>
        </p:txBody>
      </p:sp>
      <p:sp>
        <p:nvSpPr>
          <p:cNvPr id="3" name="Shape 1"/>
          <p:cNvSpPr/>
          <p:nvPr/>
        </p:nvSpPr>
        <p:spPr>
          <a:xfrm>
            <a:off x="640080" y="1737360"/>
            <a:ext cx="457200" cy="457200"/>
          </a:xfrm>
          <a:prstGeom prst="ellipse">
            <a:avLst/>
          </a:prstGeom>
          <a:solidFill>
            <a:srgbClr val="C08A2E"/>
          </a:solidFill>
          <a:ln w="12700">
            <a:solidFill>
              <a:srgbClr val="C08A2E"/>
            </a:solidFill>
            <a:prstDash val="solid"/>
          </a:ln>
        </p:spPr>
      </p:sp>
      <p:sp>
        <p:nvSpPr>
          <p:cNvPr id="4" name="Text 2"/>
          <p:cNvSpPr txBox="1"/>
          <p:nvPr/>
        </p:nvSpPr>
        <p:spPr>
          <a:xfrm>
            <a:off x="640080" y="1737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5" name="Text 3"/>
          <p:cNvSpPr txBox="1"/>
          <p:nvPr/>
        </p:nvSpPr>
        <p:spPr>
          <a:xfrm>
            <a:off x="1371600" y="1691640"/>
            <a:ext cx="10088575" cy="548640"/>
          </a:xfrm>
          <a:prstGeom prst="rect">
            <a:avLst/>
          </a:prstGeom>
          <a:noFill/>
          <a:ln/>
        </p:spPr>
        <p:txBody>
          <a:bodyPr wrap="square" lIns="0" tIns="0" rIns="0" bIns="0" rtlCol="0" anchor="ctr">
            <a:normAutofit/>
          </a:bodyPr>
          <a:lstStyle/>
          <a:p>
            <a:pPr indent="0" marL="0">
              <a:buNone/>
            </a:pPr>
            <a:r>
              <a:rPr lang="en-US" sz="1800" dirty="0">
                <a:solidFill>
                  <a:srgbClr val="FFFFFF"/>
                </a:solidFill>
                <a:latin typeface="Meiryo" pitchFamily="34" charset="0"/>
                <a:ea typeface="Meiryo" pitchFamily="34" charset="-122"/>
                <a:cs typeface="Meiryo" pitchFamily="34" charset="-120"/>
              </a:rPr>
              <a:t>私の26件は、全部「信用」から来ました。売り込んだ仕事はひとつもありません</a:t>
            </a:r>
            <a:endParaRPr lang="en-US" sz="1800" dirty="0"/>
          </a:p>
        </p:txBody>
      </p:sp>
      <p:sp>
        <p:nvSpPr>
          <p:cNvPr id="6" name="Shape 4"/>
          <p:cNvSpPr/>
          <p:nvPr/>
        </p:nvSpPr>
        <p:spPr>
          <a:xfrm>
            <a:off x="640080" y="2606040"/>
            <a:ext cx="457200" cy="457200"/>
          </a:xfrm>
          <a:prstGeom prst="ellipse">
            <a:avLst/>
          </a:prstGeom>
          <a:solidFill>
            <a:srgbClr val="C08A2E"/>
          </a:solidFill>
          <a:ln w="12700">
            <a:solidFill>
              <a:srgbClr val="C08A2E"/>
            </a:solidFill>
            <a:prstDash val="solid"/>
          </a:ln>
        </p:spPr>
      </p:sp>
      <p:sp>
        <p:nvSpPr>
          <p:cNvPr id="7" name="Text 5"/>
          <p:cNvSpPr txBox="1"/>
          <p:nvPr/>
        </p:nvSpPr>
        <p:spPr>
          <a:xfrm>
            <a:off x="64008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8" name="Text 6"/>
          <p:cNvSpPr txBox="1"/>
          <p:nvPr/>
        </p:nvSpPr>
        <p:spPr>
          <a:xfrm>
            <a:off x="1371600" y="2560320"/>
            <a:ext cx="10088575" cy="548640"/>
          </a:xfrm>
          <a:prstGeom prst="rect">
            <a:avLst/>
          </a:prstGeom>
          <a:noFill/>
          <a:ln/>
        </p:spPr>
        <p:txBody>
          <a:bodyPr wrap="square" lIns="0" tIns="0" rIns="0" bIns="0" rtlCol="0" anchor="ctr">
            <a:normAutofit/>
          </a:bodyPr>
          <a:lstStyle/>
          <a:p>
            <a:pPr indent="0" marL="0">
              <a:buNone/>
            </a:pPr>
            <a:r>
              <a:rPr lang="en-US" sz="1800" dirty="0">
                <a:solidFill>
                  <a:srgbClr val="FFFFFF"/>
                </a:solidFill>
                <a:latin typeface="Meiryo" pitchFamily="34" charset="0"/>
                <a:ea typeface="Meiryo" pitchFamily="34" charset="-122"/>
                <a:cs typeface="Meiryo" pitchFamily="34" charset="-120"/>
              </a:rPr>
              <a:t>尖っていなくていい。尖りは結果であって、出発点ではありません</a:t>
            </a:r>
            <a:endParaRPr lang="en-US" sz="1800" dirty="0"/>
          </a:p>
        </p:txBody>
      </p:sp>
      <p:sp>
        <p:nvSpPr>
          <p:cNvPr id="9" name="Shape 7"/>
          <p:cNvSpPr/>
          <p:nvPr/>
        </p:nvSpPr>
        <p:spPr>
          <a:xfrm>
            <a:off x="640080" y="3474720"/>
            <a:ext cx="457200" cy="457200"/>
          </a:xfrm>
          <a:prstGeom prst="ellipse">
            <a:avLst/>
          </a:prstGeom>
          <a:solidFill>
            <a:srgbClr val="C08A2E"/>
          </a:solidFill>
          <a:ln w="12700">
            <a:solidFill>
              <a:srgbClr val="C08A2E"/>
            </a:solidFill>
            <a:prstDash val="solid"/>
          </a:ln>
        </p:spPr>
      </p:sp>
      <p:sp>
        <p:nvSpPr>
          <p:cNvPr id="10" name="Text 8"/>
          <p:cNvSpPr txBox="1"/>
          <p:nvPr/>
        </p:nvSpPr>
        <p:spPr>
          <a:xfrm>
            <a:off x="64008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1" name="Text 9"/>
          <p:cNvSpPr txBox="1"/>
          <p:nvPr/>
        </p:nvSpPr>
        <p:spPr>
          <a:xfrm>
            <a:off x="1371600" y="3429000"/>
            <a:ext cx="10088575" cy="548640"/>
          </a:xfrm>
          <a:prstGeom prst="rect">
            <a:avLst/>
          </a:prstGeom>
          <a:noFill/>
          <a:ln/>
        </p:spPr>
        <p:txBody>
          <a:bodyPr wrap="square" lIns="0" tIns="0" rIns="0" bIns="0" rtlCol="0" anchor="ctr">
            <a:normAutofit/>
          </a:bodyPr>
          <a:lstStyle/>
          <a:p>
            <a:pPr indent="0" marL="0">
              <a:buNone/>
            </a:pPr>
            <a:r>
              <a:rPr lang="en-US" sz="1800" dirty="0">
                <a:solidFill>
                  <a:srgbClr val="FFFFFF"/>
                </a:solidFill>
                <a:latin typeface="Meiryo" pitchFamily="34" charset="0"/>
                <a:ea typeface="Meiryo" pitchFamily="34" charset="-122"/>
                <a:cs typeface="Meiryo" pitchFamily="34" charset="-120"/>
              </a:rPr>
              <a:t>信用は材料、エコシステムが仕組みです。1本回れば、あとは繰り返しです</a:t>
            </a:r>
            <a:endParaRPr lang="en-US" sz="1800" dirty="0"/>
          </a:p>
        </p:txBody>
      </p:sp>
      <p:sp>
        <p:nvSpPr>
          <p:cNvPr id="12" name="Shape 10"/>
          <p:cNvSpPr/>
          <p:nvPr/>
        </p:nvSpPr>
        <p:spPr>
          <a:xfrm>
            <a:off x="640080" y="4343400"/>
            <a:ext cx="457200" cy="457200"/>
          </a:xfrm>
          <a:prstGeom prst="ellipse">
            <a:avLst/>
          </a:prstGeom>
          <a:solidFill>
            <a:srgbClr val="C08A2E"/>
          </a:solidFill>
          <a:ln w="12700">
            <a:solidFill>
              <a:srgbClr val="C08A2E"/>
            </a:solidFill>
            <a:prstDash val="solid"/>
          </a:ln>
        </p:spPr>
      </p:sp>
      <p:sp>
        <p:nvSpPr>
          <p:cNvPr id="13" name="Text 11"/>
          <p:cNvSpPr txBox="1"/>
          <p:nvPr/>
        </p:nvSpPr>
        <p:spPr>
          <a:xfrm>
            <a:off x="640080" y="4343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14" name="Text 12"/>
          <p:cNvSpPr txBox="1"/>
          <p:nvPr/>
        </p:nvSpPr>
        <p:spPr>
          <a:xfrm>
            <a:off x="1371600" y="4297680"/>
            <a:ext cx="10088575" cy="548640"/>
          </a:xfrm>
          <a:prstGeom prst="rect">
            <a:avLst/>
          </a:prstGeom>
          <a:noFill/>
          <a:ln/>
        </p:spPr>
        <p:txBody>
          <a:bodyPr wrap="square" lIns="0" tIns="0" rIns="0" bIns="0" rtlCol="0" anchor="ctr">
            <a:normAutofit/>
          </a:bodyPr>
          <a:lstStyle/>
          <a:p>
            <a:pPr indent="0" marL="0">
              <a:buNone/>
            </a:pPr>
            <a:r>
              <a:rPr lang="en-US" sz="1800" dirty="0">
                <a:solidFill>
                  <a:srgbClr val="FFFFFF"/>
                </a:solidFill>
                <a:latin typeface="Meiryo" pitchFamily="34" charset="0"/>
                <a:ea typeface="Meiryo" pitchFamily="34" charset="-122"/>
                <a:cs typeface="Meiryo" pitchFamily="34" charset="-120"/>
              </a:rPr>
              <a:t>やらない仕事を決めて、自分が幸せになる仕事を選んでください</a:t>
            </a:r>
            <a:endParaRPr lang="en-US" sz="1800" dirty="0"/>
          </a:p>
        </p:txBody>
      </p:sp>
      <p:sp>
        <p:nvSpPr>
          <p:cNvPr id="15" name="Text 13"/>
          <p:cNvSpPr txBox="1"/>
          <p:nvPr/>
        </p:nvSpPr>
        <p:spPr>
          <a:xfrm>
            <a:off x="640080" y="5394960"/>
            <a:ext cx="10911535" cy="914400"/>
          </a:xfrm>
          <a:prstGeom prst="rect">
            <a:avLst/>
          </a:prstGeom>
          <a:noFill/>
          <a:ln/>
        </p:spPr>
        <p:txBody>
          <a:bodyPr wrap="square" lIns="0" tIns="0" rIns="0" bIns="0" rtlCol="0" anchor="ctr">
            <a:normAutofit/>
          </a:bodyPr>
          <a:lstStyle/>
          <a:p>
            <a:pPr indent="0" marL="0">
              <a:lnSpc>
                <a:spcPts val="3000"/>
              </a:lnSpc>
              <a:buNone/>
            </a:pPr>
            <a:r>
              <a:rPr lang="en-US" sz="1900" b="1" dirty="0">
                <a:solidFill>
                  <a:srgbClr val="CADCFC"/>
                </a:solidFill>
                <a:latin typeface="Meiryo" pitchFamily="34" charset="0"/>
                <a:ea typeface="Meiryo" pitchFamily="34" charset="-122"/>
                <a:cs typeface="Meiryo" pitchFamily="34" charset="-120"/>
              </a:rPr>
              <a:t>私が3年前にこの席で聞きたかったことを、今日は全部お話ししました。</a:t>
            </a:r>
            <a:endParaRPr lang="en-US" sz="1900" dirty="0"/>
          </a:p>
          <a:p>
            <a:pPr indent="0" marL="0">
              <a:lnSpc>
                <a:spcPts val="3000"/>
              </a:lnSpc>
              <a:buNone/>
            </a:pPr>
            <a:r>
              <a:rPr lang="en-US" sz="1900" b="1" dirty="0">
                <a:solidFill>
                  <a:srgbClr val="CADCFC"/>
                </a:solidFill>
                <a:latin typeface="Meiryo" pitchFamily="34" charset="0"/>
                <a:ea typeface="Meiryo" pitchFamily="34" charset="-122"/>
                <a:cs typeface="Meiryo" pitchFamily="34" charset="-120"/>
              </a:rPr>
              <a:t>数字も名前も出しました。次は、皆さんの番です。</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新人プロコン顧客開拓へのアドバイス</dc:title>
  <dc:subject>PptxGenJS Presentation</dc:subject>
  <dc:creator>畠中竜吾</dc:creator>
  <cp:lastModifiedBy>畠中竜吾</cp:lastModifiedBy>
  <cp:revision>1</cp:revision>
  <dcterms:created xsi:type="dcterms:W3CDTF">2026-09-04T06:18:10Z</dcterms:created>
  <dcterms:modified xsi:type="dcterms:W3CDTF">2026-09-04T06:18:10Z</dcterms:modified>
</cp:coreProperties>
</file>