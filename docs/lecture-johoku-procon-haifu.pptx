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1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2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3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</p:sldIdLst>
  <p:notesMasterIdLst>
    <p:notesMasterId r:id="rId7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notesMaster" Target="notesMasters/notesMaster1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月次売上（万円）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222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9月</c:v>
                  </c:pt>
                  <c:pt idx="1">
                    <c:v>10月</c:v>
                  </c:pt>
                  <c:pt idx="2">
                    <c:v>11月</c:v>
                  </c:pt>
                  <c:pt idx="3">
                    <c:v>12月</c:v>
                  </c:pt>
                  <c:pt idx="4">
                    <c:v>1月</c:v>
                  </c:pt>
                  <c:pt idx="5">
                    <c:v>2月</c:v>
                  </c:pt>
                  <c:pt idx="6">
                    <c:v>3月</c:v>
                  </c:pt>
                  <c:pt idx="7">
                    <c:v>4月</c:v>
                  </c:pt>
                  <c:pt idx="8">
                    <c:v>5月</c:v>
                  </c:pt>
                  <c:pt idx="9">
                    <c:v>6月</c:v>
                  </c:pt>
                  <c:pt idx="10">
                    <c:v>7月</c:v>
                  </c:pt>
                  <c:pt idx="11">
                    <c:v>8月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75</c:v>
                </c:pt>
                <c:pt idx="1">
                  <c:v>80</c:v>
                </c:pt>
                <c:pt idx="2">
                  <c:v>108</c:v>
                </c:pt>
                <c:pt idx="3">
                  <c:v>134</c:v>
                </c:pt>
                <c:pt idx="4">
                  <c:v>128</c:v>
                </c:pt>
                <c:pt idx="5">
                  <c:v>203</c:v>
                </c:pt>
                <c:pt idx="6">
                  <c:v>159</c:v>
                </c:pt>
                <c:pt idx="7">
                  <c:v>147</c:v>
                </c:pt>
                <c:pt idx="8">
                  <c:v>153</c:v>
                </c:pt>
                <c:pt idx="9">
                  <c:v>222</c:v>
                </c:pt>
                <c:pt idx="10">
                  <c:v>271</c:v>
                </c:pt>
                <c:pt idx="11">
                  <c:v>201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2222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</c:scaling>
        <c:delete val="0"/>
        <c:axPos val="l"/>
        <c:majorGridlines>
          <c:spPr>
            <a:ln w="12700" cap="flat">
              <a:solidFill>
                <a:srgbClr val="E4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月次売上（万円）</c:v>
                </c:pt>
              </c:strCache>
            </c:strRef>
          </c:tx>
          <c:spPr>
            <a:solidFill>
              <a:srgbClr val="C08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222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9月</c:v>
                  </c:pt>
                  <c:pt idx="1">
                    <c:v>10月</c:v>
                  </c:pt>
                  <c:pt idx="2">
                    <c:v>11月</c:v>
                  </c:pt>
                  <c:pt idx="3">
                    <c:v>12月</c:v>
                  </c:pt>
                  <c:pt idx="4">
                    <c:v>1月</c:v>
                  </c:pt>
                  <c:pt idx="5">
                    <c:v>2月</c:v>
                  </c:pt>
                  <c:pt idx="6">
                    <c:v>3月</c:v>
                  </c:pt>
                  <c:pt idx="7">
                    <c:v>4月</c:v>
                  </c:pt>
                  <c:pt idx="8">
                    <c:v>5月</c:v>
                  </c:pt>
                  <c:pt idx="9">
                    <c:v>6月</c:v>
                  </c:pt>
                  <c:pt idx="10">
                    <c:v>7月</c:v>
                  </c:pt>
                  <c:pt idx="11">
                    <c:v>8月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214</c:v>
                </c:pt>
                <c:pt idx="1">
                  <c:v>216</c:v>
                </c:pt>
                <c:pt idx="2">
                  <c:v>226</c:v>
                </c:pt>
                <c:pt idx="3">
                  <c:v>216</c:v>
                </c:pt>
                <c:pt idx="4">
                  <c:v>226</c:v>
                </c:pt>
                <c:pt idx="5">
                  <c:v>186</c:v>
                </c:pt>
                <c:pt idx="6">
                  <c:v>177</c:v>
                </c:pt>
                <c:pt idx="7">
                  <c:v>175</c:v>
                </c:pt>
                <c:pt idx="8">
                  <c:v>215</c:v>
                </c:pt>
                <c:pt idx="9">
                  <c:v>195</c:v>
                </c:pt>
                <c:pt idx="10">
                  <c:v>235</c:v>
                </c:pt>
                <c:pt idx="11">
                  <c:v>225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2222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</c:scaling>
        <c:delete val="0"/>
        <c:axPos val="l"/>
        <c:majorGridlines>
          <c:spPr>
            <a:ln w="12700" cap="flat">
              <a:solidFill>
                <a:srgbClr val="E4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22222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登録しておいた先</c:v>
                  </c:pt>
                  <c:pt idx="1">
                    <c:v>顧問先からの紹介</c:v>
                  </c:pt>
                  <c:pt idx="2">
                    <c:v>過去の縁</c:v>
                  </c:pt>
                  <c:pt idx="3">
                    <c:v>人からのお誘い</c:v>
                  </c:pt>
                  <c:pt idx="4">
                    <c:v>逆営業</c:v>
                  </c:pt>
                  <c:pt idx="5">
                    <c:v>個人的な縁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7</c:v>
                </c:pt>
                <c:pt idx="2">
                  <c:v>5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222222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22222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12700" cap="flat">
              <a:solidFill>
                <a:srgbClr val="E4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自己紹介は簡潔に。YouTubeを見てもらっている前提。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ここで受講生との距離を一気に縮める。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YouTube視聴済み前提なので2分程度で。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お題そのものへの答えを、最初に出し切る。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顧客開拓の方法そのものではなく、その前提条件が今日のテーマだと橋渡しする。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ズレを先に自分から言う。ズレがつかみに変わる。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持ち帰るものを先に宣言する。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受講生に問いかけて、少し間を置く。答えは次のスライド。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ここが今日の答え。この先の第4部・第5部・第6部は、全部この一言の説明。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単価・顧問料の具体的な金額は、ここで口頭で話す。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①は誰でも今日できる。②は第1部の「出会いがいちばん大きかった」の回収。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塾の懇親会が仕事になった、という事実を強調する。受講生は今日その場にいる。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1件ずつ、そのとき自分が何をしたかを語る。とくに奄美大島と、弟に泣きついた話。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ここで手を止めて、3〜4人に当てる。答えを先に言わない。受講生の言葉を拾って板書する。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受講生から出た言葉と重ねながら話す。3つ目が第6部への入口になる。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が回収されるまでには時間がかかる。だから早く始めるほどいい、と添える。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MGM は通販でよく使われる用語。会員紹介プログラムのこと。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引用は『マネジメント』の有名な一節。原文は The aim of marketing is to make selling superfluous.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ここが今日の営業戦略の骨格。次のスライドで、実データに当てはめて見せる。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E先生の事例は、受講生と年次が近いぶん、4人の先生より距離が近い。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講義パートの締め。このあとのワークが、まさに自分をコンサルする時間になる。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講義パートの最後。ワークをやる理由をここで納得してもらう。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A社 の例は当日、実際の関わり方に合わせて言い換えてください。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ここから1時間。出た質問は板書して、ワークの前に整理する。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手を動かす時間。机を回って、Aが埋まらない人に声をかける。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640080"/>
            <a:ext cx="1188720" cy="1188720"/>
          </a:xfrm>
          <a:prstGeom prst="ellipse">
            <a:avLst/>
          </a:prstGeom>
          <a:solidFill>
            <a:srgbClr val="2C3C7E"/>
          </a:solidFill>
          <a:ln w="12700">
            <a:solidFill>
              <a:srgbClr val="2C3C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城北プロコン塾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新人プロコン</a:t>
            </a:r>
            <a:endParaRPr lang="en-US" sz="44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顧客開拓へのアドバイス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2026年9月19日（土）13:00-16:00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634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畠中 竜吾　株式会社あはひ 代表取締役／中小企業診断士（プロコン塾11期生）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3年前、私は</a:t>
            </a:r>
            <a:endParaRPr lang="en-US" sz="4000" dirty="0"/>
          </a:p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皆さんと同じ席に座っていました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0233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プロコン塾11期生。卒塾後の2024年9月1日に独立しました。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はじめに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自己紹介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1976年生まれ・50歳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66544"/>
            <a:ext cx="1013429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リコージャパンにほぼ25年。48歳で独立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700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中小企業診断士は2009年2月取得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026664"/>
            <a:ext cx="1013429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その後ずっと資格を寝かせてきた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6301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プロコン塾11期生 → 2024年9月1日に独立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986784"/>
            <a:ext cx="1013429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卒塾後に独立。この講義を聞いて感化された側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59028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株式会社あはひ 代表取締役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946904"/>
            <a:ext cx="1013429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神田淡路町でカフェBARを運営。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結論から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顧客開拓の方法は、これだけです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928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決裁権がある、課題を抱えている人に会う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85292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その人の現状と、あるべき姿を聞く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8130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そのギャップを、相手と共有する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0080" y="48006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7731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その解決策を提示する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それだけです。特別な技術も、話術も要りません。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結論から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でも、それだけでは成功しません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64592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無理やり時間をとってもらってヒアリングしても、うまくいきません。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なぜなら、信用残高が貯まっていないから。信頼された関係ではないからです。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9443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信頼されている相手・信用残高がある相手を、棚卸しする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300984"/>
            <a:ext cx="10134295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今日の最後のワークが、まさにこの棚卸しです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3075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703320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その相手に、ヒアリングを実施する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059936"/>
            <a:ext cx="10134295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時間を無理にとってもらう必要がありません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48970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462272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提案が間違っていなければ、芯を食う提案であれば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524865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5248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221224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ある程度の割合で、案件化・受注へ進みます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だから今日は、「信用残高」と「仕組み」の話をします。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はじめに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今日、皆さんの期待を1つだけ裏切ります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18608" cy="2651760"/>
          </a:xfrm>
          <a:prstGeom prst="roundRect">
            <a:avLst>
              <a:gd name="adj" fmla="val 2759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17627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期待していること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834640"/>
            <a:ext cx="48065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「顧客開拓のやり方を聞きに来た」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新規のお客さまをどうやって見つけて、どう営業して、どう契約に持っていくのか。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33008" y="1920240"/>
            <a:ext cx="5318608" cy="2651760"/>
          </a:xfrm>
          <a:prstGeom prst="roundRect">
            <a:avLst>
              <a:gd name="adj" fmla="val 2759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89040" y="217627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私がお話しすること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89040" y="2834640"/>
            <a:ext cx="48065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やり方は、いまお見せした4つだけです。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問題は「誰に」やるか。私は売り込みをしていません。この2年の26件のうち、売り込んで取ったものはゼロです。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8463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では、どうやって26件が来たのか。それが今日の3時間です。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この3時間で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今日は、数字も名前も全部お見せします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54298" cy="3108960"/>
          </a:xfrm>
          <a:prstGeom prst="roundRect">
            <a:avLst>
              <a:gd name="adj" fmla="val 2353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176272"/>
            <a:ext cx="2942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私の売上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834640"/>
            <a:ext cx="294223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独立1年目・2年目の月次売上を、そのままお見せします。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最初の3か月がいくらだったかも隠しません。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68698" y="1920240"/>
            <a:ext cx="3454298" cy="3108960"/>
          </a:xfrm>
          <a:prstGeom prst="roundRect">
            <a:avLst>
              <a:gd name="adj" fmla="val 2353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24730" y="2176272"/>
            <a:ext cx="2942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26件の入口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24730" y="2834640"/>
            <a:ext cx="294223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この2年で受けた仕事26件が、どこから来たのかを全部並べます。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売り込んで取った仕事はゼロです。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7317" y="1920240"/>
            <a:ext cx="3454298" cy="3108960"/>
          </a:xfrm>
          <a:prstGeom prst="roundRect">
            <a:avLst>
              <a:gd name="adj" fmla="val 2353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3349" y="2176272"/>
            <a:ext cx="2942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再現の5ステップ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53349" y="2834640"/>
            <a:ext cx="294223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私がやったことを、誰でも辿れる順番にしました。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最後は自分の設計図を1枚書いて帰っていただきます。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この3時間で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本日の進め方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13:00-14:00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6459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講義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645920"/>
            <a:ext cx="6065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資料を使って、私の2年間を一気にお話しします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304288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3042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14:00-14:05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3042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ワークの共有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2304288"/>
            <a:ext cx="6065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このあとやっていただくワークの内容を、先にお伝えします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962656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6265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14:05-15:05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296265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質疑応答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2962656"/>
            <a:ext cx="6065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1時間とります。何でも聞いてください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621024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62102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15:05-15:20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36210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個人ワーク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621024"/>
            <a:ext cx="6065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自分のエコシステムを設計する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279392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27939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15:20-15:50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42793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4279392"/>
            <a:ext cx="6065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書いたものを発表していただきます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4937760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9377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15:50-16:00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017520" y="49377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4937760"/>
            <a:ext cx="6065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資料に戻って、今日のまとめ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今日いちばん長いのは、私が話す時間ではなく、皆さんが聞く時間です。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005840" cy="100584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2240280"/>
            <a:ext cx="9539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塾生だったころの私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3246120"/>
            <a:ext cx="9539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講義 8分　当時、私がいちばん聞きたかったこと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なぜプロコン塾に入ったのか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前年に城北支部に入会し、青年部に入会した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6700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複数の方に「診断士を学びたいならプロコン塾はお薦めだよ」と言われた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6301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目的は「何が学べるのだろう？」という自己啓発だった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986784"/>
            <a:ext cx="1013429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月1回通って、診断士を学び直すこと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59028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2009年2月に取得したあと、資格を寝かせてきた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946904"/>
            <a:ext cx="1013429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もう一度、診断士を学ぼうと思ったのがきっかけ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初回、B先生の講義に度肝を抜かれた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18608" cy="2926080"/>
          </a:xfrm>
          <a:prstGeom prst="roundRect">
            <a:avLst>
              <a:gd name="adj" fmla="val 25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17627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私が思っていたコンサル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834640"/>
            <a:ext cx="480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課題を整理し、導き、売上を上げ、事業をつくる。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新規事業やスタートアップの創出支援が本業だったので、そういうものだと思い込んでいた。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33008" y="1920240"/>
            <a:ext cx="5318608" cy="2926080"/>
          </a:xfrm>
          <a:prstGeom prst="roundRect">
            <a:avLst>
              <a:gd name="adj" fmla="val 25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89040" y="217627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そこにあったもの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89040" y="2834640"/>
            <a:ext cx="480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つぶれそうな企業にメスを入れ、捨てるものを捨てながら、どうにか生かし、回復させていく。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想いだけでなく、ノウハウとスキルに感動した。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その場で同行訪問を申し込んだ。学びが多かった。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いちばん大きかったのは、出会いだった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928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B先生との出会いは、いまも続いている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249424"/>
            <a:ext cx="10134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卒塾後も気にかけていただき、情報交換やアドバイスをいただいている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99008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回を重ねるごとに、同期との仲が深まった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46704"/>
            <a:ext cx="10134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いまではかけがえのない仲間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0873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この場で得た出会いが、その後いちばん大きかった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443984"/>
            <a:ext cx="10134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そして後で分かるのですが、この出会いこそが最初の信用残高でした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当時、私がいちばん聞きたかったこと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013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プロコンって、いくら稼げるの？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8072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どうやって、その稼ぎをつくったの？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8130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その稼ぎをつくるのに、必要なリソースは？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81888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リソースを分解すると、人脈・能力・きっかけ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5175504"/>
            <a:ext cx="10134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この3つに分けて整理してみました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今日は、この4つに私の実データで答えます。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005840" cy="100584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783080"/>
            <a:ext cx="9539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私がプロコン塾で学んだこと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2240280"/>
            <a:ext cx="9539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まだ何者でもなかった4人が、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どうやっていまの地位に立ったか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3246120"/>
            <a:ext cx="9539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儲けている＝独立診断士として自己実現できている先輩を分析すること　／　講義 10分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〇〇先生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推定 3000万円以上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645920"/>
            <a:ext cx="7253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出発点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938528"/>
            <a:ext cx="7253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中小企業向け大手コンサル会社の事業部長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何をして実績を積んだか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" y="3337560"/>
            <a:ext cx="182880" cy="18288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31729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会社員時代に、副業で同じことをしてクライアントを増やした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9808" y="3995928"/>
            <a:ext cx="182880" cy="18288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25880" y="3831336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リソースが足りなくなった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9808" y="4654296"/>
            <a:ext cx="182880" cy="18288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25880" y="4489704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再現性があるので、時間さえ作れば顧問先を増やせる状態になって独立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557784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557784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いま：金融機関などからの紹介でコンサルし、その何割かが顧問になるエコシステム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〇〇先生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推定 2000万円以上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645920"/>
            <a:ext cx="7253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出発点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938528"/>
            <a:ext cx="7253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資格取得後すぐ独立。数年はうまくいかず苦労した（独立当初の年収は50万円）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何をして実績を積んだか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" y="3337560"/>
            <a:ext cx="182880" cy="18288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31729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2〜3年かけて実績を積んだ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9808" y="3995928"/>
            <a:ext cx="182880" cy="18288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25880" y="3831336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その中で、赤字の製造業の黒字化支援が強みになった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9808" y="4654296"/>
            <a:ext cx="182880" cy="18288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25880" y="4489704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過程で自信がつき、事業者を叱れる存在という稀有な診断士になった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557784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557784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いま：貸し手である金融機関からの信頼 → 紹介のエコシステム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〇〇先生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推定 1500万円以上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645920"/>
            <a:ext cx="7253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出発点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938528"/>
            <a:ext cx="7253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自治体に勤務。自治体の作法に詳しい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何をして実績を積んだか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" y="3337560"/>
            <a:ext cx="182880" cy="18288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31729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商店街支援で実績を積んだ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9808" y="3995928"/>
            <a:ext cx="182880" cy="18288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25880" y="3831336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診断士のチームを束ねて複数の自治体を支援する仕組みに育てた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9808" y="4654296"/>
            <a:ext cx="182880" cy="18288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25880" y="4489704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予算組のノウハウ、実績の水平展開、新人に経験の場を与える仕組みまで確立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557784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557784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いま：商店街支援といえばこの人、という圧倒的な存在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〇〇先生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推定 1000万円以上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645920"/>
            <a:ext cx="7253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出発点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938528"/>
            <a:ext cx="7253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独立初期に商工会のコーディネーターとなり、10年以上契約を更新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何をして実績を積んだか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" y="3337560"/>
            <a:ext cx="182880" cy="18288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31729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最初は飲食もSNSマーケも、かじる程度だった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9808" y="3995928"/>
            <a:ext cx="182880" cy="18288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25880" y="3831336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商工会の支援スキームの中で、飲食という分野に実績を積んだ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9808" y="4654296"/>
            <a:ext cx="182880" cy="18288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25880" y="4489704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ワインや日本酒など周辺資格を取り、自らをブランディングした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557784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557784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いま：飲食といえば、お酒といえばこの人。情報が集まり続けるエコシステム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4人に共通する「育ち方」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556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最初は、与えられた場で数をこなす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112264"/>
            <a:ext cx="10134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商工会、公的支援、副業。誰も最初から尖ってはいない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76148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2〜3年かけて、実績が溜まる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76732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その過程で、強みが後から立ち上がる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123944"/>
            <a:ext cx="10134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B先生の赤字製造業、D先生の飲食とお酒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8006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7731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紹介元の信頼が、仕事の流れる仕組みになる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129784"/>
            <a:ext cx="10134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金融機関・商工会・自治体から、自分で取りに行かなくても流れてくる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ブランディング（＝信用）と、</a:t>
            </a:r>
            <a:endParaRPr lang="en-US" sz="4000" dirty="0"/>
          </a:p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エコシステム。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0233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4人の地位をつくったのは、この2つでした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尖りが先ではない。実績 → 信用 → 仕組み、の順です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005840" cy="100584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2240280"/>
            <a:ext cx="9539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「尖っていないとダメ」を疑う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3246120"/>
            <a:ext cx="9539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講義 8分　成功の定義を先に決める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必ず言われる、この教え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54298" cy="1371600"/>
          </a:xfrm>
          <a:prstGeom prst="roundRect">
            <a:avLst>
              <a:gd name="adj" fmla="val 5333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359152"/>
            <a:ext cx="2942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「あなたは何ができるのですか？」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3017520"/>
            <a:ext cx="29422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68698" y="2103120"/>
            <a:ext cx="3454298" cy="1371600"/>
          </a:xfrm>
          <a:prstGeom prst="roundRect">
            <a:avLst>
              <a:gd name="adj" fmla="val 5333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24730" y="2359152"/>
            <a:ext cx="2942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「何でもできるは、何もできない」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24730" y="3017520"/>
            <a:ext cx="29422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7317" y="2103120"/>
            <a:ext cx="3454298" cy="1371600"/>
          </a:xfrm>
          <a:prstGeom prst="roundRect">
            <a:avLst>
              <a:gd name="adj" fmla="val 5333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3349" y="2359152"/>
            <a:ext cx="2942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「尖っているものがないとダメだ」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53349" y="3017520"/>
            <a:ext cx="29422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いまでも言われますし、昔から言われ続けていると思います。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でも、私はここを疑いました。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あの先生方も、最初から尖っていたのか？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928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「〇〇のプロ」「〇〇といえば〇〇先生」は、いま成功している人の“現在地”を表す言葉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0358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成長し、成功を積み上げた「結果」として、〇〇が得意な先生になっている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1788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だから、成功している先生の「今」を見ても参考にならない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535424"/>
            <a:ext cx="101342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「〇〇に強い〇〇先生」になるまでの過程を理解するほうが近道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〇〇先生は、独立当初の年収は</a:t>
            </a:r>
            <a:endParaRPr lang="en-US" sz="4000" dirty="0"/>
          </a:p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50万円だったと言っていました。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0233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いま推定2000万円。最初から尖っていた人はいません。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私が考える「独立診断士としての成功」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成功の定義は人それぞれです。私の定義を先に置きます。これは優先順位でもあります。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1214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サラリーマンの時の年収を大きく越える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478024"/>
            <a:ext cx="101342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私は「2倍」としました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99008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自分の人生を、自分でコントロールしている実感がある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8587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会社員時代にはできなかったことをする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7274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自分の型を見つけて、それをつくる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④「自分は何ができるのか」を、私はいちばん最後にしました。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なぜ④を最後にしたのか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18608" cy="2743200"/>
          </a:xfrm>
          <a:prstGeom prst="roundRect">
            <a:avLst>
              <a:gd name="adj" fmla="val 2667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26771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多くの人は④から行こうとする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926080"/>
            <a:ext cx="48065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「自分の型を見つけてから独立しよう」「尖ってから始めよう」。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これは思い込みだと、私は思っています。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33008" y="2011680"/>
            <a:ext cx="5318608" cy="2743200"/>
          </a:xfrm>
          <a:prstGeom prst="roundRect">
            <a:avLst>
              <a:gd name="adj" fmla="val 2667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89040" y="226771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過程をトレースするほうが近道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89040" y="2926080"/>
            <a:ext cx="48065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独立して全員がうまくいくわけではありません。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うまくいった人の「今」から成功要因を見出すのは難しい。成功するまでの過程を辿るほうが近道です。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よく言われます。「窓口相談で経験を積みなさい」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928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それは、間違いではないと思います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249424"/>
            <a:ext cx="101342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強みも「〇〇なら〇〇先生」も、数年の実績を積み上げた結果＝今の姿ですから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0358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でも、窓口相談のまま、掲げた目標を達成していない先輩も見てきました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788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一方で、独立してキラキラしている先生もいます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その違いは、どこにあるのでしょうか。私がいちばん興味を持ったのは、ここでした。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その違いは、</a:t>
            </a:r>
            <a:endParaRPr lang="en-US" sz="4000" dirty="0"/>
          </a:p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仕組み化ができているかどうかです。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0233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同じように経験を積んでも、仕組みにした人だけが、次の仕事を連れてこられます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005840" cy="100584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2240280"/>
            <a:ext cx="9539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私の売上を、全部お見せします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3246120"/>
            <a:ext cx="9539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講義 9分　独立2年間の月次売上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出発点：会社員時代の年収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会社員時代の年収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51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1,200万円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リコージャパン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副業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651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120万円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会社員のかたわら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01168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独立後の目標（2倍）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651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2,400万円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成功の定義①として設定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この2,400万円を、独立の目標に置きました。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独立1年目（2024年9月〜2025年8月）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10911535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（万円）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年間合計　18,804,829円　／　初月75万円 → 12か月目200万円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これは売上です。ここから経費を引きます。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独立2年目（2025年9月〜2026年8月）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10911535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（万円）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年間合計　25,064,699円　／　月平均 約209万円で安定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1月に計上された年間契約660万円は、実態に合わせて12か月に55万円ずつ均しています。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売上は、3つの柱でできています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364614" cy="1371600"/>
          </a:xfrm>
          <a:prstGeom prst="rect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40902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民間の顧問契約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40902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04694" y="2011680"/>
            <a:ext cx="4364614" cy="1371600"/>
          </a:xfrm>
          <a:prstGeom prst="rect">
            <a:avLst/>
          </a:prstGeom>
          <a:solidFill>
            <a:srgbClr val="C08A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41854" y="2148840"/>
            <a:ext cx="40902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公的支援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141854" y="2697480"/>
            <a:ext cx="40902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9369308" y="2011680"/>
            <a:ext cx="2182307" cy="1371600"/>
          </a:xfrm>
          <a:prstGeom prst="rect">
            <a:avLst/>
          </a:prstGeom>
          <a:solidFill>
            <a:srgbClr val="CADCF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6468" y="2148840"/>
            <a:ext cx="19079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民間プロジェクト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506468" y="2697480"/>
            <a:ext cx="19079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7490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民間の顧問契約 2　：　公的支援 2　：　民間プロジェクト 1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4988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ひとつの柱に依存していない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855464"/>
            <a:ext cx="1013429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どれかが止まっても、残りで生活が続く状態にしています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3035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27608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公的支援は、民間契約の入口にもなる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5632704"/>
            <a:ext cx="1013429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K社のように、支援が終わってから顧問になる例があります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見てほしいのは、最初の3か月です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2024年9月（独立1か月目）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97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749,080円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343400" y="201168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2024年10月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697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798,680円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046720" y="201168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2024年11月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697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1,081,480円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3891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2年前の私は、ここにいました。皆さんと地続きの場所です。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そこから何をしたのか。次で26件すべて並べます。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005840" cy="100584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2240280"/>
            <a:ext cx="9539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26件、どこから来たのか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3246120"/>
            <a:ext cx="9539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講義 15分　公的支援と民間、1件ずつ何をやったか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2年間で受けた仕事26件の入口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10911535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このうち、こちらから売り込んで取った仕事はゼロです。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まず、公的支援。</a:t>
            </a:r>
            <a:endParaRPr lang="en-US" sz="4000" dirty="0"/>
          </a:p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最初の一歩で何をやったか。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第5部｜公的支援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公的支援の入り方は、2つありました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18608" cy="3108960"/>
          </a:xfrm>
          <a:prstGeom prst="roundRect">
            <a:avLst>
              <a:gd name="adj" fmla="val 2353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17627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登録して、応募する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834640"/>
            <a:ext cx="48065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城北支部のキャリアデータベースに登録。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公募が出たので応募し、補助金の書面審査へ。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これが、独立後に最初に報酬を得た仕事のひとつです。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3008" y="1920240"/>
            <a:ext cx="5318608" cy="3108960"/>
          </a:xfrm>
          <a:prstGeom prst="roundRect">
            <a:avLst>
              <a:gd name="adj" fmla="val 2353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89040" y="217627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人に、相談する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89040" y="2834640"/>
            <a:ext cx="48065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商工会議所BSD：プロコン塾の懇親会でD先生に相談し、面接を受けて専門家に。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中小機構：リコージャパン時代の上司が、中小機構で働いていた。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振興公社：ご担当者の方から絶大なサポートをいただいた。どの仕事が自分に合っているかまで相談に乗っていただいた。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公的支援も、半分は「人」から入っています。登録だけではありません。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第5部｜公的支援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懇親会での一言が、2つの仕事になった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69164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プロコン塾の懇親会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63240" y="1993392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169164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4448" y="169164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D先生に相談した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97880" y="1993392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69164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9088" y="169164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面接を受けた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732520" y="1993392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169164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53728" y="169164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合格。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BSD東の専門家に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149840" y="2651760"/>
            <a:ext cx="365760" cy="457200"/>
          </a:xfrm>
          <a:prstGeom prst="down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743200"/>
            <a:ext cx="8183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共通の知り合いの診断士がいると分かった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320040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別途、懇親会を実施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063240" y="3502152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320040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84448" y="320040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その方がBSD南の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コーディネーターだった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97880" y="3502152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320040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19088" y="320040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専門家派遣の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依頼をいただいた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4480560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44805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中小機構の専門家も、リコージャパン時代の上司が中小機構で働いていたところから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振興公社は、ご担当者の方から絶大なサポート。どの仕事が自分に合っているかまで相談に乗っていただいた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D先生は、第2部でお話しした「飲食といえば」のあの先生です。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第5部｜公的支援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そこから、登録先が8つに増えた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83080"/>
            <a:ext cx="490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城北支部のキャリアデータベース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（公募 → 補助金の書面審査）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560320"/>
            <a:ext cx="490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Gさんの会社のデータベース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3337560"/>
            <a:ext cx="490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商工会議所BSD の専門家派遣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4114800"/>
            <a:ext cx="490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中小機構の専門家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33008" y="1874520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44488" y="1783080"/>
            <a:ext cx="490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信用保証協会の専門家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33008" y="2651760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44488" y="2560320"/>
            <a:ext cx="490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公社の専門家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33008" y="3429000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44488" y="3337560"/>
            <a:ext cx="490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公社の先進デジタル（11月から）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33008" y="4206240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4488" y="4114800"/>
            <a:ext cx="490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公社のニューマ事業（6月から）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登録しておくだけで入口になります。今日、席に座ったまま申し込めるものがあります。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次に、民間の仕事。</a:t>
            </a:r>
            <a:endParaRPr lang="en-US" sz="4000" dirty="0"/>
          </a:p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1件ずつ、何をやったか。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第5部｜民間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過去の縁が、独立を機に仕事になった（5件）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地元のサッカークラブ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66544"/>
            <a:ext cx="101342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コロナ禍から支援していて、会社を辞めることになり顧問に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5786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ホームページ作成会社（リコージャパン時代の支援先）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935224"/>
            <a:ext cx="101342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退職が決まり、有給休暇中に奄美大島まで会いに行き、その夜に決まった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44728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A社（リコージャパン時代の支援先）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803904"/>
            <a:ext cx="101342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「会社を辞めるなら一緒に」と誘われて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3159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リコージャパン（古巣）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672584"/>
            <a:ext cx="101342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前職からの依頼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2120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1846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弟の会社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541264"/>
            <a:ext cx="101342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泣きついた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第5部｜民間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人からのお誘い（3件）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842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L社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40864"/>
            <a:ext cx="1013429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Fさんからのお誘い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0358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M社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92424"/>
            <a:ext cx="1013429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Gさんからのお誘い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0873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K社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443984"/>
            <a:ext cx="1013429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公的支援が終わったあとにお誘いをいただいた（公的 → 民間への転換）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第5部｜民間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顧問先からの紹介（7件）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今年から増えた11社のうち、7社が紹介でした。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21992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14884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B社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478024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A社 からの紹介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90672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301752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C社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346704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A社 からの紹介・創業支援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59352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388620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D社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215384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顧問先からの紹介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828032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475488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E社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5084064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顧問先からの紹介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33008" y="2221992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44488" y="214884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F社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644488" y="2478024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顧問先からの紹介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33008" y="3090672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44488" y="301752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G社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644488" y="3346704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顧問先からの紹介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33008" y="3959352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44488" y="388620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H社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644488" y="4215384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顧問先からの紹介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紹介元は、自分が支援してきた顧問先です。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第5部｜民間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逆営業（2件）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18608" cy="2743200"/>
          </a:xfrm>
          <a:prstGeom prst="roundRect">
            <a:avLst>
              <a:gd name="adj" fmla="val 2667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08483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I社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743200"/>
            <a:ext cx="48065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創業コンサルの飛び込み営業が来ました。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その営業マンを捕まえて指導し、「俺が顧問になって教えてあげる」ということで顧問契約になりました。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33008" y="1828800"/>
            <a:ext cx="5318608" cy="2743200"/>
          </a:xfrm>
          <a:prstGeom prst="roundRect">
            <a:avLst>
              <a:gd name="adj" fmla="val 2667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89040" y="208483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J社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89040" y="2743200"/>
            <a:ext cx="48065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カフェBARの物件を探してくれた不動産仲介です。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営業が下手だったので、営業顧問として仕事の取り方を教え、開業コンサルとして組むことで顧問になりました。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売り込まれた場で、相手の困りごとを見つけ、先に「教える側」に回っています。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第5部｜民間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個人的な縁　／　未来への仕込み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18608" cy="2926080"/>
          </a:xfrm>
          <a:prstGeom prst="roundRect">
            <a:avLst>
              <a:gd name="adj" fmla="val 25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17627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個人的な縁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834640"/>
            <a:ext cx="480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N社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息子のチームメイトのご縁から。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33008" y="1920240"/>
            <a:ext cx="5318608" cy="2926080"/>
          </a:xfrm>
          <a:prstGeom prst="roundRect">
            <a:avLst>
              <a:gd name="adj" fmla="val 25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89040" y="217627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未来への仕込み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89040" y="2834640"/>
            <a:ext cx="480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・ラーメン屋の多店舗展開 → 売却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・カフェBAR事業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いまはお金を生みませんが、未来への仕込み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さて。</a:t>
            </a:r>
            <a:endParaRPr lang="en-US" sz="4000" dirty="0"/>
          </a:p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いま並べた26件に、</a:t>
            </a:r>
            <a:endParaRPr lang="en-US" sz="4000" dirty="0"/>
          </a:p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共通していることは何でしょうか。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0233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少し考えてみてください。何人かに聞きます。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第5部｜共通点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私が思う、26件の共通点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928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公的支援ですら、入口は「人」だった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249424"/>
            <a:ext cx="1013429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BSDは塾の懇親会での相談から、中小機構は前職の上司から。登録だけで来た仕事のほうが少ないくらいです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08152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やったことは、地味な3つだけ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438144"/>
            <a:ext cx="1013429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登録する／会いに行く・相談する／引き受けた1件をやり切る。特別な才能は要りませんでした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702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1件が、次を連れてきている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26864"/>
            <a:ext cx="1013429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BSD東がBSD南を、A社 1社が2社を、顧問先が7社を連れてきました。仕事が仕事を生んでいます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こちらから売り込んで取った仕事は、</a:t>
            </a:r>
            <a:endParaRPr lang="en-US" sz="4000" dirty="0"/>
          </a:p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ひとつもありません。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0233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過去の縁5／登録先8／お誘い3／紹介7／逆営業2／個人的な縁1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005840" cy="100584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2240280"/>
            <a:ext cx="9539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信用とエコシステム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3246120"/>
            <a:ext cx="9539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講義 10分　26件は何によって来たのか。営業戦略をファネルで整理します</a:t>
            </a:r>
            <a:endParaRPr 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「営業力」という言葉が、私は大嫌いです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1371600"/>
          </a:xfrm>
          <a:prstGeom prst="roundRect">
            <a:avLst>
              <a:gd name="adj" fmla="val 5333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920240"/>
            <a:ext cx="10180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「畠中さんは営業力があるからね」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576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そう言われると、正直「は？」と思います。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26件のうち、売り込んで取ったものはゼロです。では、何で来たのか。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信用です。</a:t>
            </a:r>
            <a:endParaRPr lang="en-US" sz="4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信用残高という考え方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仕事は「取りに行く」ものではなく、貯まった信用の残高から引き出されるものです。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18608" cy="2834640"/>
          </a:xfrm>
          <a:prstGeom prst="roundRect">
            <a:avLst>
              <a:gd name="adj" fmla="val 2581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40487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残高が増える行為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063240"/>
            <a:ext cx="4806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・約束を守る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・期限より早く出す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・返事が速い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・頼まれごとを一度引き受ける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・相手の成果に貢献する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・会いに行く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33008" y="2148840"/>
            <a:ext cx="5318608" cy="2834640"/>
          </a:xfrm>
          <a:prstGeom prst="roundRect">
            <a:avLst>
              <a:gd name="adj" fmla="val 2581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9040" y="240487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残高が減る行為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89040" y="3063240"/>
            <a:ext cx="4806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・遅れる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・雑にやる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・断らずに抱えて落とす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・顔を出さなくなる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第2部の4人も、全員が依頼元に対する信用残高が圧倒的に高い状態でした。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たくさん、Giveをする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そのGiveは、いつか、提供したGiveより大きくなって返ってきます。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顧問先のホームページ制作会社が、事業を大きくしたきっかけ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10911535" cy="777240"/>
          </a:xfrm>
          <a:prstGeom prst="roundRect">
            <a:avLst>
              <a:gd name="adj" fmla="val 7059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中学や高校の同級生、10人以上の会社のホームページを、無料で作ってあげた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12968" y="3264408"/>
            <a:ext cx="365760" cy="301752"/>
          </a:xfrm>
          <a:prstGeom prst="down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657600"/>
            <a:ext cx="10911535" cy="777240"/>
          </a:xfrm>
          <a:prstGeom prst="roundRect">
            <a:avLst>
              <a:gd name="adj" fmla="val 7059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5760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同級生の周りにいる人が言った。「そのHP、どこで作ったの？ いい感じじゃん。俺にも紹介してよ」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12968" y="4498848"/>
            <a:ext cx="365760" cy="301752"/>
          </a:xfrm>
          <a:prstGeom prst="down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4892040"/>
            <a:ext cx="10911535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8920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紹介いただいた方々のホームページ制作で、キャッシュを生んだ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無料で作った10人が、そのまま入口になりました。Giveは、ファネルの入口を広げる投資です。</a:t>
            </a:r>
            <a:endParaRPr lang="en-US" sz="1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もうひとつの側面。人の信用の嵩を借りる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これは、無意識にみんながやっていることです。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911535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57400"/>
            <a:ext cx="10180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「私の弟はシュラスコレストランを8年前に立ち上げ、いまでは国内外50店舗・55億円の売上を誇る経営者です。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私も創業から支援しています」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5661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こう言われると、「この人には実力がある。コンサルを任せるに値する」と感じませんか。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40416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口コミも、誰から聞くかで感じ方がまったく違う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398264"/>
            <a:ext cx="1013429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他人の口コミより、自分が信頼している人からの口コミのほうが効きます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81888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通販のMGM（Member Get Member）も同じ発想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175504"/>
            <a:ext cx="1013429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会員が会員を連れてくる、紹介の導線をつくる施策です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6235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59612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自分の信用残高が少ないうちは、信用を借りる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952744"/>
            <a:ext cx="1013429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自分に信頼を置いてくれている人の信用を借りる。これも販路開拓の有効な手法です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山口周『人生の経営戦略』の4つの資本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時間資本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自分の時間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81528" y="2606040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20116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人的資本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知識・経験・スキル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16168" y="2606040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20116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社会資本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信用・評判・知名度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750808" y="2606040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0" y="20116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116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金融資本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お金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840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金融資本を生むのは、信用・評判・知名度といった「社会資本」であって、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知識・能力・コンピテンシーといった「人的資本」ではない。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「尖っていないとダメ＝人的資本を磨け」は、半分しか当たっていません。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単発の仕事と、エコシステム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0" y="1828800"/>
            <a:ext cx="3794760" cy="640080"/>
          </a:xfrm>
          <a:prstGeom prst="roundRect">
            <a:avLst>
              <a:gd name="adj" fmla="val 8571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566160" y="182880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単発の仕事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543800" y="1828800"/>
            <a:ext cx="379476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43800" y="182880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エコシステム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97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仕事の来方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6974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探す・応募する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26974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流れてくる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1件終わったら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56616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ゼロに戻る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356616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次を連れてくる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434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増え方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443484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足し算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543800" y="443484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かけ算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信用は材料。エコシステムは仕組みです。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ドラッカーが言っていることと同じです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11535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828800"/>
            <a:ext cx="9997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マーケティングの理想は、販売を不要にすることである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74320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P.F.ドラッカー『マネジメント』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53872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つまり、販売をせずに売れる仕組みをつくること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95344"/>
            <a:ext cx="10134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営業をしないのではありません。営業をしなくても仕事が来る状態を、先につくるのです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6360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私の26件は、まさにこれでした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992624"/>
            <a:ext cx="10134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売り込んだ仕事はゼロ。仕組みが、仕事を連れてきてくれました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営業戦略を、ファネルで整理する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1737360"/>
            <a:ext cx="7498080" cy="713232"/>
          </a:xfrm>
          <a:prstGeom prst="roundRect">
            <a:avLst>
              <a:gd name="adj" fmla="val 7692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173736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入口をつくる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1783080"/>
            <a:ext cx="2224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接点を増やす。登録する、場に出る、会いに行く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0" y="2606040"/>
            <a:ext cx="6400800" cy="713232"/>
          </a:xfrm>
          <a:prstGeom prst="roundRect">
            <a:avLst>
              <a:gd name="adj" fmla="val 7692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2606040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濾す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326880" y="2651760"/>
            <a:ext cx="2224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来た話から、自分に合うものを選ぶ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4560" y="3474720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77440" y="347472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実践・実施する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0" y="3520440"/>
            <a:ext cx="2224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引き受けた1件を、期待以上でやり切る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4343400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26080" y="434340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成果を出す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4389120"/>
            <a:ext cx="2224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相手の成果になる。ここで信用が貯まる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37360" y="5120640"/>
            <a:ext cx="6217920" cy="731520"/>
          </a:xfrm>
          <a:prstGeom prst="roundRect">
            <a:avLst>
              <a:gd name="adj" fmla="val 7500"/>
            </a:avLst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737360" y="512064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紹介を受ける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5303520"/>
            <a:ext cx="914400" cy="365760"/>
          </a:xfrm>
          <a:prstGeom prst="lef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1737360"/>
            <a:ext cx="457200" cy="3566160"/>
          </a:xfrm>
          <a:prstGeom prst="up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7160" y="29260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大きくなる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5257800"/>
            <a:ext cx="2224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紹介が、次の入口になる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852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一般的なファネルは、下まで絞られて終わります。</a:t>
            </a:r>
            <a:endParaRPr lang="en-US" sz="16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私のファネルは、成果が紹介になって、もう一度 入口に戻ります。</a:t>
            </a:r>
            <a:endParaRPr lang="en-US" sz="16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私のエコシステム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69164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入口①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登録しておいた先（8つ）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63240" y="1947672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16916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4448" y="169164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案件が来る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97880" y="1947672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6916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9088" y="169164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期待以上で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やり切る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32520" y="1947672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16916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53728" y="169164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K社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（公 → 民へ）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0632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06324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入口②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過去の縁（5件）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063240" y="3319272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30632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84448" y="306324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顧問契約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897880" y="3319272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0632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19088" y="306324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期待以上で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やり切る＝信用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732520" y="3319272"/>
            <a:ext cx="365760" cy="27432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30632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53728" y="306324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紹介を出す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474720" y="4572000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584448" y="4572000"/>
            <a:ext cx="7827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紹介で入った7社が、また紹介元になる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645920" y="4754880"/>
            <a:ext cx="1737360" cy="411480"/>
          </a:xfrm>
          <a:prstGeom prst="lef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00200" y="3931920"/>
            <a:ext cx="411480" cy="777240"/>
          </a:xfrm>
          <a:prstGeom prst="up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47548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循環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A社 1社が、B社とC社の2社を連れてきました。これが回っている証拠です。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私だけではありません。E先生の仕組み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仕組みをつくるという意味で、私がいちばん近くで見てきた成功事例です。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54298" cy="2743200"/>
          </a:xfrm>
          <a:prstGeom prst="roundRect">
            <a:avLst>
              <a:gd name="adj" fmla="val 2667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404872"/>
            <a:ext cx="2942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前職の縁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063240"/>
            <a:ext cx="294223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前職の縁で、仕事をつないでいる。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私の「過去の縁5件」と同じ入口です。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8698" y="2148840"/>
            <a:ext cx="3454298" cy="2743200"/>
          </a:xfrm>
          <a:prstGeom prst="roundRect">
            <a:avLst>
              <a:gd name="adj" fmla="val 2667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24730" y="2404872"/>
            <a:ext cx="2942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公的支援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24730" y="3063240"/>
            <a:ext cx="294223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公的支援に申し込み、契約を勝ち取っている。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私の「登録先8つ」と同じ入口です。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97317" y="2148840"/>
            <a:ext cx="3454298" cy="2743200"/>
          </a:xfrm>
          <a:prstGeom prst="roundRect">
            <a:avLst>
              <a:gd name="adj" fmla="val 2667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3349" y="2404872"/>
            <a:ext cx="2942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サウナといえば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353349" y="3063240"/>
            <a:ext cx="294223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サウナといえば、で案件の相談が来る。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紹介が流れ込むエコシステムを完成させています。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入口が2つ、そして紹介が回っている。これが仕組みが完成している状態です。</a:t>
            </a:r>
            <a:endParaRPr lang="en-US" sz="15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回すために必要なのは、3つだけ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7568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入口を複数持つ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32304"/>
            <a:ext cx="10134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登録先、過去の縁、逆営業。ひとつに依存しない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729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1件を期待以上でやり切る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134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ここでしか信用は貯まりません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702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紹介してくれた人に、結果を返す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26864"/>
            <a:ext cx="10134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返さないと、循環は1回で止まります</a:t>
            </a:r>
            <a:endParaRPr lang="en-US" sz="1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再現の5ステップ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私が2年でやったことを、誰でも辿れる順番にすると、この5つです。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2996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信用の棚卸し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386584"/>
            <a:ext cx="10134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すでに持っている縁を、全部書き出す（＝過去の縁5件）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85292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825496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入口に登録する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182112"/>
            <a:ext cx="10134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支部のキャリアデータベース、公的機関の専門家（＝登録先8件）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64845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621024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来た仕事を、期待以上でやり切る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977640"/>
            <a:ext cx="10134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残高を増やす。ここが2〜3年。4人の育ち方と同じ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44398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416552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紹介が出る状態にする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773168"/>
            <a:ext cx="10134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エコシステム化（＝紹介7件）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23951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212080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やらない仕事を決める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568696"/>
            <a:ext cx="10134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残高を減らす仕事を切る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今日できるのは1と2。3で差がつき、4は勝手に回りだします。</a:t>
            </a:r>
            <a:endParaRPr lang="en-US" sz="15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私たちは、自分をコンサルできているか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診断士は知識があるのに、その知識を自分に使えません。自分をコンサルできないのです。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488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現実を棚卸しする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06624" y="2514600"/>
            <a:ext cx="146304" cy="18288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62072" y="214884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53512" y="21488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目標を定める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28616" y="2514600"/>
            <a:ext cx="146304" cy="18288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214884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75504" y="21488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ギャップをあらわにする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50608" y="2514600"/>
            <a:ext cx="146304" cy="18288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06056" y="214884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97496" y="21488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埋める方策を検討する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372600" y="2514600"/>
            <a:ext cx="146304" cy="18288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28048" y="214884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19488" y="21488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実行する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2004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これが、私たちがお客さまにやっている仕事です。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7216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であれば、まず自分をコンサルする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078224"/>
            <a:ext cx="10134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自分をコンサルできない人が、他人をコンサルできるでしょうか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81888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そこから、にじみ出る自信が生まれる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175504"/>
            <a:ext cx="10134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私が分析した先生は、例外なくオーラがあります。あれは、自分をコンサルできている人の自信です</a:t>
            </a:r>
            <a:endParaRPr 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聞いただけでは、成果は出ません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販路開拓の方法も、知識も、事例も、学んだだけでは成果になりません。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インプットする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自分に情報として入れる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64408" y="2724912"/>
            <a:ext cx="219456" cy="219456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02152" y="21488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9312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使える形に整理する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39312" y="2788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自分の言葉・自分の型に直す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724912"/>
            <a:ext cx="219456" cy="219456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64224" y="21488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01384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使う環境をつくる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01384" y="2788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使える場所を、自分で用意する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88552" y="2724912"/>
            <a:ext cx="219456" cy="219456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26296" y="21488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63456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実際に、武器として使う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363456" y="2788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ここまでやって、使える知識になる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8130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知識を得るだけでは、ダメです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4988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スキルとして身につけるだけでも、ダメです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640080" y="52120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1846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そのスキルを使う環境をつくり、実際に使うところまで考える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だから、このあと手を動かしていただきます。</a:t>
            </a:r>
            <a:endParaRPr lang="en-US" sz="1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005840" cy="100584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2240280"/>
            <a:ext cx="9539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このあとのワークについて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3246120"/>
            <a:ext cx="9539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質疑応答の前に、内容だけ先にお伝えします</a:t>
            </a:r>
            <a:endParaRPr lang="en-US" sz="1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個人ワーク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ワークの流れ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18608" cy="2926080"/>
          </a:xfrm>
          <a:prstGeom prst="roundRect">
            <a:avLst>
              <a:gd name="adj" fmla="val 25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17627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ステップ1（7分）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人脈マップを埋める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834640"/>
            <a:ext cx="480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私の26件と同じ6つの枠に、自分の名前で書き込みます。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Aの「過去の縁」は、全員が書けます。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33008" y="1920240"/>
            <a:ext cx="5318608" cy="2926080"/>
          </a:xfrm>
          <a:prstGeom prst="roundRect">
            <a:avLst>
              <a:gd name="adj" fmla="val 25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89040" y="2176272"/>
            <a:ext cx="480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ステップ2（8分）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循環を1本描く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89040" y="2834640"/>
            <a:ext cx="480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Aから1人だけ選び、矢印を描きます。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1本回れば、あとは同じことの繰り返しです。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0292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このワークは、自分を自分でコンサルする時間です。現実を棚卸しして、方策を1本描きます。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ワークは15分、そのあと発表が30分。質疑応答の間に考えておいてください。</a:t>
            </a:r>
            <a:endParaRPr lang="en-US" sz="17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個人ワーク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ステップ1：人脈マップ（7分）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45738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 過去の縁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308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前職の同僚・取引先、顧客、地元、家族、友人。思いつく限り名前で書く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691640"/>
          </a:xfrm>
          <a:prstGeom prst="roundRect">
            <a:avLst>
              <a:gd name="adj" fmla="val 4324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51578" y="196596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 登録できる先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51578" y="2423160"/>
            <a:ext cx="308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支部のキャリアデータベース、中小機構、信用保証協会、公社、商工会議所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05877" y="1783080"/>
            <a:ext cx="3545738" cy="1691640"/>
          </a:xfrm>
          <a:prstGeom prst="roundRect">
            <a:avLst>
              <a:gd name="adj" fmla="val 4324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34477" y="196596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 お誘いをくれそうな人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34477" y="2423160"/>
            <a:ext cx="308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支部の先輩、同期、研究会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3545738" cy="1691640"/>
          </a:xfrm>
          <a:prstGeom prst="roundRect">
            <a:avLst>
              <a:gd name="adj" fmla="val 4324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84048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 紹介を生みそうな人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297680"/>
            <a:ext cx="308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Aのうち、人を紹介してくれそうな人に◎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22978" y="3657600"/>
            <a:ext cx="3545738" cy="1691640"/>
          </a:xfrm>
          <a:prstGeom prst="roundRect">
            <a:avLst>
              <a:gd name="adj" fmla="val 4324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51578" y="384048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 逆営業できる相手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551578" y="4297680"/>
            <a:ext cx="308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いま自分に営業してきている人（保険・不動産・システムなど）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05877" y="3657600"/>
            <a:ext cx="3545738" cy="1691640"/>
          </a:xfrm>
          <a:prstGeom prst="roundRect">
            <a:avLst>
              <a:gd name="adj" fmla="val 4324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34477" y="384048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 個人的な縁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234477" y="4297680"/>
            <a:ext cx="308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趣味、子どもの縁、地域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「まだ何も持っていない」と思っている人ほど、Aが埋まります。</a:t>
            </a:r>
            <a:endParaRPr lang="en-US" sz="15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個人ワーク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ステップ2：循環を1本描く（8分）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92024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［誰から］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127248" y="2267712"/>
            <a:ext cx="274320" cy="22860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192024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93008" y="192024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［どんな仕事］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70448" y="2267712"/>
            <a:ext cx="274320" cy="22860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92024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6208" y="192024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［期待以上に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何をするか］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13648" y="2267712"/>
            <a:ext cx="274320" cy="22860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0" y="192024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79408" y="192024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［誰に紹介して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もらえそうか］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1546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私の例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347472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A社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127248" y="3822192"/>
            <a:ext cx="274320" cy="22860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0" y="347472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93008" y="347472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顧問契約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870448" y="3822192"/>
            <a:ext cx="274320" cy="22860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347472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6208" y="347472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経営会議に毎月入り、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決めきるまで付き合う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613648" y="3822192"/>
            <a:ext cx="274320" cy="228600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9680" y="347472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979408" y="347472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B社・C社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の2社を紹介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7548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最後に「紹介してくれた人に、どう結果を返すか」を1行足してください。返さないと循環は止まります。</a:t>
            </a:r>
            <a:endParaRPr lang="en-US" sz="17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質疑応答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0233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1時間とります。何でも聞いてください。</a:t>
            </a:r>
            <a:endParaRPr lang="en-US" sz="1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個人ワーク（15分）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0233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ステップ1：人脈マップ 7分　／　ステップ2：循環を1本描く 8分</a:t>
            </a:r>
            <a:endParaRPr lang="en-US" sz="1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発表（30分）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8424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1人1分で、書いたものを発表してください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40864"/>
            <a:ext cx="10134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数名の発表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08152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話すのは2つだけ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438144"/>
            <a:ext cx="10134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人脈マップで、いちばん意外だった相手　② 描いた循環を1本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178808"/>
            <a:ext cx="10134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うまく書けていなくて構いません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35424"/>
            <a:ext cx="10134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人の発表が、自分のマップの空欄を埋めてくれます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発表を聞くこと自体が、参加者どうしの人脈マップになります。</a:t>
            </a:r>
            <a:endParaRPr lang="en-US" sz="15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691640"/>
            <a:ext cx="10088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私の26件は、全部「信用」から来ました。売り込んだ仕事はひとつもありません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560320"/>
            <a:ext cx="10088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尖っていなくていい。尖りは結果であって、出発点ではありません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429000"/>
            <a:ext cx="10088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違いは、仕組み化できているかどうかです。販売をせずに売れる仕組みをつくってください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297680"/>
            <a:ext cx="10088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ファネルの出口は、入口に戻ります。1件の成果が、次の入口を大きくします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394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私が3年前にこの席で聞きたかったことを、今日は全部お話ししました。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数字も名前も出しました。次は、皆さんの番です。</a:t>
            </a:r>
            <a:endParaRPr lang="en-US" sz="1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619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ワークシート①　人脈マップ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7619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思いつく限り、名前で書いてください。うまく書けなくて構いません。（7分）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442655" y="502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お名前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74175" y="45720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3515258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63040"/>
            <a:ext cx="3515258" cy="384048"/>
          </a:xfrm>
          <a:prstGeom prst="rect">
            <a:avLst/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463040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　過去の縁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83664"/>
            <a:ext cx="3240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前職の同僚・取引先、顧客、地元、家族、友人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38218" y="1463040"/>
            <a:ext cx="3515258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8218" y="1463040"/>
            <a:ext cx="3515258" cy="384048"/>
          </a:xfrm>
          <a:prstGeom prst="rect">
            <a:avLst/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75378" y="1463040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　登録できる先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75378" y="1883664"/>
            <a:ext cx="3240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支部のキャリアデータベース、中小機構、信用保証協会、公社、商工会議所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36357" y="1463040"/>
            <a:ext cx="3515258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36357" y="1463040"/>
            <a:ext cx="3515258" cy="384048"/>
          </a:xfrm>
          <a:prstGeom prst="rect">
            <a:avLst/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73517" y="1463040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　お誘いをくれそうな人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173517" y="1883664"/>
            <a:ext cx="3240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支部の先輩、同期、研究会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886200"/>
            <a:ext cx="3515258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886200"/>
            <a:ext cx="3515258" cy="384048"/>
          </a:xfrm>
          <a:prstGeom prst="rect">
            <a:avLst/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886200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　紹介を生みそうな人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306824"/>
            <a:ext cx="3240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Aのうち、人を紹介してくれそうな人に◎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38218" y="3886200"/>
            <a:ext cx="3515258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38218" y="3886200"/>
            <a:ext cx="3515258" cy="384048"/>
          </a:xfrm>
          <a:prstGeom prst="rect">
            <a:avLst/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75378" y="3886200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　逆営業できる相手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475378" y="4306824"/>
            <a:ext cx="3240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いま自分に営業してきている人（保険・不動産・システムなど）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36357" y="3886200"/>
            <a:ext cx="3515258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36357" y="3886200"/>
            <a:ext cx="3515258" cy="384048"/>
          </a:xfrm>
          <a:prstGeom prst="rect">
            <a:avLst/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73517" y="3886200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　個人的な縁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173517" y="4306824"/>
            <a:ext cx="3240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趣味、子どもの縁、地域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3093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城北プロコン塾　新人プロコン顧客開拓へのアドバイス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619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ワークシート②　循環を1本描く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7619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Aから1人だけ選んで、矢印をたどりながら書いてください。（8分）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442655" y="502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お名前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74175" y="45720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08760"/>
            <a:ext cx="2606040" cy="411480"/>
          </a:xfrm>
          <a:prstGeom prst="rect">
            <a:avLst/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50876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誰から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4408" y="2514600"/>
            <a:ext cx="219456" cy="201168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2152" y="150876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2152" y="1508760"/>
            <a:ext cx="2606040" cy="411480"/>
          </a:xfrm>
          <a:prstGeom prst="rect">
            <a:avLst/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150876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どんな仕事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2514600"/>
            <a:ext cx="219456" cy="201168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64224" y="150876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4224" y="1508760"/>
            <a:ext cx="2606040" cy="411480"/>
          </a:xfrm>
          <a:prstGeom prst="rect">
            <a:avLst/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73952" y="150876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期待以上に何をするか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88552" y="2514600"/>
            <a:ext cx="219456" cy="201168"/>
          </a:xfrm>
          <a:prstGeom prst="rightArrow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26296" y="150876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26296" y="1508760"/>
            <a:ext cx="2606040" cy="411480"/>
          </a:xfrm>
          <a:prstGeom prst="rect">
            <a:avLst/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36024" y="150876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誰に紹介してもらえそうか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0233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紹介してくれた人に、どう結果を返しますか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10911535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53492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 この循環を回すために、3か月以内にやること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5715000"/>
            <a:ext cx="10911535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63093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城北プロコン塾　新人プロコン顧客開拓へのアドバイス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新人プロコン顧客開拓へのアドバイス</dc:title>
  <dc:subject>PptxGenJS Presentation</dc:subject>
  <dc:creator>畠中竜吾</dc:creator>
  <cp:lastModifiedBy>畠中竜吾</cp:lastModifiedBy>
  <cp:revision>1</cp:revision>
  <dcterms:created xsi:type="dcterms:W3CDTF">2026-09-14T01:01:41Z</dcterms:created>
  <dcterms:modified xsi:type="dcterms:W3CDTF">2026-09-14T01:01:41Z</dcterms:modified>
</cp:coreProperties>
</file>